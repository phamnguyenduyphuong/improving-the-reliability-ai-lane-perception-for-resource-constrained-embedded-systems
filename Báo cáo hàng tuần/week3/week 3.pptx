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77" r:id="rId3"/>
    <p:sldId id="278" r:id="rId4"/>
    <p:sldId id="279" r:id="rId5"/>
    <p:sldId id="280" r:id="rId6"/>
    <p:sldId id="281" r:id="rId7"/>
    <p:sldId id="282" r:id="rId8"/>
    <p:sldId id="264" r:id="rId9"/>
  </p:sldIdLst>
  <p:sldSz cx="14630400" cy="8229600"/>
  <p:notesSz cx="8229600" cy="14630400"/>
  <p:embeddedFontLst>
    <p:embeddedFont>
      <p:font typeface="Barlow Bold" panose="020B0604020202020204" charset="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D7EE"/>
    <a:srgbClr val="D4E9F7"/>
    <a:srgbClr val="6F83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10"/>
  </p:normalViewPr>
  <p:slideViewPr>
    <p:cSldViewPr snapToGrid="0" snapToObjects="1">
      <p:cViewPr>
        <p:scale>
          <a:sx n="100" d="100"/>
          <a:sy n="100" d="100"/>
        </p:scale>
        <p:origin x="48"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ext 1"/>
          <p:cNvSpPr/>
          <p:nvPr/>
        </p:nvSpPr>
        <p:spPr>
          <a:xfrm>
            <a:off x="6280189" y="1659043"/>
            <a:ext cx="7556421" cy="725805"/>
          </a:xfrm>
          <a:prstGeom prst="rect">
            <a:avLst/>
          </a:prstGeom>
          <a:noFill/>
        </p:spPr>
        <p:txBody>
          <a:bodyPr wrap="square" lIns="0" tIns="0" rIns="0" bIns="0" rtlCol="0" anchor="t"/>
          <a:lstStyle/>
          <a:p>
            <a:pPr marL="0" indent="0" algn="l">
              <a:lnSpc>
                <a:spcPts val="2850"/>
              </a:lnSpc>
              <a:buNone/>
            </a:pPr>
            <a:endParaRPr lang="en-US" sz="1750" dirty="0"/>
          </a:p>
        </p:txBody>
      </p:sp>
      <p:sp>
        <p:nvSpPr>
          <p:cNvPr id="5" name="Shape 2"/>
          <p:cNvSpPr/>
          <p:nvPr/>
        </p:nvSpPr>
        <p:spPr>
          <a:xfrm>
            <a:off x="6456306" y="5424920"/>
            <a:ext cx="362903" cy="362903"/>
          </a:xfrm>
          <a:prstGeom prst="roundRect">
            <a:avLst>
              <a:gd name="adj" fmla="val 25194296"/>
            </a:avLst>
          </a:prstGeom>
          <a:noFill/>
          <a:ln w="7620">
            <a:solidFill>
              <a:srgbClr val="FFFFFF"/>
            </a:solidFill>
            <a:prstDash val="solid"/>
          </a:ln>
        </p:spPr>
      </p:sp>
      <p:sp>
        <p:nvSpPr>
          <p:cNvPr id="7" name="Text 3"/>
          <p:cNvSpPr/>
          <p:nvPr/>
        </p:nvSpPr>
        <p:spPr>
          <a:xfrm>
            <a:off x="595352" y="6501992"/>
            <a:ext cx="3279815" cy="396835"/>
          </a:xfrm>
          <a:prstGeom prst="rect">
            <a:avLst/>
          </a:prstGeom>
          <a:noFill/>
        </p:spPr>
        <p:txBody>
          <a:bodyPr wrap="none" lIns="0" tIns="0" rIns="0" bIns="0" rtlCol="0" anchor="t"/>
          <a:lstStyle/>
          <a:p>
            <a:pPr marL="0" indent="0" algn="l">
              <a:lnSpc>
                <a:spcPts val="3100"/>
              </a:lnSpc>
              <a:buNone/>
            </a:pPr>
            <a:endParaRPr lang="en-US" sz="2200" dirty="0"/>
          </a:p>
        </p:txBody>
      </p:sp>
      <p:pic>
        <p:nvPicPr>
          <p:cNvPr id="2" name="Picture 1"/>
          <p:cNvPicPr>
            <a:picLocks noChangeAspect="1"/>
          </p:cNvPicPr>
          <p:nvPr/>
        </p:nvPicPr>
        <p:blipFill>
          <a:blip r:embed="rId3"/>
          <a:stretch>
            <a:fillRect/>
          </a:stretch>
        </p:blipFill>
        <p:spPr>
          <a:xfrm>
            <a:off x="10106181" y="6266037"/>
            <a:ext cx="4524219" cy="1853471"/>
          </a:xfrm>
          <a:prstGeom prst="rect">
            <a:avLst/>
          </a:prstGeom>
          <a:noFill/>
        </p:spPr>
      </p:pic>
      <p:sp>
        <p:nvSpPr>
          <p:cNvPr id="18" name="Text 1"/>
          <p:cNvSpPr/>
          <p:nvPr/>
        </p:nvSpPr>
        <p:spPr>
          <a:xfrm>
            <a:off x="394970" y="4934154"/>
            <a:ext cx="3365897" cy="35433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Sinh viên: Phạm Nguyễn Duy Phương</a:t>
            </a:r>
            <a:endParaRPr lang="vi-VN" sz="2200" b="1" dirty="0">
              <a:solidFill>
                <a:schemeClr val="tx1">
                  <a:lumMod val="95000"/>
                  <a:lumOff val="5000"/>
                </a:schemeClr>
              </a:solidFill>
              <a:latin typeface="+mj-lt"/>
            </a:endParaRPr>
          </a:p>
          <a:p>
            <a:pPr>
              <a:lnSpc>
                <a:spcPts val="2750"/>
              </a:lnSpc>
            </a:pPr>
            <a:r>
              <a:rPr lang="vi-VN" sz="2200" b="1" dirty="0">
                <a:solidFill>
                  <a:schemeClr val="tx1">
                    <a:lumMod val="95000"/>
                    <a:lumOff val="5000"/>
                  </a:schemeClr>
                </a:solidFill>
                <a:latin typeface="+mj-lt"/>
              </a:rPr>
              <a:t>	     Võ Như Quyết</a:t>
            </a:r>
            <a:endParaRPr lang="en-US" sz="2200" dirty="0">
              <a:solidFill>
                <a:schemeClr val="tx1">
                  <a:lumMod val="95000"/>
                  <a:lumOff val="5000"/>
                </a:schemeClr>
              </a:solidFill>
              <a:latin typeface="+mj-lt"/>
            </a:endParaRPr>
          </a:p>
        </p:txBody>
      </p:sp>
      <p:pic>
        <p:nvPicPr>
          <p:cNvPr id="1040" name="Picture 16" descr="Khoa Điện - Điện tử, Trường Đại học Sư phạm Kỹ thuật Tp.HC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9303" y="24547"/>
            <a:ext cx="1617138" cy="16099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p:cNvGraphicFramePr>
            <a:graphicFrameLocks noGrp="1"/>
          </p:cNvGraphicFramePr>
          <p:nvPr/>
        </p:nvGraphicFramePr>
        <p:xfrm>
          <a:off x="0" y="1963563"/>
          <a:ext cx="14604428" cy="1921189"/>
        </p:xfrm>
        <a:graphic>
          <a:graphicData uri="http://schemas.openxmlformats.org/drawingml/2006/table">
            <a:tbl>
              <a:tblPr firstRow="1" bandRow="1">
                <a:tableStyleId>{FABFCF23-3B69-468F-B69F-88F6DE6A72F2}</a:tableStyleId>
              </a:tblPr>
              <a:tblGrid>
                <a:gridCol w="14604428">
                  <a:extLst>
                    <a:ext uri="{9D8B030D-6E8A-4147-A177-3AD203B41FA5}">
                      <a16:colId xmlns:a16="http://schemas.microsoft.com/office/drawing/2014/main" val="20000"/>
                    </a:ext>
                  </a:extLst>
                </a:gridCol>
              </a:tblGrid>
              <a:tr h="1921189">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25" name="Text 0"/>
          <p:cNvSpPr/>
          <p:nvPr/>
        </p:nvSpPr>
        <p:spPr>
          <a:xfrm>
            <a:off x="394970" y="2151380"/>
            <a:ext cx="13461365" cy="920750"/>
          </a:xfrm>
          <a:prstGeom prst="rect">
            <a:avLst/>
          </a:prstGeom>
          <a:noFill/>
        </p:spPr>
        <p:txBody>
          <a:bodyPr wrap="square" lIns="0" tIns="0" rIns="0" bIns="0" rtlCol="0" anchor="t"/>
          <a:lstStyle/>
          <a:p>
            <a:pPr algn="ctr">
              <a:lnSpc>
                <a:spcPts val="5550"/>
              </a:lnSpc>
            </a:pPr>
            <a:r>
              <a:rPr lang="en-US" altLang="en-US" sz="3200" b="1" dirty="0">
                <a:latin typeface="Times New Roman" panose="02020603050405020304" pitchFamily="18" charset="0"/>
                <a:cs typeface="Times New Roman" panose="02020603050405020304" pitchFamily="18" charset="0"/>
              </a:rPr>
              <a:t>Cải thiện </a:t>
            </a:r>
            <a:r>
              <a:rPr lang="" altLang="en-US" sz="3200" b="1" dirty="0">
                <a:latin typeface="Times New Roman" panose="02020603050405020304" pitchFamily="18" charset="0"/>
                <a:cs typeface="Times New Roman" panose="02020603050405020304" pitchFamily="18" charset="0"/>
              </a:rPr>
              <a:t>đ</a:t>
            </a:r>
            <a:r>
              <a:rPr lang="en-US" altLang="en-US" sz="3200" b="1" dirty="0">
                <a:latin typeface="Times New Roman" panose="02020603050405020304" pitchFamily="18" charset="0"/>
                <a:cs typeface="Times New Roman" panose="02020603050405020304" pitchFamily="18" charset="0"/>
              </a:rPr>
              <a:t>ộ tin cậy của nhận thức làn </a:t>
            </a:r>
            <a:r>
              <a:rPr lang="" altLang="en-US" sz="3200" b="1" dirty="0">
                <a:latin typeface="Times New Roman" panose="02020603050405020304" pitchFamily="18" charset="0"/>
                <a:cs typeface="Times New Roman" panose="02020603050405020304" pitchFamily="18" charset="0"/>
              </a:rPr>
              <a:t>đư</a:t>
            </a:r>
            <a:r>
              <a:rPr lang="en-US" altLang="en-US" sz="3200" b="1" dirty="0">
                <a:latin typeface="Times New Roman" panose="02020603050405020304" pitchFamily="18" charset="0"/>
                <a:cs typeface="Times New Roman" panose="02020603050405020304" pitchFamily="18" charset="0"/>
              </a:rPr>
              <a:t>ờng dựa trên AI cho các hệ thống nhúng hạn chế tài nguyên: Ứng dụng cho robot giao hàng tự hành</a:t>
            </a:r>
          </a:p>
        </p:txBody>
      </p:sp>
      <p:sp>
        <p:nvSpPr>
          <p:cNvPr id="29" name="Text 1"/>
          <p:cNvSpPr/>
          <p:nvPr/>
        </p:nvSpPr>
        <p:spPr>
          <a:xfrm>
            <a:off x="394970" y="5837459"/>
            <a:ext cx="4724402" cy="95772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Nghành học</a:t>
            </a:r>
            <a:r>
              <a:rPr lang="en-US"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a:t>
            </a: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 Công nghệ kỹ thuật</a:t>
            </a:r>
          </a:p>
          <a:p>
            <a:pPr>
              <a:lnSpc>
                <a:spcPts val="2750"/>
              </a:lnSpc>
            </a:pP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điện tử - viễn thông</a:t>
            </a:r>
            <a:endParaRPr lang="en-US" sz="2200" b="1" dirty="0">
              <a:solidFill>
                <a:srgbClr val="3B4540"/>
              </a:solidFill>
              <a:latin typeface="Times New Roman" panose="02020603050405020304" pitchFamily="18" charset="0"/>
              <a:ea typeface="Fraunces Extra Bold" pitchFamily="34" charset="-122"/>
              <a:cs typeface="Times New Roman" panose="02020603050405020304" pitchFamily="18" charset="0"/>
            </a:endParaRPr>
          </a:p>
        </p:txBody>
      </p:sp>
      <p:sp>
        <p:nvSpPr>
          <p:cNvPr id="30" name="Text 1"/>
          <p:cNvSpPr/>
          <p:nvPr/>
        </p:nvSpPr>
        <p:spPr>
          <a:xfrm>
            <a:off x="394969" y="6820905"/>
            <a:ext cx="3365897" cy="35433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Năm học: 2022-2026</a:t>
            </a:r>
            <a:endParaRPr lang="en-US" sz="2200" dirty="0">
              <a:solidFill>
                <a:schemeClr val="tx1">
                  <a:lumMod val="95000"/>
                  <a:lumOff val="5000"/>
                </a:schemeClr>
              </a:solidFill>
              <a:latin typeface="+mj-lt"/>
            </a:endParaRPr>
          </a:p>
        </p:txBody>
      </p:sp>
      <p:sp>
        <p:nvSpPr>
          <p:cNvPr id="31" name="Text 1"/>
          <p:cNvSpPr/>
          <p:nvPr/>
        </p:nvSpPr>
        <p:spPr>
          <a:xfrm>
            <a:off x="8928447" y="4934154"/>
            <a:ext cx="3365897" cy="354330"/>
          </a:xfrm>
          <a:prstGeom prst="rect">
            <a:avLst/>
          </a:prstGeom>
          <a:noFill/>
        </p:spPr>
        <p:txBody>
          <a:bodyPr wrap="none" lIns="0" tIns="0" rIns="0" bIns="0" rtlCol="0" anchor="t"/>
          <a:lstStyle/>
          <a:p>
            <a:pPr algn="l">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Mã số sinh viên: </a:t>
            </a:r>
            <a:r>
              <a:rPr lang="vi-VN" sz="2200" b="1"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sym typeface="+mn-ea"/>
              </a:rPr>
              <a:t>221610</a:t>
            </a:r>
            <a:r>
              <a:rPr lang="en-US" altLang="vi-VN" sz="2200" b="1"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sym typeface="+mn-ea"/>
              </a:rPr>
              <a:t>68</a:t>
            </a:r>
            <a:endParaRPr kumimoji="0" lang="vi-VN" sz="2200" b="1"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endParaRPr>
          </a:p>
          <a:p>
            <a:pPr algn="l">
              <a:lnSpc>
                <a:spcPts val="2750"/>
              </a:lnSpc>
            </a:pPr>
            <a:r>
              <a:rPr kumimoji="0" lang="vi-VN" sz="2200" b="1"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rPr>
              <a:t>		   2216107</a:t>
            </a:r>
            <a:r>
              <a:rPr kumimoji="0" lang="en-US" altLang="vi-VN" sz="2200" b="1"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rPr>
              <a:t>2</a:t>
            </a:r>
          </a:p>
        </p:txBody>
      </p:sp>
      <p:sp>
        <p:nvSpPr>
          <p:cNvPr id="32" name="Text 1"/>
          <p:cNvSpPr/>
          <p:nvPr/>
        </p:nvSpPr>
        <p:spPr>
          <a:xfrm>
            <a:off x="8928446" y="5837459"/>
            <a:ext cx="3365897" cy="35433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Lớp: 22161FIE1</a:t>
            </a:r>
            <a:endParaRPr lang="en-US" sz="2200" dirty="0">
              <a:solidFill>
                <a:schemeClr val="tx1">
                  <a:lumMod val="95000"/>
                  <a:lumOff val="5000"/>
                </a:schemeClr>
              </a:solidFill>
              <a:latin typeface="+mj-lt"/>
            </a:endParaRPr>
          </a:p>
        </p:txBody>
      </p:sp>
      <p:pic>
        <p:nvPicPr>
          <p:cNvPr id="6" name="Picture 5" descr="Trường Đại Học Công nghệ Kỹ Thuật TP. HCM"/>
          <p:cNvPicPr>
            <a:picLocks noChangeAspect="1"/>
          </p:cNvPicPr>
          <p:nvPr/>
        </p:nvPicPr>
        <p:blipFill>
          <a:blip r:embed="rId5"/>
          <a:stretch>
            <a:fillRect/>
          </a:stretch>
        </p:blipFill>
        <p:spPr>
          <a:xfrm>
            <a:off x="-1" y="6672"/>
            <a:ext cx="10858501" cy="1866493"/>
          </a:xfrm>
          <a:prstGeom prst="rect">
            <a:avLst/>
          </a:prstGeom>
        </p:spPr>
      </p:pic>
      <p:pic>
        <p:nvPicPr>
          <p:cNvPr id="11" name="Picture 10"/>
          <p:cNvPicPr>
            <a:picLocks noChangeAspect="1"/>
          </p:cNvPicPr>
          <p:nvPr/>
        </p:nvPicPr>
        <p:blipFill>
          <a:blip r:embed="rId6"/>
          <a:stretch>
            <a:fillRect/>
          </a:stretch>
        </p:blipFill>
        <p:spPr>
          <a:xfrm>
            <a:off x="7407035" y="3395"/>
            <a:ext cx="3525024" cy="1894316"/>
          </a:xfrm>
          <a:prstGeom prst="rect">
            <a:avLst/>
          </a:prstGeom>
        </p:spPr>
      </p:pic>
      <p:pic>
        <p:nvPicPr>
          <p:cNvPr id="8" name="Picture 7"/>
          <p:cNvPicPr>
            <a:picLocks noChangeAspect="1"/>
          </p:cNvPicPr>
          <p:nvPr/>
        </p:nvPicPr>
        <p:blipFill>
          <a:blip r:embed="rId7"/>
          <a:stretch>
            <a:fillRect/>
          </a:stretch>
        </p:blipFill>
        <p:spPr>
          <a:xfrm>
            <a:off x="12750689" y="8338"/>
            <a:ext cx="1756652" cy="1626159"/>
          </a:xfrm>
          <a:prstGeom prst="rect">
            <a:avLst/>
          </a:prstGeom>
        </p:spPr>
      </p:pic>
      <p:sp>
        <p:nvSpPr>
          <p:cNvPr id="10" name="Text 1"/>
          <p:cNvSpPr/>
          <p:nvPr/>
        </p:nvSpPr>
        <p:spPr>
          <a:xfrm>
            <a:off x="394970" y="4269621"/>
            <a:ext cx="3365897" cy="35433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Giáo viên hướng dẫn : Ths. Huỳnh Hoàng Hà</a:t>
            </a:r>
            <a:endParaRPr lang="en-US" sz="2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 name="Table 56"/>
          <p:cNvGraphicFramePr>
            <a:graphicFrameLocks noGrp="1"/>
          </p:cNvGraphicFramePr>
          <p:nvPr>
            <p:extLst>
              <p:ext uri="{D42A27DB-BD31-4B8C-83A1-F6EECF244321}">
                <p14:modId xmlns:p14="http://schemas.microsoft.com/office/powerpoint/2010/main" val="556391836"/>
              </p:ext>
            </p:extLst>
          </p:nvPr>
        </p:nvGraphicFramePr>
        <p:xfrm>
          <a:off x="7198" y="0"/>
          <a:ext cx="14630400" cy="1176465"/>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ts val="2750"/>
                        </a:lnSpc>
                        <a:buNone/>
                      </a:pPr>
                      <a:endPar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endParaRPr>
                    </a:p>
                    <a:p>
                      <a:pPr marL="0" indent="0" algn="ctr">
                        <a:lnSpc>
                          <a:spcPts val="2750"/>
                        </a:lnSpc>
                        <a:buNone/>
                      </a:pPr>
                      <a:r>
                        <a:rPr lang="en-US" altLang="en-US" sz="3600" b="1" i="1" dirty="0" err="1">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Tuần</a:t>
                      </a:r>
                      <a:r>
                        <a:rPr lang="vi-VN"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 3-</a:t>
                      </a:r>
                      <a:r>
                        <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 </a:t>
                      </a:r>
                      <a:r>
                        <a:rPr lang="vi-VN"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31</a:t>
                      </a:r>
                      <a:r>
                        <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/08-</a:t>
                      </a:r>
                      <a:r>
                        <a:rPr lang="vi-VN"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05</a:t>
                      </a:r>
                      <a:r>
                        <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a:t>
                      </a:r>
                      <a:r>
                        <a:rPr lang="vi-VN"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09</a:t>
                      </a:r>
                      <a:r>
                        <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 Mục tiêu &amp; Phạm vi</a:t>
                      </a:r>
                    </a:p>
                    <a:p>
                      <a:pPr marL="0" indent="0" algn="ctr">
                        <a:lnSpc>
                          <a:spcPts val="2750"/>
                        </a:lnSpc>
                        <a:buNone/>
                      </a:pPr>
                      <a:endPar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endParaRPr>
                    </a:p>
                  </a:txBody>
                  <a:tcPr/>
                </a:tc>
                <a:extLst>
                  <a:ext uri="{0D108BD9-81ED-4DB2-BD59-A6C34878D82A}">
                    <a16:rowId xmlns:a16="http://schemas.microsoft.com/office/drawing/2014/main" val="10000"/>
                  </a:ext>
                </a:extLst>
              </a:tr>
            </a:tbl>
          </a:graphicData>
        </a:graphic>
      </p:graphicFrame>
      <p:pic>
        <p:nvPicPr>
          <p:cNvPr id="9" name="Image 1" descr="preencoded.png"/>
          <p:cNvPicPr>
            <a:picLocks noChangeAspect="1"/>
          </p:cNvPicPr>
          <p:nvPr/>
        </p:nvPicPr>
        <p:blipFill>
          <a:blip r:embed="rId2"/>
          <a:stretch>
            <a:fillRect/>
          </a:stretch>
        </p:blipFill>
        <p:spPr>
          <a:xfrm>
            <a:off x="2146582" y="1099698"/>
            <a:ext cx="483870" cy="568960"/>
          </a:xfrm>
          <a:prstGeom prst="rect">
            <a:avLst/>
          </a:prstGeom>
        </p:spPr>
      </p:pic>
      <p:sp>
        <p:nvSpPr>
          <p:cNvPr id="6" name="Text Box 5"/>
          <p:cNvSpPr txBox="1"/>
          <p:nvPr/>
        </p:nvSpPr>
        <p:spPr>
          <a:xfrm>
            <a:off x="577850" y="1443355"/>
            <a:ext cx="13340715" cy="1938655"/>
          </a:xfrm>
          <a:prstGeom prst="rect">
            <a:avLst/>
          </a:prstGeom>
          <a:noFill/>
        </p:spPr>
        <p:txBody>
          <a:bodyPr wrap="square" rtlCol="0" anchor="t">
            <a:noAutofit/>
          </a:bodyPr>
          <a:lstStyle/>
          <a:p>
            <a:pPr marL="342900" indent="-342900" algn="just">
              <a:lnSpc>
                <a:spcPts val="2900"/>
              </a:lnSpc>
              <a:buFont typeface="Arial" panose="020B0604020202020204" pitchFamily="34" charset="0"/>
              <a:buChar char="•"/>
            </a:pPr>
            <a:r>
              <a:rPr lang="en-US" altLang="en-US" sz="2350" b="1" dirty="0">
                <a:solidFill>
                  <a:srgbClr val="384653"/>
                </a:solidFill>
                <a:latin typeface="Times New Roman" panose="02020603050405020304" pitchFamily="18" charset="0"/>
                <a:cs typeface="Times New Roman" panose="02020603050405020304" pitchFamily="18" charset="0"/>
                <a:sym typeface="+mn-ea"/>
              </a:rPr>
              <a:t>Mục tiêu chính: khảo sát và thử nghiệm các mô hình AI cho bài toán nhận thức làn đường trên thiết bị nhúng tài nguyên hạn chế (Raspberry Pi). </a:t>
            </a:r>
            <a:endParaRPr lang="vi-VN" altLang="en-US" sz="2350" b="1" dirty="0">
              <a:solidFill>
                <a:srgbClr val="384653"/>
              </a:solidFill>
              <a:latin typeface="Times New Roman" panose="02020603050405020304" pitchFamily="18" charset="0"/>
              <a:cs typeface="Times New Roman" panose="02020603050405020304" pitchFamily="18" charset="0"/>
              <a:sym typeface="+mn-ea"/>
            </a:endParaRPr>
          </a:p>
          <a:p>
            <a:pPr algn="just">
              <a:lnSpc>
                <a:spcPts val="2900"/>
              </a:lnSpc>
            </a:pPr>
            <a:endParaRPr lang="en-US" altLang="en-US" sz="2350" b="1" dirty="0">
              <a:solidFill>
                <a:srgbClr val="384653"/>
              </a:solidFill>
              <a:latin typeface="Times New Roman" panose="02020603050405020304" pitchFamily="18" charset="0"/>
              <a:cs typeface="Times New Roman" panose="02020603050405020304" pitchFamily="18" charset="0"/>
              <a:sym typeface="+mn-ea"/>
            </a:endParaRPr>
          </a:p>
          <a:p>
            <a:pPr marL="342900" indent="-342900" algn="just">
              <a:lnSpc>
                <a:spcPts val="2900"/>
              </a:lnSpc>
              <a:buFont typeface="Arial" panose="020B0604020202020204" pitchFamily="34" charset="0"/>
              <a:buChar char="•"/>
            </a:pPr>
            <a:r>
              <a:rPr lang="en-US" altLang="en-US" sz="2350" b="1" dirty="0">
                <a:solidFill>
                  <a:srgbClr val="384653"/>
                </a:solidFill>
                <a:latin typeface="Times New Roman" panose="02020603050405020304" pitchFamily="18" charset="0"/>
                <a:cs typeface="Times New Roman" panose="02020603050405020304" pitchFamily="18" charset="0"/>
                <a:sym typeface="+mn-ea"/>
              </a:rPr>
              <a:t>Các bước cụ thể: lựa chọn mô hình phù hợp, triển khai thử nghiệm trên Raspberry Pi, kiểm tra khả năng nhận diện làn đường, nhận diện vùng có thể di chuyển (drivable area), và phát hiện phương tiện. </a:t>
            </a:r>
          </a:p>
          <a:p>
            <a:pPr marL="342900" indent="-342900" algn="just">
              <a:lnSpc>
                <a:spcPts val="2900"/>
              </a:lnSpc>
              <a:buFont typeface="Arial" panose="020B0604020202020204" pitchFamily="34" charset="0"/>
              <a:buChar char="•"/>
            </a:pPr>
            <a:endParaRPr lang="en-US" altLang="en-US" sz="2350" b="1" dirty="0">
              <a:solidFill>
                <a:srgbClr val="384653"/>
              </a:solidFill>
              <a:latin typeface="Barlow Bold" panose="00000800000000000000" pitchFamily="34" charset="0"/>
              <a:sym typeface="+mn-ea"/>
            </a:endParaRPr>
          </a:p>
        </p:txBody>
      </p:sp>
      <p:sp>
        <p:nvSpPr>
          <p:cNvPr id="17" name="Shape 3"/>
          <p:cNvSpPr/>
          <p:nvPr/>
        </p:nvSpPr>
        <p:spPr>
          <a:xfrm>
            <a:off x="758826" y="3891787"/>
            <a:ext cx="6302240" cy="2510507"/>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pic>
        <p:nvPicPr>
          <p:cNvPr id="18" name="Image 0" descr="preencoded.png"/>
          <p:cNvPicPr>
            <a:picLocks noChangeAspect="1"/>
          </p:cNvPicPr>
          <p:nvPr/>
        </p:nvPicPr>
        <p:blipFill>
          <a:blip r:embed="rId3"/>
          <a:stretch>
            <a:fillRect/>
          </a:stretch>
        </p:blipFill>
        <p:spPr>
          <a:xfrm>
            <a:off x="737467" y="3891788"/>
            <a:ext cx="131452" cy="2543810"/>
          </a:xfrm>
          <a:prstGeom prst="rect">
            <a:avLst/>
          </a:prstGeom>
        </p:spPr>
      </p:pic>
      <p:sp>
        <p:nvSpPr>
          <p:cNvPr id="19" name="Text 4"/>
          <p:cNvSpPr/>
          <p:nvPr/>
        </p:nvSpPr>
        <p:spPr>
          <a:xfrm>
            <a:off x="1152446" y="4032185"/>
            <a:ext cx="2708314" cy="329594"/>
          </a:xfrm>
          <a:prstGeom prst="rect">
            <a:avLst/>
          </a:prstGeom>
          <a:noFill/>
        </p:spPr>
        <p:txBody>
          <a:bodyPr wrap="none" lIns="0" tIns="0" rIns="0" bIns="0" rtlCol="0" anchor="t"/>
          <a:lstStyle/>
          <a:p>
            <a:pPr marL="0" indent="0" algn="l">
              <a:lnSpc>
                <a:spcPts val="2450"/>
              </a:lnSpc>
              <a:buNone/>
            </a:pPr>
            <a:r>
              <a:rPr lang="en-US" altLang="en-US" sz="2400" b="1" dirty="0" err="1">
                <a:solidFill>
                  <a:srgbClr val="384653"/>
                </a:solidFill>
                <a:latin typeface="Barlow Bold" panose="00000800000000000000" pitchFamily="34" charset="0"/>
                <a:ea typeface="Barlow Bold" panose="00000800000000000000" pitchFamily="34" charset="-122"/>
                <a:cs typeface="Barlow Bold" panose="00000800000000000000" pitchFamily="34" charset="-120"/>
              </a:rPr>
              <a:t>Nhận</a:t>
            </a:r>
            <a:r>
              <a:rPr lang="en-US" altLang="en-US" sz="24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diện làn đường</a:t>
            </a:r>
          </a:p>
          <a:p>
            <a:pPr marL="0" indent="0" algn="l">
              <a:lnSpc>
                <a:spcPts val="2450"/>
              </a:lnSpc>
              <a:buNone/>
            </a:pPr>
            <a:endParaRPr lang="en-US" altLang="en-US" sz="24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endParaRPr>
          </a:p>
        </p:txBody>
      </p:sp>
      <p:sp>
        <p:nvSpPr>
          <p:cNvPr id="27" name="Text Box 26"/>
          <p:cNvSpPr txBox="1"/>
          <p:nvPr/>
        </p:nvSpPr>
        <p:spPr>
          <a:xfrm>
            <a:off x="1066007" y="4504722"/>
            <a:ext cx="3156659" cy="1171661"/>
          </a:xfrm>
          <a:prstGeom prst="rect">
            <a:avLst/>
          </a:prstGeom>
          <a:noFill/>
        </p:spPr>
        <p:txBody>
          <a:bodyPr wrap="square" rtlCol="0">
            <a:noAutofit/>
          </a:bodyPr>
          <a:lstStyle/>
          <a:p>
            <a:pPr algn="just"/>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sym typeface="+mn-ea"/>
              </a:rPr>
              <a:t>Kiểm tra segmentation của vạch và xác định biên làn trong nhiều điều kiện ánh sáng.</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A1657DE-3DCB-2290-444A-4BE525AAA5D5}"/>
              </a:ext>
            </a:extLst>
          </p:cNvPr>
          <p:cNvPicPr>
            <a:picLocks noChangeAspect="1"/>
          </p:cNvPicPr>
          <p:nvPr/>
        </p:nvPicPr>
        <p:blipFill>
          <a:blip r:embed="rId4"/>
          <a:stretch>
            <a:fillRect/>
          </a:stretch>
        </p:blipFill>
        <p:spPr>
          <a:xfrm>
            <a:off x="10318528" y="7613618"/>
            <a:ext cx="4311872" cy="615982"/>
          </a:xfrm>
          <a:prstGeom prst="rect">
            <a:avLst/>
          </a:prstGeom>
        </p:spPr>
      </p:pic>
      <p:sp>
        <p:nvSpPr>
          <p:cNvPr id="4" name="Shape 3">
            <a:extLst>
              <a:ext uri="{FF2B5EF4-FFF2-40B4-BE49-F238E27FC236}">
                <a16:creationId xmlns:a16="http://schemas.microsoft.com/office/drawing/2014/main" id="{C98E15FF-FB02-F5F8-3A67-82BF8A8E5ED9}"/>
              </a:ext>
            </a:extLst>
          </p:cNvPr>
          <p:cNvSpPr/>
          <p:nvPr/>
        </p:nvSpPr>
        <p:spPr>
          <a:xfrm>
            <a:off x="7859940" y="3925091"/>
            <a:ext cx="6302240" cy="2510507"/>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pic>
        <p:nvPicPr>
          <p:cNvPr id="8" name="Image 0" descr="preencoded.png">
            <a:extLst>
              <a:ext uri="{FF2B5EF4-FFF2-40B4-BE49-F238E27FC236}">
                <a16:creationId xmlns:a16="http://schemas.microsoft.com/office/drawing/2014/main" id="{D05DB3CD-CB5E-368E-8BED-75CD5D4EC566}"/>
              </a:ext>
            </a:extLst>
          </p:cNvPr>
          <p:cNvPicPr>
            <a:picLocks noChangeAspect="1"/>
          </p:cNvPicPr>
          <p:nvPr/>
        </p:nvPicPr>
        <p:blipFill>
          <a:blip r:embed="rId3"/>
          <a:stretch>
            <a:fillRect/>
          </a:stretch>
        </p:blipFill>
        <p:spPr>
          <a:xfrm>
            <a:off x="7838581" y="3925092"/>
            <a:ext cx="131452" cy="2543810"/>
          </a:xfrm>
          <a:prstGeom prst="rect">
            <a:avLst/>
          </a:prstGeom>
        </p:spPr>
      </p:pic>
      <p:pic>
        <p:nvPicPr>
          <p:cNvPr id="34" name="Picture 33"/>
          <p:cNvPicPr/>
          <p:nvPr/>
        </p:nvPicPr>
        <p:blipFill>
          <a:blip r:embed="rId5"/>
          <a:stretch>
            <a:fillRect/>
          </a:stretch>
        </p:blipFill>
        <p:spPr>
          <a:xfrm>
            <a:off x="11447658" y="3925092"/>
            <a:ext cx="2708314" cy="2510506"/>
          </a:xfrm>
          <a:prstGeom prst="rect">
            <a:avLst/>
          </a:prstGeom>
        </p:spPr>
      </p:pic>
      <p:pic>
        <p:nvPicPr>
          <p:cNvPr id="28" name="Picture 27"/>
          <p:cNvPicPr/>
          <p:nvPr/>
        </p:nvPicPr>
        <p:blipFill>
          <a:blip r:embed="rId6"/>
          <a:stretch>
            <a:fillRect/>
          </a:stretch>
        </p:blipFill>
        <p:spPr>
          <a:xfrm>
            <a:off x="4506193" y="3883680"/>
            <a:ext cx="2593999" cy="2503045"/>
          </a:xfrm>
          <a:prstGeom prst="rect">
            <a:avLst/>
          </a:prstGeom>
        </p:spPr>
      </p:pic>
      <p:sp>
        <p:nvSpPr>
          <p:cNvPr id="41" name="Text 4"/>
          <p:cNvSpPr/>
          <p:nvPr/>
        </p:nvSpPr>
        <p:spPr>
          <a:xfrm>
            <a:off x="8280926" y="4125780"/>
            <a:ext cx="4682490" cy="338455"/>
          </a:xfrm>
          <a:prstGeom prst="rect">
            <a:avLst/>
          </a:prstGeom>
          <a:noFill/>
        </p:spPr>
        <p:txBody>
          <a:bodyPr wrap="none" lIns="0" tIns="0" rIns="0" bIns="0" rtlCol="0" anchor="t"/>
          <a:lstStyle/>
          <a:p>
            <a:pPr marL="0" indent="0" algn="l">
              <a:lnSpc>
                <a:spcPts val="2450"/>
              </a:lnSpc>
              <a:buNone/>
            </a:pPr>
            <a:r>
              <a:rPr lang="en-US" altLang="en-US" sz="2400" b="1" dirty="0" err="1">
                <a:solidFill>
                  <a:srgbClr val="384653"/>
                </a:solidFill>
                <a:latin typeface="Barlow Bold" panose="00000800000000000000" pitchFamily="34" charset="0"/>
                <a:ea typeface="Barlow Bold" panose="00000800000000000000" pitchFamily="34" charset="-122"/>
                <a:cs typeface="Barlow Bold" panose="00000800000000000000" pitchFamily="34" charset="-120"/>
              </a:rPr>
              <a:t>Phát</a:t>
            </a:r>
            <a:r>
              <a:rPr lang="en-US" altLang="en-US" sz="24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hiện phương tiện</a:t>
            </a:r>
          </a:p>
        </p:txBody>
      </p:sp>
      <p:sp>
        <p:nvSpPr>
          <p:cNvPr id="42" name="Text Box 41"/>
          <p:cNvSpPr txBox="1"/>
          <p:nvPr/>
        </p:nvSpPr>
        <p:spPr>
          <a:xfrm>
            <a:off x="8280926" y="4664923"/>
            <a:ext cx="3075940" cy="1077595"/>
          </a:xfrm>
          <a:prstGeom prst="rect">
            <a:avLst/>
          </a:prstGeom>
          <a:noFill/>
        </p:spPr>
        <p:txBody>
          <a:bodyPr wrap="square" rtlCol="0">
            <a:noAutofit/>
          </a:bodyPr>
          <a:lstStyle/>
          <a:p>
            <a:pPr algn="just"/>
            <a:r>
              <a:rPr lang="en-US" altLang="en-US" dirty="0" err="1">
                <a:latin typeface="Times New Roman" panose="02020603050405020304" pitchFamily="18" charset="0"/>
                <a:cs typeface="Times New Roman" panose="02020603050405020304" pitchFamily="18" charset="0"/>
              </a:rPr>
              <a:t>Nhận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đánh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dấu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phương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xung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hỗ</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quyết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định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hướng</a:t>
            </a:r>
            <a:r>
              <a:rPr lang="en-US" altLang="en-US" dirty="0">
                <a:latin typeface="Times New Roman" panose="02020603050405020304" pitchFamily="18" charset="0"/>
                <a:cs typeface="Times New Roman" panose="02020603050405020304" pitchFamily="18" charset="0"/>
              </a:rPr>
              <a:t>.</a:t>
            </a:r>
          </a:p>
          <a:p>
            <a:pPr algn="just"/>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7A6B10-3B99-2C31-AB37-7C373B56A114}"/>
              </a:ext>
            </a:extLst>
          </p:cNvPr>
          <p:cNvPicPr>
            <a:picLocks noChangeAspect="1"/>
          </p:cNvPicPr>
          <p:nvPr/>
        </p:nvPicPr>
        <p:blipFill>
          <a:blip r:embed="rId2"/>
          <a:stretch>
            <a:fillRect/>
          </a:stretch>
        </p:blipFill>
        <p:spPr>
          <a:xfrm>
            <a:off x="10318528" y="7542991"/>
            <a:ext cx="4311872" cy="615982"/>
          </a:xfrm>
          <a:prstGeom prst="rect">
            <a:avLst/>
          </a:prstGeom>
        </p:spPr>
      </p:pic>
      <p:graphicFrame>
        <p:nvGraphicFramePr>
          <p:cNvPr id="57" name="Table 56"/>
          <p:cNvGraphicFramePr>
            <a:graphicFrameLocks noGrp="1"/>
          </p:cNvGraphicFramePr>
          <p:nvPr>
            <p:extLst>
              <p:ext uri="{D42A27DB-BD31-4B8C-83A1-F6EECF244321}">
                <p14:modId xmlns:p14="http://schemas.microsoft.com/office/powerpoint/2010/main" val="3707764711"/>
              </p:ext>
            </p:extLst>
          </p:nvPr>
        </p:nvGraphicFramePr>
        <p:xfrm>
          <a:off x="7198" y="0"/>
          <a:ext cx="14630400" cy="1173417"/>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ts val="2750"/>
                        </a:lnSpc>
                        <a:buNone/>
                      </a:pPr>
                      <a:endParaRPr lang="en-US" altLang="en-US" sz="3600" b="1" i="1" dirty="0">
                        <a:solidFill>
                          <a:schemeClr val="tx1">
                            <a:lumMod val="95000"/>
                            <a:lumOff val="5000"/>
                          </a:schemeClr>
                        </a:solidFill>
                        <a:latin typeface="Arial" panose="020B0604020202020204" pitchFamily="34" charset="0"/>
                        <a:ea typeface="Fraunces Extra Bold" pitchFamily="34" charset="-122"/>
                        <a:cs typeface="Arial" panose="020B0604020202020204" pitchFamily="34" charset="0"/>
                      </a:endParaRPr>
                    </a:p>
                    <a:p>
                      <a:pPr marL="0" indent="0" algn="ctr">
                        <a:lnSpc>
                          <a:spcPts val="2750"/>
                        </a:lnSpc>
                        <a:buNone/>
                      </a:pPr>
                      <a:r>
                        <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Các mô hình đã khảo sát &amp; Lựa chọn thử nghiệm</a:t>
                      </a:r>
                    </a:p>
                    <a:p>
                      <a:pPr marL="0" indent="0" algn="ctr">
                        <a:lnSpc>
                          <a:spcPts val="2750"/>
                        </a:lnSpc>
                        <a:buNone/>
                      </a:pPr>
                      <a:endParaRPr lang="en-US" altLang="en-US" sz="3600" b="1" i="1" dirty="0">
                        <a:solidFill>
                          <a:schemeClr val="tx1">
                            <a:lumMod val="95000"/>
                            <a:lumOff val="5000"/>
                          </a:schemeClr>
                        </a:solidFill>
                        <a:latin typeface="Arial" panose="020B0604020202020204" pitchFamily="34" charset="0"/>
                        <a:ea typeface="Fraunces Extra Bold" pitchFamily="34" charset="-122"/>
                        <a:cs typeface="Arial" panose="020B0604020202020204" pitchFamily="34" charset="0"/>
                      </a:endParaRPr>
                    </a:p>
                  </a:txBody>
                  <a:tcPr/>
                </a:tc>
                <a:extLst>
                  <a:ext uri="{0D108BD9-81ED-4DB2-BD59-A6C34878D82A}">
                    <a16:rowId xmlns:a16="http://schemas.microsoft.com/office/drawing/2014/main" val="10000"/>
                  </a:ext>
                </a:extLst>
              </a:tr>
            </a:tbl>
          </a:graphicData>
        </a:graphic>
      </p:graphicFrame>
      <p:pic>
        <p:nvPicPr>
          <p:cNvPr id="9" name="Image 1" descr="preencoded.png"/>
          <p:cNvPicPr>
            <a:picLocks noChangeAspect="1"/>
          </p:cNvPicPr>
          <p:nvPr/>
        </p:nvPicPr>
        <p:blipFill>
          <a:blip r:embed="rId3"/>
          <a:stretch>
            <a:fillRect/>
          </a:stretch>
        </p:blipFill>
        <p:spPr>
          <a:xfrm>
            <a:off x="2146582" y="1099698"/>
            <a:ext cx="483870" cy="568960"/>
          </a:xfrm>
          <a:prstGeom prst="rect">
            <a:avLst/>
          </a:prstGeom>
        </p:spPr>
      </p:pic>
      <p:sp>
        <p:nvSpPr>
          <p:cNvPr id="6" name="Text Box 5"/>
          <p:cNvSpPr txBox="1"/>
          <p:nvPr/>
        </p:nvSpPr>
        <p:spPr>
          <a:xfrm>
            <a:off x="577850" y="1345516"/>
            <a:ext cx="13340715" cy="1130300"/>
          </a:xfrm>
          <a:prstGeom prst="rect">
            <a:avLst/>
          </a:prstGeom>
          <a:noFill/>
        </p:spPr>
        <p:txBody>
          <a:bodyPr wrap="square" rtlCol="0" anchor="t">
            <a:noAutofit/>
          </a:bodyPr>
          <a:lstStyle/>
          <a:p>
            <a:pPr algn="just">
              <a:lnSpc>
                <a:spcPts val="2900"/>
              </a:lnSpc>
            </a:pPr>
            <a:r>
              <a:rPr lang="en-US" altLang="en-US" sz="2350" b="1" dirty="0" err="1">
                <a:latin typeface="Times New Roman" panose="02020603050405020304" pitchFamily="18" charset="0"/>
                <a:cs typeface="Times New Roman" panose="02020603050405020304" pitchFamily="18" charset="0"/>
                <a:sym typeface="+mn-ea"/>
              </a:rPr>
              <a:t>Nhóm</a:t>
            </a:r>
            <a:r>
              <a:rPr lang="en-US" altLang="en-US" sz="2350" b="1" dirty="0">
                <a:latin typeface="Times New Roman" panose="02020603050405020304" pitchFamily="18" charset="0"/>
                <a:cs typeface="Times New Roman" panose="02020603050405020304" pitchFamily="18" charset="0"/>
                <a:sym typeface="+mn-ea"/>
              </a:rPr>
              <a:t> đã xem xét các mô hình sau: TriLiteNet, TwinLiteNet / TwinLiteNet+, YOLOP và các phương pháp truyền thống cho Lane Detection (Canny + Hough). Sau đánh giá về độ thích hợp, khả năng thực thi trên các thiết bị nhúng, nhóm em đã chọn thử nghiệm: TriLiteNet Tiny.</a:t>
            </a:r>
          </a:p>
        </p:txBody>
      </p:sp>
      <p:sp>
        <p:nvSpPr>
          <p:cNvPr id="12" name="Shape 2"/>
          <p:cNvSpPr/>
          <p:nvPr/>
        </p:nvSpPr>
        <p:spPr>
          <a:xfrm>
            <a:off x="868680" y="2809421"/>
            <a:ext cx="5865495" cy="1840230"/>
          </a:xfrm>
          <a:prstGeom prst="roundRect">
            <a:avLst>
              <a:gd name="adj" fmla="val 16978"/>
            </a:avLst>
          </a:prstGeom>
          <a:solidFill>
            <a:srgbClr val="F3F3FF"/>
          </a:solidFill>
          <a:ln w="12700">
            <a:solidFill>
              <a:srgbClr val="2D4DF2"/>
            </a:solidFill>
            <a:prstDash val="solid"/>
          </a:ln>
        </p:spPr>
      </p:sp>
      <p:sp>
        <p:nvSpPr>
          <p:cNvPr id="13" name="Text 3"/>
          <p:cNvSpPr/>
          <p:nvPr/>
        </p:nvSpPr>
        <p:spPr>
          <a:xfrm>
            <a:off x="1183005" y="2980871"/>
            <a:ext cx="5551170" cy="305435"/>
          </a:xfrm>
          <a:prstGeom prst="rect">
            <a:avLst/>
          </a:prstGeom>
          <a:noFill/>
        </p:spPr>
        <p:txBody>
          <a:bodyPr wrap="none" lIns="0" tIns="0" rIns="0" bIns="0" rtlCol="0" anchor="t"/>
          <a:lstStyle/>
          <a:p>
            <a:pPr marL="0" indent="0" algn="l">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Lý do chọn TriLiteNet Tiny</a:t>
            </a:r>
          </a:p>
        </p:txBody>
      </p:sp>
      <p:sp>
        <p:nvSpPr>
          <p:cNvPr id="14" name="Text 4"/>
          <p:cNvSpPr/>
          <p:nvPr/>
        </p:nvSpPr>
        <p:spPr>
          <a:xfrm>
            <a:off x="1012190" y="3220266"/>
            <a:ext cx="5551170" cy="982980"/>
          </a:xfrm>
          <a:prstGeom prst="rect">
            <a:avLst/>
          </a:prstGeom>
          <a:noFill/>
        </p:spPr>
        <p:txBody>
          <a:bodyPr wrap="square" lIns="0" tIns="52363" rIns="0" bIns="0" rtlCol="0" anchor="t">
            <a:noAutofit/>
          </a:bodyPr>
          <a:lstStyle/>
          <a:p>
            <a:pPr marL="203200" indent="-203200" algn="just">
              <a:lnSpc>
                <a:spcPct val="117000"/>
              </a:lnSpc>
              <a:buSzPct val="100000"/>
              <a:buChar char="•"/>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Mô hình lightweight, phù hợp với hệ thống nhúng giới hạn tài nguyên.</a:t>
            </a:r>
            <a:endParaRPr lang="en-US" dirty="0">
              <a:latin typeface="Times New Roman" panose="02020603050405020304" pitchFamily="18" charset="0"/>
              <a:cs typeface="Times New Roman" panose="02020603050405020304" pitchFamily="18" charset="0"/>
            </a:endParaRPr>
          </a:p>
          <a:p>
            <a:pPr marL="203200" indent="-203200" algn="just">
              <a:lnSpc>
                <a:spcPct val="117000"/>
              </a:lnSpc>
              <a:buSzPct val="100000"/>
              <a:buChar char="•"/>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Chạy ổn định ba nhiệm vụ: lane segmentation, drivable area, và vehicle detection.</a:t>
            </a:r>
          </a:p>
        </p:txBody>
      </p:sp>
      <p:sp>
        <p:nvSpPr>
          <p:cNvPr id="15" name="Shape 5"/>
          <p:cNvSpPr/>
          <p:nvPr/>
        </p:nvSpPr>
        <p:spPr>
          <a:xfrm>
            <a:off x="8298025" y="2809421"/>
            <a:ext cx="5582285" cy="1860550"/>
          </a:xfrm>
          <a:prstGeom prst="roundRect">
            <a:avLst>
              <a:gd name="adj" fmla="val 16978"/>
            </a:avLst>
          </a:prstGeom>
          <a:solidFill>
            <a:srgbClr val="F3F3FF"/>
          </a:solidFill>
          <a:ln w="12700">
            <a:solidFill>
              <a:srgbClr val="018CE1"/>
            </a:solidFill>
            <a:prstDash val="solid"/>
          </a:ln>
        </p:spPr>
      </p:sp>
      <p:sp>
        <p:nvSpPr>
          <p:cNvPr id="16" name="Text 6"/>
          <p:cNvSpPr/>
          <p:nvPr/>
        </p:nvSpPr>
        <p:spPr>
          <a:xfrm>
            <a:off x="8558358" y="2943321"/>
            <a:ext cx="5061617" cy="192484"/>
          </a:xfrm>
          <a:prstGeom prst="rect">
            <a:avLst/>
          </a:prstGeom>
          <a:noFill/>
        </p:spPr>
        <p:txBody>
          <a:bodyPr wrap="none" lIns="0" tIns="0" rIns="0" bIns="0" rtlCol="0" anchor="t"/>
          <a:lstStyle/>
          <a:p>
            <a:pPr marL="0" indent="0" algn="l">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Hạn chế của phương pháp truyền thống</a:t>
            </a:r>
          </a:p>
        </p:txBody>
      </p:sp>
      <p:sp>
        <p:nvSpPr>
          <p:cNvPr id="20" name="Text 7"/>
          <p:cNvSpPr/>
          <p:nvPr/>
        </p:nvSpPr>
        <p:spPr>
          <a:xfrm>
            <a:off x="8441556" y="3288831"/>
            <a:ext cx="5380355" cy="1411605"/>
          </a:xfrm>
          <a:prstGeom prst="rect">
            <a:avLst/>
          </a:prstGeom>
          <a:noFill/>
        </p:spPr>
        <p:txBody>
          <a:bodyPr wrap="square" lIns="0" tIns="0" rIns="0" bIns="0" rtlCol="0" anchor="t">
            <a:noAutofit/>
          </a:bodyPr>
          <a:lstStyle/>
          <a:p>
            <a:pPr marL="0" indent="0" algn="just">
              <a:lnSpc>
                <a:spcPct val="117000"/>
              </a:lnSpc>
              <a:buNone/>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Các thuật toán như Canny + Hough phụ thuộc nhiều vào vạch kẻ đường — kém hiệu quả trên đường thiếu vạch, vạch mờ, hoặc vạch đứt đoạn, rất phổ biến ở nhiều tuyến đường tại Việt Nam.</a:t>
            </a:r>
          </a:p>
        </p:txBody>
      </p:sp>
      <p:sp>
        <p:nvSpPr>
          <p:cNvPr id="21" name="Shape 8"/>
          <p:cNvSpPr/>
          <p:nvPr/>
        </p:nvSpPr>
        <p:spPr>
          <a:xfrm flipV="1">
            <a:off x="868680" y="4822997"/>
            <a:ext cx="13049885" cy="76200"/>
          </a:xfrm>
          <a:prstGeom prst="roundRect">
            <a:avLst>
              <a:gd name="adj" fmla="val 49999"/>
            </a:avLst>
          </a:prstGeom>
          <a:solidFill>
            <a:srgbClr val="00002E">
              <a:alpha val="50000"/>
            </a:srgbClr>
          </a:solidFill>
        </p:spPr>
        <p:txBody>
          <a:bodyPr/>
          <a:lstStyle/>
          <a:p>
            <a:endParaRPr lang="en-US"/>
          </a:p>
        </p:txBody>
      </p:sp>
      <p:pic>
        <p:nvPicPr>
          <p:cNvPr id="23" name="Picture 22" descr="713aa901-c33c-4c88-a514-84b048ab313a"/>
          <p:cNvPicPr>
            <a:picLocks noChangeAspect="1"/>
          </p:cNvPicPr>
          <p:nvPr/>
        </p:nvPicPr>
        <p:blipFill>
          <a:blip r:embed="rId4"/>
          <a:srcRect t="9812" b="10906"/>
          <a:stretch>
            <a:fillRect/>
          </a:stretch>
        </p:blipFill>
        <p:spPr>
          <a:xfrm>
            <a:off x="1550669" y="4962032"/>
            <a:ext cx="4501515" cy="2974882"/>
          </a:xfrm>
          <a:prstGeom prst="rect">
            <a:avLst/>
          </a:prstGeom>
        </p:spPr>
      </p:pic>
      <p:pic>
        <p:nvPicPr>
          <p:cNvPr id="24" name="Picture 23" descr="06748894-bf5b-4f60-92d5-aec8285ec5c3"/>
          <p:cNvPicPr>
            <a:picLocks noChangeAspect="1"/>
          </p:cNvPicPr>
          <p:nvPr/>
        </p:nvPicPr>
        <p:blipFill>
          <a:blip r:embed="rId5"/>
          <a:srcRect t="5325"/>
          <a:stretch>
            <a:fillRect/>
          </a:stretch>
        </p:blipFill>
        <p:spPr>
          <a:xfrm>
            <a:off x="9059808" y="4962032"/>
            <a:ext cx="4143849" cy="320815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3">
            <a:extLst>
              <a:ext uri="{FF2B5EF4-FFF2-40B4-BE49-F238E27FC236}">
                <a16:creationId xmlns:a16="http://schemas.microsoft.com/office/drawing/2014/main" id="{E104FC08-4FEE-57A5-A20D-4A2542B763FA}"/>
              </a:ext>
            </a:extLst>
          </p:cNvPr>
          <p:cNvSpPr/>
          <p:nvPr/>
        </p:nvSpPr>
        <p:spPr>
          <a:xfrm>
            <a:off x="7683874" y="5199118"/>
            <a:ext cx="5726897" cy="1943490"/>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sp>
        <p:nvSpPr>
          <p:cNvPr id="15" name="Shape 3">
            <a:extLst>
              <a:ext uri="{FF2B5EF4-FFF2-40B4-BE49-F238E27FC236}">
                <a16:creationId xmlns:a16="http://schemas.microsoft.com/office/drawing/2014/main" id="{8C4E3699-87C9-5878-49E9-8D17C8AF6116}"/>
              </a:ext>
            </a:extLst>
          </p:cNvPr>
          <p:cNvSpPr/>
          <p:nvPr/>
        </p:nvSpPr>
        <p:spPr>
          <a:xfrm>
            <a:off x="7654642" y="2670175"/>
            <a:ext cx="5726897" cy="1868862"/>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sp>
        <p:nvSpPr>
          <p:cNvPr id="13" name="Shape 3">
            <a:extLst>
              <a:ext uri="{FF2B5EF4-FFF2-40B4-BE49-F238E27FC236}">
                <a16:creationId xmlns:a16="http://schemas.microsoft.com/office/drawing/2014/main" id="{7D778CD8-14D3-AFDE-652D-79FA24742EBA}"/>
              </a:ext>
            </a:extLst>
          </p:cNvPr>
          <p:cNvSpPr/>
          <p:nvPr/>
        </p:nvSpPr>
        <p:spPr>
          <a:xfrm>
            <a:off x="958906" y="5149549"/>
            <a:ext cx="4935394" cy="1943490"/>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sp>
        <p:nvSpPr>
          <p:cNvPr id="6" name="Shape 3">
            <a:extLst>
              <a:ext uri="{FF2B5EF4-FFF2-40B4-BE49-F238E27FC236}">
                <a16:creationId xmlns:a16="http://schemas.microsoft.com/office/drawing/2014/main" id="{6585BCC4-F231-BC5D-3BA1-C53727C81678}"/>
              </a:ext>
            </a:extLst>
          </p:cNvPr>
          <p:cNvSpPr/>
          <p:nvPr/>
        </p:nvSpPr>
        <p:spPr>
          <a:xfrm>
            <a:off x="957540" y="2703407"/>
            <a:ext cx="4935394" cy="1846020"/>
          </a:xfrm>
          <a:prstGeom prst="roundRect">
            <a:avLst>
              <a:gd name="adj" fmla="val 6235"/>
            </a:avLst>
          </a:prstGeom>
          <a:solidFill>
            <a:srgbClr val="FFFFFF"/>
          </a:solidFill>
          <a:ln w="22860">
            <a:solidFill>
              <a:srgbClr val="BACFDD"/>
            </a:solidFill>
            <a:prstDash val="solid"/>
          </a:ln>
        </p:spPr>
        <p:txBody>
          <a:bodyPr/>
          <a:lstStyle/>
          <a:p>
            <a:pPr marL="0" indent="0" algn="l">
              <a:lnSpc>
                <a:spcPct val="133000"/>
              </a:lnSpc>
              <a:buNone/>
            </a:pPr>
            <a:endParaRPr lang="en-US"/>
          </a:p>
        </p:txBody>
      </p:sp>
      <p:graphicFrame>
        <p:nvGraphicFramePr>
          <p:cNvPr id="57" name="Table 56"/>
          <p:cNvGraphicFramePr>
            <a:graphicFrameLocks noGrp="1"/>
          </p:cNvGraphicFramePr>
          <p:nvPr>
            <p:extLst>
              <p:ext uri="{D42A27DB-BD31-4B8C-83A1-F6EECF244321}">
                <p14:modId xmlns:p14="http://schemas.microsoft.com/office/powerpoint/2010/main" val="2492219242"/>
              </p:ext>
            </p:extLst>
          </p:nvPr>
        </p:nvGraphicFramePr>
        <p:xfrm>
          <a:off x="7198" y="0"/>
          <a:ext cx="14630400" cy="1173417"/>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ts val="2750"/>
                        </a:lnSpc>
                        <a:buNone/>
                      </a:pPr>
                      <a:endParaRPr lang="en-US" altLang="en-US" sz="3600" b="1" i="1" dirty="0">
                        <a:solidFill>
                          <a:schemeClr val="tx1">
                            <a:lumMod val="95000"/>
                            <a:lumOff val="5000"/>
                          </a:schemeClr>
                        </a:solidFill>
                        <a:latin typeface="Arial" panose="020B0604020202020204" pitchFamily="34" charset="0"/>
                        <a:ea typeface="Fraunces Extra Bold" pitchFamily="34" charset="-122"/>
                        <a:cs typeface="Arial" panose="020B0604020202020204" pitchFamily="34" charset="0"/>
                      </a:endParaRPr>
                    </a:p>
                    <a:p>
                      <a:pPr marL="0" indent="0" algn="ctr">
                        <a:lnSpc>
                          <a:spcPts val="2750"/>
                        </a:lnSpc>
                        <a:buNone/>
                      </a:pPr>
                      <a:r>
                        <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Hướng </a:t>
                      </a:r>
                      <a:r>
                        <a:rPr lang="en-US" altLang="en-US" sz="3600" b="1" i="1" dirty="0" err="1">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giải</a:t>
                      </a:r>
                      <a:r>
                        <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 </a:t>
                      </a:r>
                      <a:r>
                        <a:rPr lang="en-US" altLang="en-US" sz="3600" b="1" i="1" dirty="0" err="1">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quyết</a:t>
                      </a:r>
                      <a:endPar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endParaRPr>
                    </a:p>
                    <a:p>
                      <a:pPr marL="0" indent="0" algn="ctr">
                        <a:lnSpc>
                          <a:spcPts val="2750"/>
                        </a:lnSpc>
                        <a:buNone/>
                      </a:pPr>
                      <a:endParaRPr lang="en-US" altLang="en-US" sz="3600" b="1" i="1" dirty="0">
                        <a:solidFill>
                          <a:schemeClr val="tx1">
                            <a:lumMod val="95000"/>
                            <a:lumOff val="5000"/>
                          </a:schemeClr>
                        </a:solidFill>
                        <a:latin typeface="Arial" panose="020B0604020202020204" pitchFamily="34" charset="0"/>
                        <a:ea typeface="Fraunces Extra Bold" pitchFamily="34" charset="-122"/>
                        <a:cs typeface="Arial" panose="020B0604020202020204" pitchFamily="34" charset="0"/>
                      </a:endParaRPr>
                    </a:p>
                  </a:txBody>
                  <a:tcPr/>
                </a:tc>
                <a:extLst>
                  <a:ext uri="{0D108BD9-81ED-4DB2-BD59-A6C34878D82A}">
                    <a16:rowId xmlns:a16="http://schemas.microsoft.com/office/drawing/2014/main" val="10000"/>
                  </a:ext>
                </a:extLst>
              </a:tr>
            </a:tbl>
          </a:graphicData>
        </a:graphic>
      </p:graphicFrame>
      <p:pic>
        <p:nvPicPr>
          <p:cNvPr id="9" name="Image 1" descr="preencoded.png"/>
          <p:cNvPicPr>
            <a:picLocks noChangeAspect="1"/>
          </p:cNvPicPr>
          <p:nvPr/>
        </p:nvPicPr>
        <p:blipFill>
          <a:blip r:embed="rId2"/>
          <a:stretch>
            <a:fillRect/>
          </a:stretch>
        </p:blipFill>
        <p:spPr>
          <a:xfrm>
            <a:off x="2146582" y="1099698"/>
            <a:ext cx="483870" cy="568960"/>
          </a:xfrm>
          <a:prstGeom prst="rect">
            <a:avLst/>
          </a:prstGeom>
        </p:spPr>
      </p:pic>
      <p:sp>
        <p:nvSpPr>
          <p:cNvPr id="2" name="Text 2"/>
          <p:cNvSpPr/>
          <p:nvPr/>
        </p:nvSpPr>
        <p:spPr>
          <a:xfrm>
            <a:off x="4660701" y="5903973"/>
            <a:ext cx="4389120" cy="218182"/>
          </a:xfrm>
          <a:prstGeom prst="rect">
            <a:avLst/>
          </a:prstGeom>
          <a:noFill/>
        </p:spPr>
        <p:txBody>
          <a:bodyPr wrap="none" lIns="0" tIns="0" rIns="0" bIns="0" rtlCol="0" anchor="ctr"/>
          <a:lstStyle/>
          <a:p>
            <a:pPr marL="0" indent="0" algn="just">
              <a:lnSpc>
                <a:spcPct val="100000"/>
              </a:lnSpc>
              <a:buNone/>
            </a:pPr>
            <a:endParaRPr lang="en-US" b="1" dirty="0">
              <a:solidFill>
                <a:srgbClr val="00002E"/>
              </a:solidFill>
              <a:latin typeface="Times New Roman" panose="02020603050405020304" pitchFamily="18" charset="0"/>
              <a:ea typeface="Nunito Light" pitchFamily="34" charset="-122"/>
              <a:cs typeface="Times New Roman" panose="02020603050405020304" pitchFamily="18" charset="0"/>
            </a:endParaRPr>
          </a:p>
        </p:txBody>
      </p:sp>
      <p:sp>
        <p:nvSpPr>
          <p:cNvPr id="5" name="Shape 3"/>
          <p:cNvSpPr/>
          <p:nvPr/>
        </p:nvSpPr>
        <p:spPr>
          <a:xfrm>
            <a:off x="1347270" y="3153717"/>
            <a:ext cx="4389120" cy="19050"/>
          </a:xfrm>
          <a:prstGeom prst="rect">
            <a:avLst/>
          </a:prstGeom>
          <a:solidFill>
            <a:srgbClr val="2D4DF2"/>
          </a:solidFill>
        </p:spPr>
      </p:sp>
      <p:sp>
        <p:nvSpPr>
          <p:cNvPr id="7" name="Text 4"/>
          <p:cNvSpPr/>
          <p:nvPr/>
        </p:nvSpPr>
        <p:spPr>
          <a:xfrm>
            <a:off x="1347270" y="2855085"/>
            <a:ext cx="4389120" cy="256679"/>
          </a:xfrm>
          <a:prstGeom prst="rect">
            <a:avLst/>
          </a:prstGeom>
          <a:noFill/>
        </p:spPr>
        <p:txBody>
          <a:bodyPr wrap="none" lIns="0" tIns="0" rIns="0" bIns="0" rtlCol="0" anchor="t"/>
          <a:lstStyle/>
          <a:p>
            <a:pPr marL="0" indent="0" algn="just">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1 — Sử dụng Ego-Lane</a:t>
            </a:r>
          </a:p>
        </p:txBody>
      </p:sp>
      <p:sp>
        <p:nvSpPr>
          <p:cNvPr id="8" name="Text 5"/>
          <p:cNvSpPr/>
          <p:nvPr/>
        </p:nvSpPr>
        <p:spPr>
          <a:xfrm>
            <a:off x="1347270" y="3313087"/>
            <a:ext cx="4389120" cy="558403"/>
          </a:xfrm>
          <a:prstGeom prst="rect">
            <a:avLst/>
          </a:prstGeom>
          <a:noFill/>
        </p:spPr>
        <p:txBody>
          <a:bodyPr wrap="square" lIns="0" tIns="0" rIns="0" bIns="0" rtlCol="0" anchor="t">
            <a:noAutofit/>
          </a:bodyPr>
          <a:lstStyle/>
          <a:p>
            <a:pPr marL="0" indent="0" algn="just">
              <a:lnSpc>
                <a:spcPct val="133000"/>
              </a:lnSpc>
              <a:buNone/>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Tạo phương pháp trích xuất làn ảo phù hợp với đường không có vạch, kết hợp thông tin hình học và ngữ cảnh môi trường.</a:t>
            </a:r>
          </a:p>
        </p:txBody>
      </p:sp>
      <p:sp>
        <p:nvSpPr>
          <p:cNvPr id="10" name="Text 6"/>
          <p:cNvSpPr/>
          <p:nvPr/>
        </p:nvSpPr>
        <p:spPr>
          <a:xfrm>
            <a:off x="5612250" y="2731204"/>
            <a:ext cx="349043" cy="218182"/>
          </a:xfrm>
          <a:prstGeom prst="rect">
            <a:avLst/>
          </a:prstGeom>
          <a:noFill/>
        </p:spPr>
        <p:txBody>
          <a:bodyPr wrap="none" lIns="0" tIns="0" rIns="0" bIns="0" rtlCol="0" anchor="ctr"/>
          <a:lstStyle/>
          <a:p>
            <a:pPr marL="0" indent="0" algn="just">
              <a:lnSpc>
                <a:spcPct val="100000"/>
              </a:lnSpc>
              <a:buNone/>
            </a:pPr>
            <a:endParaRPr lang="en-US" b="1" dirty="0">
              <a:solidFill>
                <a:srgbClr val="00002E"/>
              </a:solidFill>
              <a:latin typeface="Times New Roman" panose="02020603050405020304" pitchFamily="18" charset="0"/>
              <a:ea typeface="Nunito Light" pitchFamily="34" charset="-122"/>
              <a:cs typeface="Times New Roman" panose="02020603050405020304" pitchFamily="18" charset="0"/>
            </a:endParaRPr>
          </a:p>
        </p:txBody>
      </p:sp>
      <p:sp>
        <p:nvSpPr>
          <p:cNvPr id="11" name="Shape 7"/>
          <p:cNvSpPr/>
          <p:nvPr/>
        </p:nvSpPr>
        <p:spPr>
          <a:xfrm>
            <a:off x="7942383" y="3134667"/>
            <a:ext cx="5310551" cy="19050"/>
          </a:xfrm>
          <a:prstGeom prst="rect">
            <a:avLst/>
          </a:prstGeom>
          <a:solidFill>
            <a:srgbClr val="018CE1"/>
          </a:solidFill>
        </p:spPr>
      </p:sp>
      <p:sp>
        <p:nvSpPr>
          <p:cNvPr id="17" name="Text 8"/>
          <p:cNvSpPr/>
          <p:nvPr/>
        </p:nvSpPr>
        <p:spPr>
          <a:xfrm>
            <a:off x="7942383" y="2780882"/>
            <a:ext cx="5310551" cy="256679"/>
          </a:xfrm>
          <a:prstGeom prst="rect">
            <a:avLst/>
          </a:prstGeom>
          <a:noFill/>
        </p:spPr>
        <p:txBody>
          <a:bodyPr wrap="none" lIns="0" tIns="0" rIns="0" bIns="0" rtlCol="0" anchor="t"/>
          <a:lstStyle/>
          <a:p>
            <a:pPr marL="0" indent="0" algn="just">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2 — Kiểm tra ổn định trên video</a:t>
            </a:r>
          </a:p>
        </p:txBody>
      </p:sp>
      <p:sp>
        <p:nvSpPr>
          <p:cNvPr id="18" name="Text 9"/>
          <p:cNvSpPr/>
          <p:nvPr/>
        </p:nvSpPr>
        <p:spPr>
          <a:xfrm>
            <a:off x="7942382" y="3257121"/>
            <a:ext cx="5310551" cy="558403"/>
          </a:xfrm>
          <a:prstGeom prst="rect">
            <a:avLst/>
          </a:prstGeom>
          <a:noFill/>
        </p:spPr>
        <p:txBody>
          <a:bodyPr wrap="square" lIns="0" tIns="0" rIns="0" bIns="0" rtlCol="0" anchor="t">
            <a:noAutofit/>
          </a:bodyPr>
          <a:lstStyle/>
          <a:p>
            <a:pPr marL="0" indent="0" algn="just">
              <a:lnSpc>
                <a:spcPct val="133000"/>
              </a:lnSpc>
              <a:buNone/>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Chạy thử trên nhiều video thực tế và quay sẵn để đánh giá độ ổn địnhcủa giải pháp trong các điều kiện khác nhau.</a:t>
            </a:r>
          </a:p>
        </p:txBody>
      </p:sp>
      <p:sp>
        <p:nvSpPr>
          <p:cNvPr id="22" name="Shape 11"/>
          <p:cNvSpPr/>
          <p:nvPr/>
        </p:nvSpPr>
        <p:spPr>
          <a:xfrm>
            <a:off x="1347270" y="5671394"/>
            <a:ext cx="4389120" cy="19050"/>
          </a:xfrm>
          <a:prstGeom prst="rect">
            <a:avLst/>
          </a:prstGeom>
          <a:solidFill>
            <a:srgbClr val="DA33BF"/>
          </a:solidFill>
        </p:spPr>
      </p:sp>
      <p:sp>
        <p:nvSpPr>
          <p:cNvPr id="26" name="Text 12"/>
          <p:cNvSpPr/>
          <p:nvPr/>
        </p:nvSpPr>
        <p:spPr>
          <a:xfrm>
            <a:off x="1397651" y="5293767"/>
            <a:ext cx="4389120" cy="256679"/>
          </a:xfrm>
          <a:prstGeom prst="rect">
            <a:avLst/>
          </a:prstGeom>
          <a:noFill/>
        </p:spPr>
        <p:txBody>
          <a:bodyPr wrap="none" lIns="0" tIns="0" rIns="0" bIns="0" rtlCol="0" anchor="t"/>
          <a:lstStyle/>
          <a:p>
            <a:pPr marL="0" indent="0" algn="just">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3 — Đo lường hiệu năng phần cứng</a:t>
            </a:r>
          </a:p>
        </p:txBody>
      </p:sp>
      <p:sp>
        <p:nvSpPr>
          <p:cNvPr id="27" name="Text 13"/>
          <p:cNvSpPr/>
          <p:nvPr/>
        </p:nvSpPr>
        <p:spPr>
          <a:xfrm>
            <a:off x="1347270" y="5903973"/>
            <a:ext cx="4389120" cy="558403"/>
          </a:xfrm>
          <a:prstGeom prst="rect">
            <a:avLst/>
          </a:prstGeom>
          <a:noFill/>
        </p:spPr>
        <p:txBody>
          <a:bodyPr wrap="square" lIns="0" tIns="0" rIns="0" bIns="0" rtlCol="0" anchor="t">
            <a:noAutofit/>
          </a:bodyPr>
          <a:lstStyle/>
          <a:p>
            <a:pPr marL="0" indent="0" algn="just">
              <a:lnSpc>
                <a:spcPct val="133000"/>
              </a:lnSpc>
              <a:buNone/>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Đo FPS, latency, sử dụng RAM và nhiệt độ trong thử nghiệm để đánh giá khả năng vận hành liên tục</a:t>
            </a:r>
          </a:p>
        </p:txBody>
      </p:sp>
      <p:sp>
        <p:nvSpPr>
          <p:cNvPr id="29" name="Shape 15"/>
          <p:cNvSpPr/>
          <p:nvPr/>
        </p:nvSpPr>
        <p:spPr>
          <a:xfrm>
            <a:off x="7942383" y="5652344"/>
            <a:ext cx="5310551" cy="19050"/>
          </a:xfrm>
          <a:prstGeom prst="rect">
            <a:avLst/>
          </a:prstGeom>
          <a:solidFill>
            <a:srgbClr val="2D4DF2"/>
          </a:solidFill>
        </p:spPr>
      </p:sp>
      <p:sp>
        <p:nvSpPr>
          <p:cNvPr id="30" name="Text 16"/>
          <p:cNvSpPr/>
          <p:nvPr/>
        </p:nvSpPr>
        <p:spPr>
          <a:xfrm>
            <a:off x="7942383" y="5283331"/>
            <a:ext cx="5310551" cy="256679"/>
          </a:xfrm>
          <a:prstGeom prst="rect">
            <a:avLst/>
          </a:prstGeom>
          <a:noFill/>
        </p:spPr>
        <p:txBody>
          <a:bodyPr wrap="none" lIns="0" tIns="0" rIns="0" bIns="0" rtlCol="0" anchor="t"/>
          <a:lstStyle/>
          <a:p>
            <a:pPr marL="0" indent="0" algn="just">
              <a:lnSpc>
                <a:spcPct val="104000"/>
              </a:lnSpc>
              <a:buNone/>
            </a:pPr>
            <a:r>
              <a:rPr lang="en-US" b="1" dirty="0">
                <a:solidFill>
                  <a:srgbClr val="00002E"/>
                </a:solidFill>
                <a:latin typeface="Times New Roman" panose="02020603050405020304" pitchFamily="18" charset="0"/>
                <a:ea typeface="Nunito SemiBold" pitchFamily="34" charset="-122"/>
                <a:cs typeface="Times New Roman" panose="02020603050405020304" pitchFamily="18" charset="0"/>
              </a:rPr>
              <a:t>4 — So sánh hai board</a:t>
            </a:r>
          </a:p>
        </p:txBody>
      </p:sp>
      <p:sp>
        <p:nvSpPr>
          <p:cNvPr id="31" name="Text 17"/>
          <p:cNvSpPr/>
          <p:nvPr/>
        </p:nvSpPr>
        <p:spPr>
          <a:xfrm>
            <a:off x="7942383" y="5927715"/>
            <a:ext cx="5310551" cy="558403"/>
          </a:xfrm>
          <a:prstGeom prst="rect">
            <a:avLst/>
          </a:prstGeom>
          <a:noFill/>
        </p:spPr>
        <p:txBody>
          <a:bodyPr wrap="square" lIns="0" tIns="0" rIns="0" bIns="0" rtlCol="0" anchor="t">
            <a:noAutofit/>
          </a:bodyPr>
          <a:lstStyle/>
          <a:p>
            <a:pPr marL="0" indent="0" algn="just">
              <a:lnSpc>
                <a:spcPct val="133000"/>
              </a:lnSpc>
              <a:buNone/>
            </a:pPr>
            <a:r>
              <a:rPr lang="en-US"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Chạy cùng bộ thử nghiệm trên Pi3B+ (board yếu) và Pi4 (board mạnh) để so sánh độ ổn định và khả năng mở rộng.</a:t>
            </a:r>
          </a:p>
        </p:txBody>
      </p:sp>
      <p:sp>
        <p:nvSpPr>
          <p:cNvPr id="32" name="Rectangle 31"/>
          <p:cNvSpPr/>
          <p:nvPr/>
        </p:nvSpPr>
        <p:spPr>
          <a:xfrm>
            <a:off x="12284710" y="7266940"/>
            <a:ext cx="2352675" cy="923925"/>
          </a:xfrm>
          <a:prstGeom prst="rect">
            <a:avLst/>
          </a:prstGeom>
          <a:noFill/>
        </p:spPr>
        <p:txBody>
          <a:bodyPr wrap="square" lIns="0" tIns="0" rIns="0" bIns="0" rtlCol="0" anchor="t"/>
          <a:lstStyle/>
          <a:p>
            <a:pPr marL="0" indent="0" algn="l">
              <a:lnSpc>
                <a:spcPts val="2900"/>
              </a:lnSpc>
              <a:buNone/>
            </a:pPr>
            <a:endParaRPr lang="en-US" sz="235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endParaRPr>
          </a:p>
        </p:txBody>
      </p:sp>
      <p:sp>
        <p:nvSpPr>
          <p:cNvPr id="33" name="Flowchart: Process 32"/>
          <p:cNvSpPr/>
          <p:nvPr/>
        </p:nvSpPr>
        <p:spPr>
          <a:xfrm>
            <a:off x="12863830" y="7661275"/>
            <a:ext cx="1773555" cy="529590"/>
          </a:xfrm>
          <a:prstGeom prst="flowChartProcess">
            <a:avLst/>
          </a:prstGeom>
          <a:noFill/>
        </p:spPr>
        <p:txBody>
          <a:bodyPr wrap="square" lIns="0" tIns="0" rIns="0" bIns="0" rtlCol="0" anchor="t"/>
          <a:lstStyle/>
          <a:p>
            <a:pPr marL="0" indent="0" algn="l">
              <a:lnSpc>
                <a:spcPts val="2900"/>
              </a:lnSpc>
              <a:buNone/>
            </a:pPr>
            <a:endParaRPr lang="en-US" sz="235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endParaRPr>
          </a:p>
        </p:txBody>
      </p:sp>
      <p:pic>
        <p:nvPicPr>
          <p:cNvPr id="21" name="Picture 20">
            <a:extLst>
              <a:ext uri="{FF2B5EF4-FFF2-40B4-BE49-F238E27FC236}">
                <a16:creationId xmlns:a16="http://schemas.microsoft.com/office/drawing/2014/main" id="{0866C5E9-17C9-9D9A-DD4B-60091938C077}"/>
              </a:ext>
            </a:extLst>
          </p:cNvPr>
          <p:cNvPicPr>
            <a:picLocks noChangeAspect="1"/>
          </p:cNvPicPr>
          <p:nvPr/>
        </p:nvPicPr>
        <p:blipFill>
          <a:blip r:embed="rId3"/>
          <a:stretch>
            <a:fillRect/>
          </a:stretch>
        </p:blipFill>
        <p:spPr>
          <a:xfrm>
            <a:off x="10318528" y="7588361"/>
            <a:ext cx="4311872" cy="615982"/>
          </a:xfrm>
          <a:prstGeom prst="rect">
            <a:avLst/>
          </a:prstGeom>
        </p:spPr>
      </p:pic>
      <p:sp>
        <p:nvSpPr>
          <p:cNvPr id="12" name="Text Box 5">
            <a:extLst>
              <a:ext uri="{FF2B5EF4-FFF2-40B4-BE49-F238E27FC236}">
                <a16:creationId xmlns:a16="http://schemas.microsoft.com/office/drawing/2014/main" id="{A1DA57E1-D5E3-000E-B811-A025EA5B4352}"/>
              </a:ext>
            </a:extLst>
          </p:cNvPr>
          <p:cNvSpPr txBox="1"/>
          <p:nvPr/>
        </p:nvSpPr>
        <p:spPr>
          <a:xfrm>
            <a:off x="571777" y="1246331"/>
            <a:ext cx="13340715" cy="1130300"/>
          </a:xfrm>
          <a:prstGeom prst="rect">
            <a:avLst/>
          </a:prstGeom>
          <a:noFill/>
        </p:spPr>
        <p:txBody>
          <a:bodyPr wrap="square" rtlCol="0" anchor="t">
            <a:noAutofit/>
          </a:bodyPr>
          <a:lstStyle/>
          <a:p>
            <a:pPr algn="just">
              <a:lnSpc>
                <a:spcPct val="133000"/>
              </a:lnSpc>
            </a:pP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Nhóm</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đang</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nghiên</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cứu</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bổ</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trợ</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bằng</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kỹ</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thuật</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b="1" dirty="0">
                <a:solidFill>
                  <a:srgbClr val="00002E"/>
                </a:solidFill>
                <a:latin typeface="Times New Roman" panose="02020603050405020304" pitchFamily="18" charset="0"/>
                <a:ea typeface="PT Sans Bold" panose="020B0703020203020204" pitchFamily="34" charset="-122"/>
                <a:cs typeface="Times New Roman" panose="02020603050405020304" pitchFamily="18" charset="0"/>
              </a:rPr>
              <a:t>Ego-Lane Extraction</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và</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dùng</a:t>
            </a:r>
            <a:r>
              <a:rPr lang="en-US" sz="2400" b="1" dirty="0">
                <a:solidFill>
                  <a:srgbClr val="00002E"/>
                </a:solidFill>
                <a:latin typeface="Times New Roman" panose="02020603050405020304" pitchFamily="18" charset="0"/>
                <a:ea typeface="PT Sans Bold" panose="020B0703020203020204" pitchFamily="34" charset="-122"/>
                <a:cs typeface="Times New Roman" panose="02020603050405020304" pitchFamily="18" charset="0"/>
              </a:rPr>
              <a:t> Ego-Lane</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để</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định</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vị</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làn</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dựa</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trên</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cấu</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trúc</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đường</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và</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bối</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cảnh</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thay</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vì</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chỉ</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dựa</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vào</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vạch</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 </a:t>
            </a:r>
            <a:r>
              <a:rPr lang="en-US" sz="2400" dirty="0" err="1">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kẻ</a:t>
            </a:r>
            <a:r>
              <a:rPr lang="en-US" sz="2400" dirty="0">
                <a:solidFill>
                  <a:srgbClr val="00002E"/>
                </a:solidFill>
                <a:latin typeface="Times New Roman" panose="02020603050405020304" pitchFamily="18" charset="0"/>
                <a:ea typeface="PT Sans" panose="020B0503020203020204" pitchFamily="34" charset="-122"/>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CFAA7B-A5D9-3427-25E1-1F8F9A91530A}"/>
              </a:ext>
            </a:extLst>
          </p:cNvPr>
          <p:cNvPicPr>
            <a:picLocks noChangeAspect="1"/>
          </p:cNvPicPr>
          <p:nvPr/>
        </p:nvPicPr>
        <p:blipFill>
          <a:blip r:embed="rId2"/>
          <a:stretch>
            <a:fillRect/>
          </a:stretch>
        </p:blipFill>
        <p:spPr>
          <a:xfrm>
            <a:off x="10318528" y="7588361"/>
            <a:ext cx="4311872" cy="615982"/>
          </a:xfrm>
          <a:prstGeom prst="rect">
            <a:avLst/>
          </a:prstGeom>
        </p:spPr>
      </p:pic>
      <p:pic>
        <p:nvPicPr>
          <p:cNvPr id="5" name="Picture 4">
            <a:extLst>
              <a:ext uri="{FF2B5EF4-FFF2-40B4-BE49-F238E27FC236}">
                <a16:creationId xmlns:a16="http://schemas.microsoft.com/office/drawing/2014/main" id="{864BE631-F8C0-093D-C4E6-F53827B5EF7C}"/>
              </a:ext>
            </a:extLst>
          </p:cNvPr>
          <p:cNvPicPr>
            <a:picLocks noChangeAspect="1"/>
          </p:cNvPicPr>
          <p:nvPr/>
        </p:nvPicPr>
        <p:blipFill>
          <a:blip r:embed="rId2"/>
          <a:stretch>
            <a:fillRect/>
          </a:stretch>
        </p:blipFill>
        <p:spPr>
          <a:xfrm>
            <a:off x="10318528" y="7542991"/>
            <a:ext cx="4311872" cy="615982"/>
          </a:xfrm>
          <a:prstGeom prst="rect">
            <a:avLst/>
          </a:prstGeom>
        </p:spPr>
      </p:pic>
      <p:graphicFrame>
        <p:nvGraphicFramePr>
          <p:cNvPr id="7" name="Table 6">
            <a:extLst>
              <a:ext uri="{FF2B5EF4-FFF2-40B4-BE49-F238E27FC236}">
                <a16:creationId xmlns:a16="http://schemas.microsoft.com/office/drawing/2014/main" id="{49B016EE-630F-76A1-0B41-49F2FF8E5F2E}"/>
              </a:ext>
            </a:extLst>
          </p:cNvPr>
          <p:cNvGraphicFramePr>
            <a:graphicFrameLocks noGrp="1"/>
          </p:cNvGraphicFramePr>
          <p:nvPr>
            <p:extLst>
              <p:ext uri="{D42A27DB-BD31-4B8C-83A1-F6EECF244321}">
                <p14:modId xmlns:p14="http://schemas.microsoft.com/office/powerpoint/2010/main" val="3438362445"/>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ts val="2750"/>
                        </a:lnSpc>
                        <a:buNone/>
                      </a:pPr>
                      <a:endParaRPr lang="en-US" altLang="en-US" sz="3600" b="1" i="1" dirty="0">
                        <a:solidFill>
                          <a:schemeClr val="tx1">
                            <a:lumMod val="95000"/>
                            <a:lumOff val="5000"/>
                          </a:schemeClr>
                        </a:solidFill>
                        <a:latin typeface="Arial" panose="020B0604020202020204" pitchFamily="34" charset="0"/>
                        <a:ea typeface="Fraunces Extra Bold" pitchFamily="34" charset="-122"/>
                        <a:cs typeface="Arial" panose="020B0604020202020204" pitchFamily="34" charset="0"/>
                      </a:endParaRPr>
                    </a:p>
                    <a:p>
                      <a:pPr marL="0" indent="0" algn="ctr">
                        <a:lnSpc>
                          <a:spcPts val="2750"/>
                        </a:lnSpc>
                        <a:buNone/>
                      </a:pPr>
                      <a:r>
                        <a:rPr lang="vi-VN"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Kết quả thu được với 2 góc quay</a:t>
                      </a:r>
                      <a:endPar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endParaRPr>
                    </a:p>
                  </a:txBody>
                  <a:tcPr/>
                </a:tc>
                <a:extLst>
                  <a:ext uri="{0D108BD9-81ED-4DB2-BD59-A6C34878D82A}">
                    <a16:rowId xmlns:a16="http://schemas.microsoft.com/office/drawing/2014/main" val="10000"/>
                  </a:ext>
                </a:extLst>
              </a:tr>
            </a:tbl>
          </a:graphicData>
        </a:graphic>
      </p:graphicFrame>
      <p:pic>
        <p:nvPicPr>
          <p:cNvPr id="9" name="Image 1" descr="preencoded.png">
            <a:extLst>
              <a:ext uri="{FF2B5EF4-FFF2-40B4-BE49-F238E27FC236}">
                <a16:creationId xmlns:a16="http://schemas.microsoft.com/office/drawing/2014/main" id="{016BF2D8-773D-A673-444A-226F540B795F}"/>
              </a:ext>
            </a:extLst>
          </p:cNvPr>
          <p:cNvPicPr>
            <a:picLocks noChangeAspect="1"/>
          </p:cNvPicPr>
          <p:nvPr/>
        </p:nvPicPr>
        <p:blipFill>
          <a:blip r:embed="rId3"/>
          <a:stretch>
            <a:fillRect/>
          </a:stretch>
        </p:blipFill>
        <p:spPr>
          <a:xfrm>
            <a:off x="2146582" y="1099698"/>
            <a:ext cx="483870" cy="568960"/>
          </a:xfrm>
          <a:prstGeom prst="rect">
            <a:avLst/>
          </a:prstGeom>
        </p:spPr>
      </p:pic>
      <p:sp>
        <p:nvSpPr>
          <p:cNvPr id="11" name="Text Box 5">
            <a:extLst>
              <a:ext uri="{FF2B5EF4-FFF2-40B4-BE49-F238E27FC236}">
                <a16:creationId xmlns:a16="http://schemas.microsoft.com/office/drawing/2014/main" id="{1FEE53F7-44BE-FD35-7CC9-7DC87A3705CF}"/>
              </a:ext>
            </a:extLst>
          </p:cNvPr>
          <p:cNvSpPr txBox="1"/>
          <p:nvPr/>
        </p:nvSpPr>
        <p:spPr>
          <a:xfrm>
            <a:off x="144834" y="1384178"/>
            <a:ext cx="13340715" cy="1130300"/>
          </a:xfrm>
          <a:prstGeom prst="rect">
            <a:avLst/>
          </a:prstGeom>
          <a:noFill/>
        </p:spPr>
        <p:txBody>
          <a:bodyPr wrap="square" rtlCol="0" anchor="t">
            <a:noAutofit/>
          </a:bodyPr>
          <a:lstStyle/>
          <a:p>
            <a:pPr algn="just">
              <a:lnSpc>
                <a:spcPts val="2900"/>
              </a:lnSpc>
            </a:pPr>
            <a:r>
              <a:rPr lang="vi-VN" altLang="en-US" sz="2350" b="1" dirty="0">
                <a:latin typeface="Times New Roman" panose="02020603050405020304" pitchFamily="18" charset="0"/>
                <a:cs typeface="Times New Roman" panose="02020603050405020304" pitchFamily="18" charset="0"/>
                <a:sym typeface="+mn-ea"/>
              </a:rPr>
              <a:t>Với góc quay bằng điện thoại</a:t>
            </a:r>
          </a:p>
          <a:p>
            <a:pPr algn="just">
              <a:lnSpc>
                <a:spcPts val="2900"/>
              </a:lnSpc>
            </a:pPr>
            <a:endParaRPr lang="en-US" altLang="en-US" sz="2350" b="1" dirty="0">
              <a:latin typeface="Times New Roman" panose="02020603050405020304" pitchFamily="18" charset="0"/>
              <a:cs typeface="Times New Roman" panose="02020603050405020304" pitchFamily="18" charset="0"/>
              <a:sym typeface="+mn-ea"/>
            </a:endParaRPr>
          </a:p>
        </p:txBody>
      </p:sp>
      <p:pic>
        <p:nvPicPr>
          <p:cNvPr id="33" name="Picture 32">
            <a:extLst>
              <a:ext uri="{FF2B5EF4-FFF2-40B4-BE49-F238E27FC236}">
                <a16:creationId xmlns:a16="http://schemas.microsoft.com/office/drawing/2014/main" id="{2F7BF6D6-4EA3-F992-C2EF-B161E51AB901}"/>
              </a:ext>
            </a:extLst>
          </p:cNvPr>
          <p:cNvPicPr>
            <a:picLocks noChangeAspect="1"/>
          </p:cNvPicPr>
          <p:nvPr/>
        </p:nvPicPr>
        <p:blipFill>
          <a:blip r:embed="rId4"/>
          <a:stretch>
            <a:fillRect/>
          </a:stretch>
        </p:blipFill>
        <p:spPr>
          <a:xfrm>
            <a:off x="7363480" y="2307145"/>
            <a:ext cx="7266920" cy="4538277"/>
          </a:xfrm>
          <a:prstGeom prst="rect">
            <a:avLst/>
          </a:prstGeom>
        </p:spPr>
      </p:pic>
      <p:pic>
        <p:nvPicPr>
          <p:cNvPr id="35" name="Picture 34">
            <a:extLst>
              <a:ext uri="{FF2B5EF4-FFF2-40B4-BE49-F238E27FC236}">
                <a16:creationId xmlns:a16="http://schemas.microsoft.com/office/drawing/2014/main" id="{61E892DD-9460-43E0-5825-57FC59CE1448}"/>
              </a:ext>
            </a:extLst>
          </p:cNvPr>
          <p:cNvPicPr>
            <a:picLocks noChangeAspect="1"/>
          </p:cNvPicPr>
          <p:nvPr/>
        </p:nvPicPr>
        <p:blipFill>
          <a:blip r:embed="rId5"/>
          <a:stretch>
            <a:fillRect/>
          </a:stretch>
        </p:blipFill>
        <p:spPr>
          <a:xfrm>
            <a:off x="7198" y="2327030"/>
            <a:ext cx="7244715" cy="4518392"/>
          </a:xfrm>
          <a:prstGeom prst="rect">
            <a:avLst/>
          </a:prstGeom>
        </p:spPr>
      </p:pic>
    </p:spTree>
    <p:extLst>
      <p:ext uri="{BB962C8B-B14F-4D97-AF65-F5344CB8AC3E}">
        <p14:creationId xmlns:p14="http://schemas.microsoft.com/office/powerpoint/2010/main" val="181488144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7D9DED-2DE4-DCF6-E189-D85CCDB6FA19}"/>
              </a:ext>
            </a:extLst>
          </p:cNvPr>
          <p:cNvPicPr>
            <a:picLocks noChangeAspect="1"/>
          </p:cNvPicPr>
          <p:nvPr/>
        </p:nvPicPr>
        <p:blipFill>
          <a:blip r:embed="rId2"/>
          <a:stretch>
            <a:fillRect/>
          </a:stretch>
        </p:blipFill>
        <p:spPr>
          <a:xfrm>
            <a:off x="10311330" y="6555428"/>
            <a:ext cx="4311872" cy="615982"/>
          </a:xfrm>
          <a:prstGeom prst="rect">
            <a:avLst/>
          </a:prstGeom>
        </p:spPr>
      </p:pic>
      <p:pic>
        <p:nvPicPr>
          <p:cNvPr id="5" name="Picture 4">
            <a:extLst>
              <a:ext uri="{FF2B5EF4-FFF2-40B4-BE49-F238E27FC236}">
                <a16:creationId xmlns:a16="http://schemas.microsoft.com/office/drawing/2014/main" id="{CB9F6A7E-1A3E-4E62-1E0E-6EE7722665BC}"/>
              </a:ext>
            </a:extLst>
          </p:cNvPr>
          <p:cNvPicPr>
            <a:picLocks noChangeAspect="1"/>
          </p:cNvPicPr>
          <p:nvPr/>
        </p:nvPicPr>
        <p:blipFill>
          <a:blip r:embed="rId2"/>
          <a:stretch>
            <a:fillRect/>
          </a:stretch>
        </p:blipFill>
        <p:spPr>
          <a:xfrm>
            <a:off x="10304132" y="7613618"/>
            <a:ext cx="4311872" cy="615982"/>
          </a:xfrm>
          <a:prstGeom prst="rect">
            <a:avLst/>
          </a:prstGeom>
        </p:spPr>
      </p:pic>
      <p:graphicFrame>
        <p:nvGraphicFramePr>
          <p:cNvPr id="7" name="Table 6">
            <a:extLst>
              <a:ext uri="{FF2B5EF4-FFF2-40B4-BE49-F238E27FC236}">
                <a16:creationId xmlns:a16="http://schemas.microsoft.com/office/drawing/2014/main" id="{EBA8DB7C-7E1C-6D8E-C375-8FE1E1329BCF}"/>
              </a:ext>
            </a:extLst>
          </p:cNvPr>
          <p:cNvGraphicFramePr>
            <a:graphicFrameLocks noGrp="1"/>
          </p:cNvGraphicFramePr>
          <p:nvPr>
            <p:extLst>
              <p:ext uri="{D42A27DB-BD31-4B8C-83A1-F6EECF244321}">
                <p14:modId xmlns:p14="http://schemas.microsoft.com/office/powerpoint/2010/main" val="4025426364"/>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ts val="2750"/>
                        </a:lnSpc>
                        <a:buNone/>
                      </a:pPr>
                      <a:endParaRPr lang="en-US" altLang="en-US" sz="3600" b="1" i="1" dirty="0">
                        <a:solidFill>
                          <a:schemeClr val="tx1">
                            <a:lumMod val="95000"/>
                            <a:lumOff val="5000"/>
                          </a:schemeClr>
                        </a:solidFill>
                        <a:latin typeface="Arial" panose="020B0604020202020204" pitchFamily="34" charset="0"/>
                        <a:ea typeface="Fraunces Extra Bold" pitchFamily="34" charset="-122"/>
                        <a:cs typeface="Arial" panose="020B0604020202020204" pitchFamily="34" charset="0"/>
                      </a:endParaRPr>
                    </a:p>
                    <a:p>
                      <a:pPr marL="0" indent="0" algn="ctr">
                        <a:lnSpc>
                          <a:spcPts val="2750"/>
                        </a:lnSpc>
                        <a:buNone/>
                      </a:pPr>
                      <a:r>
                        <a:rPr lang="vi-VN"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Kết quả thu được với 2 góc quay</a:t>
                      </a:r>
                      <a:endPar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endParaRPr>
                    </a:p>
                  </a:txBody>
                  <a:tcPr/>
                </a:tc>
                <a:extLst>
                  <a:ext uri="{0D108BD9-81ED-4DB2-BD59-A6C34878D82A}">
                    <a16:rowId xmlns:a16="http://schemas.microsoft.com/office/drawing/2014/main" val="10000"/>
                  </a:ext>
                </a:extLst>
              </a:tr>
            </a:tbl>
          </a:graphicData>
        </a:graphic>
      </p:graphicFrame>
      <p:pic>
        <p:nvPicPr>
          <p:cNvPr id="9" name="Image 1" descr="preencoded.png">
            <a:extLst>
              <a:ext uri="{FF2B5EF4-FFF2-40B4-BE49-F238E27FC236}">
                <a16:creationId xmlns:a16="http://schemas.microsoft.com/office/drawing/2014/main" id="{0A60B52C-2C26-58A7-11CE-E9AF9411F402}"/>
              </a:ext>
            </a:extLst>
          </p:cNvPr>
          <p:cNvPicPr>
            <a:picLocks noChangeAspect="1"/>
          </p:cNvPicPr>
          <p:nvPr/>
        </p:nvPicPr>
        <p:blipFill>
          <a:blip r:embed="rId3"/>
          <a:stretch>
            <a:fillRect/>
          </a:stretch>
        </p:blipFill>
        <p:spPr>
          <a:xfrm>
            <a:off x="2146582" y="1099698"/>
            <a:ext cx="483870" cy="568960"/>
          </a:xfrm>
          <a:prstGeom prst="rect">
            <a:avLst/>
          </a:prstGeom>
        </p:spPr>
      </p:pic>
      <p:sp>
        <p:nvSpPr>
          <p:cNvPr id="11" name="Text Box 5">
            <a:extLst>
              <a:ext uri="{FF2B5EF4-FFF2-40B4-BE49-F238E27FC236}">
                <a16:creationId xmlns:a16="http://schemas.microsoft.com/office/drawing/2014/main" id="{2E3506CC-F6F7-1EFE-EA46-E107D1C157B6}"/>
              </a:ext>
            </a:extLst>
          </p:cNvPr>
          <p:cNvSpPr txBox="1"/>
          <p:nvPr/>
        </p:nvSpPr>
        <p:spPr>
          <a:xfrm>
            <a:off x="144834" y="1384178"/>
            <a:ext cx="13340715" cy="1130300"/>
          </a:xfrm>
          <a:prstGeom prst="rect">
            <a:avLst/>
          </a:prstGeom>
          <a:noFill/>
        </p:spPr>
        <p:txBody>
          <a:bodyPr wrap="square" rtlCol="0" anchor="t">
            <a:noAutofit/>
          </a:bodyPr>
          <a:lstStyle/>
          <a:p>
            <a:pPr algn="just">
              <a:lnSpc>
                <a:spcPts val="2900"/>
              </a:lnSpc>
            </a:pPr>
            <a:r>
              <a:rPr lang="vi-VN" altLang="en-US" sz="2350" b="1" dirty="0">
                <a:latin typeface="Times New Roman" panose="02020603050405020304" pitchFamily="18" charset="0"/>
                <a:cs typeface="Times New Roman" panose="02020603050405020304" pitchFamily="18" charset="0"/>
                <a:sym typeface="+mn-ea"/>
              </a:rPr>
              <a:t>Với góc quay bằng camera v3 wide</a:t>
            </a:r>
          </a:p>
          <a:p>
            <a:pPr algn="just">
              <a:lnSpc>
                <a:spcPts val="2900"/>
              </a:lnSpc>
            </a:pPr>
            <a:endParaRPr lang="en-US" altLang="en-US" sz="2350" b="1" dirty="0">
              <a:latin typeface="Times New Roman" panose="02020603050405020304" pitchFamily="18" charset="0"/>
              <a:cs typeface="Times New Roman" panose="02020603050405020304" pitchFamily="18" charset="0"/>
              <a:sym typeface="+mn-ea"/>
            </a:endParaRPr>
          </a:p>
        </p:txBody>
      </p:sp>
      <p:pic>
        <p:nvPicPr>
          <p:cNvPr id="17" name="Picture 16">
            <a:extLst>
              <a:ext uri="{FF2B5EF4-FFF2-40B4-BE49-F238E27FC236}">
                <a16:creationId xmlns:a16="http://schemas.microsoft.com/office/drawing/2014/main" id="{CBB81C90-FEDE-2977-6A84-2619BA306EC7}"/>
              </a:ext>
            </a:extLst>
          </p:cNvPr>
          <p:cNvPicPr>
            <a:picLocks noChangeAspect="1"/>
          </p:cNvPicPr>
          <p:nvPr/>
        </p:nvPicPr>
        <p:blipFill>
          <a:blip r:embed="rId4"/>
          <a:stretch>
            <a:fillRect/>
          </a:stretch>
        </p:blipFill>
        <p:spPr>
          <a:xfrm>
            <a:off x="-135467" y="2273515"/>
            <a:ext cx="7818259" cy="4885266"/>
          </a:xfrm>
          <a:prstGeom prst="rect">
            <a:avLst/>
          </a:prstGeom>
        </p:spPr>
      </p:pic>
      <p:pic>
        <p:nvPicPr>
          <p:cNvPr id="19" name="Picture 18">
            <a:extLst>
              <a:ext uri="{FF2B5EF4-FFF2-40B4-BE49-F238E27FC236}">
                <a16:creationId xmlns:a16="http://schemas.microsoft.com/office/drawing/2014/main" id="{388112CC-7728-0198-B4B6-E9B4A37EB234}"/>
              </a:ext>
            </a:extLst>
          </p:cNvPr>
          <p:cNvPicPr>
            <a:picLocks noChangeAspect="1"/>
          </p:cNvPicPr>
          <p:nvPr/>
        </p:nvPicPr>
        <p:blipFill>
          <a:blip r:embed="rId5"/>
          <a:stretch>
            <a:fillRect/>
          </a:stretch>
        </p:blipFill>
        <p:spPr>
          <a:xfrm>
            <a:off x="7818259" y="2260887"/>
            <a:ext cx="6797745" cy="4910523"/>
          </a:xfrm>
          <a:prstGeom prst="rect">
            <a:avLst/>
          </a:prstGeom>
        </p:spPr>
      </p:pic>
    </p:spTree>
    <p:extLst>
      <p:ext uri="{BB962C8B-B14F-4D97-AF65-F5344CB8AC3E}">
        <p14:creationId xmlns:p14="http://schemas.microsoft.com/office/powerpoint/2010/main" val="24144228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D91F20-C204-D920-C8B2-7E4F5F88B11B}"/>
              </a:ext>
            </a:extLst>
          </p:cNvPr>
          <p:cNvPicPr>
            <a:picLocks noChangeAspect="1"/>
          </p:cNvPicPr>
          <p:nvPr/>
        </p:nvPicPr>
        <p:blipFill>
          <a:blip r:embed="rId2"/>
          <a:stretch>
            <a:fillRect/>
          </a:stretch>
        </p:blipFill>
        <p:spPr>
          <a:xfrm>
            <a:off x="10304132" y="7613618"/>
            <a:ext cx="4311872" cy="615982"/>
          </a:xfrm>
          <a:prstGeom prst="rect">
            <a:avLst/>
          </a:prstGeom>
        </p:spPr>
      </p:pic>
      <p:graphicFrame>
        <p:nvGraphicFramePr>
          <p:cNvPr id="5" name="Table 4">
            <a:extLst>
              <a:ext uri="{FF2B5EF4-FFF2-40B4-BE49-F238E27FC236}">
                <a16:creationId xmlns:a16="http://schemas.microsoft.com/office/drawing/2014/main" id="{41BE8A69-8A8B-BE40-E8A2-53CDA9DE395C}"/>
              </a:ext>
            </a:extLst>
          </p:cNvPr>
          <p:cNvGraphicFramePr>
            <a:graphicFrameLocks noGrp="1"/>
          </p:cNvGraphicFramePr>
          <p:nvPr>
            <p:extLst>
              <p:ext uri="{D42A27DB-BD31-4B8C-83A1-F6EECF244321}">
                <p14:modId xmlns:p14="http://schemas.microsoft.com/office/powerpoint/2010/main" val="2076156048"/>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ts val="2750"/>
                        </a:lnSpc>
                        <a:buNone/>
                      </a:pPr>
                      <a:endParaRPr lang="en-US" altLang="en-US" sz="3600" b="1" i="1" dirty="0">
                        <a:solidFill>
                          <a:schemeClr val="tx1">
                            <a:lumMod val="95000"/>
                            <a:lumOff val="5000"/>
                          </a:schemeClr>
                        </a:solidFill>
                        <a:latin typeface="Arial" panose="020B0604020202020204" pitchFamily="34" charset="0"/>
                        <a:ea typeface="Fraunces Extra Bold" pitchFamily="34" charset="-122"/>
                        <a:cs typeface="Arial" panose="020B0604020202020204" pitchFamily="34" charset="0"/>
                      </a:endParaRPr>
                    </a:p>
                    <a:p>
                      <a:pPr marL="0" indent="0" algn="ctr">
                        <a:lnSpc>
                          <a:spcPts val="2750"/>
                        </a:lnSpc>
                        <a:buNone/>
                      </a:pPr>
                      <a:r>
                        <a:rPr lang="vi-VN"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 Nhận xét</a:t>
                      </a:r>
                      <a:endParaRPr lang="en-US" altLang="en-US" sz="3600" b="1" i="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endParaRPr>
                    </a:p>
                  </a:txBody>
                  <a:tcPr/>
                </a:tc>
                <a:extLst>
                  <a:ext uri="{0D108BD9-81ED-4DB2-BD59-A6C34878D82A}">
                    <a16:rowId xmlns:a16="http://schemas.microsoft.com/office/drawing/2014/main" val="10000"/>
                  </a:ext>
                </a:extLst>
              </a:tr>
            </a:tbl>
          </a:graphicData>
        </a:graphic>
      </p:graphicFrame>
      <p:sp>
        <p:nvSpPr>
          <p:cNvPr id="7" name="Text 0">
            <a:extLst>
              <a:ext uri="{FF2B5EF4-FFF2-40B4-BE49-F238E27FC236}">
                <a16:creationId xmlns:a16="http://schemas.microsoft.com/office/drawing/2014/main" id="{14AD977D-57B0-4812-EE3B-BF2457CA27C9}"/>
              </a:ext>
            </a:extLst>
          </p:cNvPr>
          <p:cNvSpPr/>
          <p:nvPr/>
        </p:nvSpPr>
        <p:spPr>
          <a:xfrm>
            <a:off x="653372" y="1012951"/>
            <a:ext cx="13452406" cy="823005"/>
          </a:xfrm>
          <a:prstGeom prst="rect">
            <a:avLst/>
          </a:prstGeom>
          <a:noFill/>
          <a:ln/>
        </p:spPr>
        <p:txBody>
          <a:bodyPr wrap="square" lIns="0" tIns="0" rIns="0" bIns="0" rtlCol="0" anchor="ctr">
            <a:normAutofit/>
          </a:bodyPr>
          <a:lstStyle/>
          <a:p>
            <a:pPr marL="0" indent="0">
              <a:buNone/>
            </a:pPr>
            <a:r>
              <a:rPr lang="en-US" sz="2400" b="1" dirty="0">
                <a:solidFill>
                  <a:srgbClr val="162033"/>
                </a:solidFill>
                <a:latin typeface="Aptos Display" pitchFamily="34" charset="0"/>
                <a:ea typeface="Aptos Display" pitchFamily="34" charset="-122"/>
                <a:cs typeface="Aptos Display" pitchFamily="34" charset="-120"/>
              </a:rPr>
              <a:t>So sánh thử nghiệm: Điện thoại vs Raspberry Pi Camera V3</a:t>
            </a:r>
            <a:endParaRPr lang="en-US" sz="2400" dirty="0"/>
          </a:p>
        </p:txBody>
      </p:sp>
      <p:sp>
        <p:nvSpPr>
          <p:cNvPr id="9" name="Shape 2">
            <a:extLst>
              <a:ext uri="{FF2B5EF4-FFF2-40B4-BE49-F238E27FC236}">
                <a16:creationId xmlns:a16="http://schemas.microsoft.com/office/drawing/2014/main" id="{71883E50-790A-8941-04E6-5DE5F6D2C74B}"/>
              </a:ext>
            </a:extLst>
          </p:cNvPr>
          <p:cNvSpPr/>
          <p:nvPr/>
        </p:nvSpPr>
        <p:spPr>
          <a:xfrm>
            <a:off x="653372" y="1680463"/>
            <a:ext cx="3446484" cy="823005"/>
          </a:xfrm>
          <a:prstGeom prst="rect">
            <a:avLst/>
          </a:prstGeom>
          <a:solidFill>
            <a:srgbClr val="162033"/>
          </a:solidFill>
          <a:ln w="6350">
            <a:solidFill>
              <a:srgbClr val="FFFFFF"/>
            </a:solidFill>
            <a:prstDash val="solid"/>
          </a:ln>
        </p:spPr>
      </p:sp>
      <p:sp>
        <p:nvSpPr>
          <p:cNvPr id="11" name="Text 3">
            <a:extLst>
              <a:ext uri="{FF2B5EF4-FFF2-40B4-BE49-F238E27FC236}">
                <a16:creationId xmlns:a16="http://schemas.microsoft.com/office/drawing/2014/main" id="{06FD8954-82CA-43D3-525F-90F7050F2671}"/>
              </a:ext>
            </a:extLst>
          </p:cNvPr>
          <p:cNvSpPr/>
          <p:nvPr/>
        </p:nvSpPr>
        <p:spPr>
          <a:xfrm>
            <a:off x="742313" y="1680463"/>
            <a:ext cx="3268601" cy="443156"/>
          </a:xfrm>
          <a:prstGeom prst="rect">
            <a:avLst/>
          </a:prstGeom>
          <a:noFill/>
          <a:ln/>
        </p:spPr>
        <p:txBody>
          <a:bodyPr wrap="square" lIns="0" tIns="0" rIns="0" bIns="0" rtlCol="0" anchor="ctr">
            <a:normAutofit/>
          </a:bodyPr>
          <a:lstStyle/>
          <a:p>
            <a:pPr marL="0" indent="0">
              <a:buNone/>
            </a:pPr>
            <a:r>
              <a:rPr lang="en-US" sz="1600" b="1" dirty="0">
                <a:solidFill>
                  <a:srgbClr val="FFFFFF"/>
                </a:solidFill>
              </a:rPr>
              <a:t>Tiêu chí</a:t>
            </a:r>
            <a:endParaRPr lang="en-US" sz="1600" dirty="0"/>
          </a:p>
        </p:txBody>
      </p:sp>
      <p:sp>
        <p:nvSpPr>
          <p:cNvPr id="13" name="Shape 4">
            <a:extLst>
              <a:ext uri="{FF2B5EF4-FFF2-40B4-BE49-F238E27FC236}">
                <a16:creationId xmlns:a16="http://schemas.microsoft.com/office/drawing/2014/main" id="{BDFCC70E-FE61-866D-A191-7BB8DD60B9F0}"/>
              </a:ext>
            </a:extLst>
          </p:cNvPr>
          <p:cNvSpPr/>
          <p:nvPr/>
        </p:nvSpPr>
        <p:spPr>
          <a:xfrm>
            <a:off x="3488012" y="1680463"/>
            <a:ext cx="2501480" cy="823005"/>
          </a:xfrm>
          <a:prstGeom prst="rect">
            <a:avLst/>
          </a:prstGeom>
          <a:solidFill>
            <a:srgbClr val="1F6FEB"/>
          </a:solidFill>
          <a:ln w="6350">
            <a:solidFill>
              <a:srgbClr val="FFFFFF"/>
            </a:solidFill>
            <a:prstDash val="solid"/>
          </a:ln>
        </p:spPr>
      </p:sp>
      <p:sp>
        <p:nvSpPr>
          <p:cNvPr id="15" name="Text 5">
            <a:extLst>
              <a:ext uri="{FF2B5EF4-FFF2-40B4-BE49-F238E27FC236}">
                <a16:creationId xmlns:a16="http://schemas.microsoft.com/office/drawing/2014/main" id="{E2A840C8-BC80-4F6D-909D-C1BF0923DB0C}"/>
              </a:ext>
            </a:extLst>
          </p:cNvPr>
          <p:cNvSpPr/>
          <p:nvPr/>
        </p:nvSpPr>
        <p:spPr>
          <a:xfrm>
            <a:off x="3561163" y="1781048"/>
            <a:ext cx="2323597" cy="443156"/>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rPr>
              <a:t>Video điện thoại</a:t>
            </a:r>
            <a:endParaRPr lang="en-US" sz="1120" dirty="0"/>
          </a:p>
        </p:txBody>
      </p:sp>
      <p:sp>
        <p:nvSpPr>
          <p:cNvPr id="17" name="Shape 6">
            <a:extLst>
              <a:ext uri="{FF2B5EF4-FFF2-40B4-BE49-F238E27FC236}">
                <a16:creationId xmlns:a16="http://schemas.microsoft.com/office/drawing/2014/main" id="{E29BCC50-9B26-4111-70AE-54684B48DB99}"/>
              </a:ext>
            </a:extLst>
          </p:cNvPr>
          <p:cNvSpPr/>
          <p:nvPr/>
        </p:nvSpPr>
        <p:spPr>
          <a:xfrm>
            <a:off x="5545412" y="1680463"/>
            <a:ext cx="2501480" cy="823005"/>
          </a:xfrm>
          <a:prstGeom prst="rect">
            <a:avLst/>
          </a:prstGeom>
          <a:solidFill>
            <a:srgbClr val="1F6FEB"/>
          </a:solidFill>
          <a:ln w="6350">
            <a:solidFill>
              <a:srgbClr val="FFFFFF"/>
            </a:solidFill>
            <a:prstDash val="solid"/>
          </a:ln>
        </p:spPr>
      </p:sp>
      <p:sp>
        <p:nvSpPr>
          <p:cNvPr id="19" name="Text 7">
            <a:extLst>
              <a:ext uri="{FF2B5EF4-FFF2-40B4-BE49-F238E27FC236}">
                <a16:creationId xmlns:a16="http://schemas.microsoft.com/office/drawing/2014/main" id="{42B64DFD-0F5A-68BC-47B4-C884AD554F57}"/>
              </a:ext>
            </a:extLst>
          </p:cNvPr>
          <p:cNvSpPr/>
          <p:nvPr/>
        </p:nvSpPr>
        <p:spPr>
          <a:xfrm>
            <a:off x="5618563" y="1781048"/>
            <a:ext cx="2323597" cy="443156"/>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rPr>
              <a:t>Camera V3 Wide</a:t>
            </a:r>
            <a:endParaRPr lang="en-US" sz="1120" dirty="0"/>
          </a:p>
        </p:txBody>
      </p:sp>
      <p:sp>
        <p:nvSpPr>
          <p:cNvPr id="21" name="Shape 8">
            <a:extLst>
              <a:ext uri="{FF2B5EF4-FFF2-40B4-BE49-F238E27FC236}">
                <a16:creationId xmlns:a16="http://schemas.microsoft.com/office/drawing/2014/main" id="{B69D751B-0517-EA87-529B-986DDB350C6B}"/>
              </a:ext>
            </a:extLst>
          </p:cNvPr>
          <p:cNvSpPr/>
          <p:nvPr/>
        </p:nvSpPr>
        <p:spPr>
          <a:xfrm>
            <a:off x="7602812" y="1680463"/>
            <a:ext cx="4891784" cy="823005"/>
          </a:xfrm>
          <a:prstGeom prst="rect">
            <a:avLst/>
          </a:prstGeom>
          <a:solidFill>
            <a:srgbClr val="1F6FEB"/>
          </a:solidFill>
          <a:ln w="6350">
            <a:solidFill>
              <a:srgbClr val="FFFFFF"/>
            </a:solidFill>
            <a:prstDash val="solid"/>
          </a:ln>
        </p:spPr>
      </p:sp>
      <p:sp>
        <p:nvSpPr>
          <p:cNvPr id="23" name="Text 9">
            <a:extLst>
              <a:ext uri="{FF2B5EF4-FFF2-40B4-BE49-F238E27FC236}">
                <a16:creationId xmlns:a16="http://schemas.microsoft.com/office/drawing/2014/main" id="{A730F318-4FF7-7249-98F7-E25B43883754}"/>
              </a:ext>
            </a:extLst>
          </p:cNvPr>
          <p:cNvSpPr/>
          <p:nvPr/>
        </p:nvSpPr>
        <p:spPr>
          <a:xfrm>
            <a:off x="7675963" y="1781048"/>
            <a:ext cx="4713901" cy="443156"/>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rPr>
              <a:t>Ý nghĩa cho đồ án</a:t>
            </a:r>
            <a:endParaRPr lang="en-US" sz="1120" dirty="0"/>
          </a:p>
        </p:txBody>
      </p:sp>
      <p:sp>
        <p:nvSpPr>
          <p:cNvPr id="25" name="Shape 10">
            <a:extLst>
              <a:ext uri="{FF2B5EF4-FFF2-40B4-BE49-F238E27FC236}">
                <a16:creationId xmlns:a16="http://schemas.microsoft.com/office/drawing/2014/main" id="{CF5F8397-BDEC-72B9-F3DB-E1801B03CFAB}"/>
              </a:ext>
            </a:extLst>
          </p:cNvPr>
          <p:cNvSpPr/>
          <p:nvPr/>
        </p:nvSpPr>
        <p:spPr>
          <a:xfrm>
            <a:off x="653372" y="2155952"/>
            <a:ext cx="3446484" cy="965448"/>
          </a:xfrm>
          <a:prstGeom prst="rect">
            <a:avLst/>
          </a:prstGeom>
          <a:solidFill>
            <a:srgbClr val="FFFFFF"/>
          </a:solidFill>
          <a:ln w="8890">
            <a:solidFill>
              <a:srgbClr val="DDE3EC"/>
            </a:solidFill>
            <a:prstDash val="solid"/>
          </a:ln>
        </p:spPr>
      </p:sp>
      <p:sp>
        <p:nvSpPr>
          <p:cNvPr id="27" name="Text 11">
            <a:extLst>
              <a:ext uri="{FF2B5EF4-FFF2-40B4-BE49-F238E27FC236}">
                <a16:creationId xmlns:a16="http://schemas.microsoft.com/office/drawing/2014/main" id="{A6F9D510-EB10-79FC-1328-28FCED8FFC8D}"/>
              </a:ext>
            </a:extLst>
          </p:cNvPr>
          <p:cNvSpPr/>
          <p:nvPr/>
        </p:nvSpPr>
        <p:spPr>
          <a:xfrm>
            <a:off x="726522" y="2060613"/>
            <a:ext cx="3268601" cy="712216"/>
          </a:xfrm>
          <a:prstGeom prst="rect">
            <a:avLst/>
          </a:prstGeom>
          <a:noFill/>
          <a:ln/>
        </p:spPr>
        <p:txBody>
          <a:bodyPr wrap="square" lIns="0" tIns="0" rIns="0" bIns="0" rtlCol="0" anchor="ctr">
            <a:normAutofit/>
          </a:bodyPr>
          <a:lstStyle/>
          <a:p>
            <a:pPr marL="0" indent="0" algn="l">
              <a:buNone/>
            </a:pPr>
            <a:r>
              <a:rPr lang="en-US" sz="1600" b="1" dirty="0">
                <a:solidFill>
                  <a:srgbClr val="243043"/>
                </a:solidFill>
              </a:rPr>
              <a:t>Độ phân giải video</a:t>
            </a:r>
            <a:endParaRPr lang="en-US" sz="1600" dirty="0"/>
          </a:p>
        </p:txBody>
      </p:sp>
      <p:sp>
        <p:nvSpPr>
          <p:cNvPr id="29" name="Shape 12">
            <a:extLst>
              <a:ext uri="{FF2B5EF4-FFF2-40B4-BE49-F238E27FC236}">
                <a16:creationId xmlns:a16="http://schemas.microsoft.com/office/drawing/2014/main" id="{87CB6EAB-D9AC-54E0-35CB-338E8D341660}"/>
              </a:ext>
            </a:extLst>
          </p:cNvPr>
          <p:cNvSpPr/>
          <p:nvPr/>
        </p:nvSpPr>
        <p:spPr>
          <a:xfrm>
            <a:off x="3488012" y="2155952"/>
            <a:ext cx="2501480" cy="965448"/>
          </a:xfrm>
          <a:prstGeom prst="rect">
            <a:avLst/>
          </a:prstGeom>
          <a:solidFill>
            <a:srgbClr val="FFFFFF"/>
          </a:solidFill>
          <a:ln w="8890">
            <a:solidFill>
              <a:srgbClr val="DDE3EC"/>
            </a:solidFill>
            <a:prstDash val="solid"/>
          </a:ln>
        </p:spPr>
      </p:sp>
      <p:sp>
        <p:nvSpPr>
          <p:cNvPr id="31" name="Text 13">
            <a:extLst>
              <a:ext uri="{FF2B5EF4-FFF2-40B4-BE49-F238E27FC236}">
                <a16:creationId xmlns:a16="http://schemas.microsoft.com/office/drawing/2014/main" id="{433D9A35-0C61-3481-64CF-E50963A5E61C}"/>
              </a:ext>
            </a:extLst>
          </p:cNvPr>
          <p:cNvSpPr/>
          <p:nvPr/>
        </p:nvSpPr>
        <p:spPr>
          <a:xfrm>
            <a:off x="3561163" y="2229104"/>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848×480</a:t>
            </a:r>
            <a:endParaRPr lang="en-US" sz="1020" dirty="0"/>
          </a:p>
        </p:txBody>
      </p:sp>
      <p:sp>
        <p:nvSpPr>
          <p:cNvPr id="33" name="Shape 14">
            <a:extLst>
              <a:ext uri="{FF2B5EF4-FFF2-40B4-BE49-F238E27FC236}">
                <a16:creationId xmlns:a16="http://schemas.microsoft.com/office/drawing/2014/main" id="{F1F04DEF-BB90-30AB-45C1-5A522F2CB4BD}"/>
              </a:ext>
            </a:extLst>
          </p:cNvPr>
          <p:cNvSpPr/>
          <p:nvPr/>
        </p:nvSpPr>
        <p:spPr>
          <a:xfrm>
            <a:off x="5545412" y="2155952"/>
            <a:ext cx="2501480" cy="965448"/>
          </a:xfrm>
          <a:prstGeom prst="rect">
            <a:avLst/>
          </a:prstGeom>
          <a:solidFill>
            <a:srgbClr val="FFFFFF"/>
          </a:solidFill>
          <a:ln w="8890">
            <a:solidFill>
              <a:srgbClr val="DDE3EC"/>
            </a:solidFill>
            <a:prstDash val="solid"/>
          </a:ln>
        </p:spPr>
      </p:sp>
      <p:sp>
        <p:nvSpPr>
          <p:cNvPr id="35" name="Text 15">
            <a:extLst>
              <a:ext uri="{FF2B5EF4-FFF2-40B4-BE49-F238E27FC236}">
                <a16:creationId xmlns:a16="http://schemas.microsoft.com/office/drawing/2014/main" id="{0A5F94B6-A750-3409-4C68-8BE4EBFD389E}"/>
              </a:ext>
            </a:extLst>
          </p:cNvPr>
          <p:cNvSpPr/>
          <p:nvPr/>
        </p:nvSpPr>
        <p:spPr>
          <a:xfrm>
            <a:off x="5618563" y="2229104"/>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1280×720</a:t>
            </a:r>
            <a:endParaRPr lang="en-US" sz="1020" dirty="0"/>
          </a:p>
        </p:txBody>
      </p:sp>
      <p:sp>
        <p:nvSpPr>
          <p:cNvPr id="37" name="Shape 16">
            <a:extLst>
              <a:ext uri="{FF2B5EF4-FFF2-40B4-BE49-F238E27FC236}">
                <a16:creationId xmlns:a16="http://schemas.microsoft.com/office/drawing/2014/main" id="{42B48D2C-A3C6-58D5-B2C0-D89753E78605}"/>
              </a:ext>
            </a:extLst>
          </p:cNvPr>
          <p:cNvSpPr/>
          <p:nvPr/>
        </p:nvSpPr>
        <p:spPr>
          <a:xfrm>
            <a:off x="7602812" y="2155952"/>
            <a:ext cx="4891784" cy="965448"/>
          </a:xfrm>
          <a:prstGeom prst="rect">
            <a:avLst/>
          </a:prstGeom>
          <a:solidFill>
            <a:srgbClr val="FFFFFF"/>
          </a:solidFill>
          <a:ln w="8890">
            <a:solidFill>
              <a:srgbClr val="DDE3EC"/>
            </a:solidFill>
            <a:prstDash val="solid"/>
          </a:ln>
        </p:spPr>
      </p:sp>
      <p:sp>
        <p:nvSpPr>
          <p:cNvPr id="39" name="Text 17">
            <a:extLst>
              <a:ext uri="{FF2B5EF4-FFF2-40B4-BE49-F238E27FC236}">
                <a16:creationId xmlns:a16="http://schemas.microsoft.com/office/drawing/2014/main" id="{5D48D473-7113-B48D-8986-5C16372D44D6}"/>
              </a:ext>
            </a:extLst>
          </p:cNvPr>
          <p:cNvSpPr/>
          <p:nvPr/>
        </p:nvSpPr>
        <p:spPr>
          <a:xfrm>
            <a:off x="7675962" y="2128136"/>
            <a:ext cx="4713901" cy="712216"/>
          </a:xfrm>
          <a:prstGeom prst="rect">
            <a:avLst/>
          </a:prstGeom>
          <a:noFill/>
          <a:ln/>
        </p:spPr>
        <p:txBody>
          <a:bodyPr wrap="square" lIns="0" tIns="0" rIns="0" bIns="0" rtlCol="0" anchor="ctr">
            <a:normAutofit/>
          </a:bodyPr>
          <a:lstStyle/>
          <a:p>
            <a:pPr marL="0" indent="0" algn="l">
              <a:buNone/>
            </a:pPr>
            <a:r>
              <a:rPr lang="en-US" sz="1020" dirty="0">
                <a:solidFill>
                  <a:srgbClr val="3E4A5B"/>
                </a:solidFill>
              </a:rPr>
              <a:t>V3 có ảnh nguồn lớn hơn; post-processing/video I/O nặng hơn.</a:t>
            </a:r>
            <a:endParaRPr lang="en-US" sz="1020" dirty="0"/>
          </a:p>
        </p:txBody>
      </p:sp>
      <p:sp>
        <p:nvSpPr>
          <p:cNvPr id="41" name="Shape 18">
            <a:extLst>
              <a:ext uri="{FF2B5EF4-FFF2-40B4-BE49-F238E27FC236}">
                <a16:creationId xmlns:a16="http://schemas.microsoft.com/office/drawing/2014/main" id="{F6ED2947-BAB7-FDA2-48C9-FBE84C9B9B2D}"/>
              </a:ext>
            </a:extLst>
          </p:cNvPr>
          <p:cNvSpPr/>
          <p:nvPr/>
        </p:nvSpPr>
        <p:spPr>
          <a:xfrm>
            <a:off x="653372" y="2713736"/>
            <a:ext cx="3446484" cy="965448"/>
          </a:xfrm>
          <a:prstGeom prst="rect">
            <a:avLst/>
          </a:prstGeom>
          <a:solidFill>
            <a:srgbClr val="F6F8FC"/>
          </a:solidFill>
          <a:ln w="8890">
            <a:solidFill>
              <a:srgbClr val="DDE3EC"/>
            </a:solidFill>
            <a:prstDash val="solid"/>
          </a:ln>
        </p:spPr>
      </p:sp>
      <p:sp>
        <p:nvSpPr>
          <p:cNvPr id="43" name="Text 19">
            <a:extLst>
              <a:ext uri="{FF2B5EF4-FFF2-40B4-BE49-F238E27FC236}">
                <a16:creationId xmlns:a16="http://schemas.microsoft.com/office/drawing/2014/main" id="{A3D6D6C5-CCA3-E57F-EE35-E7D30BC1B303}"/>
              </a:ext>
            </a:extLst>
          </p:cNvPr>
          <p:cNvSpPr/>
          <p:nvPr/>
        </p:nvSpPr>
        <p:spPr>
          <a:xfrm>
            <a:off x="742313" y="2653587"/>
            <a:ext cx="3268601" cy="712216"/>
          </a:xfrm>
          <a:prstGeom prst="rect">
            <a:avLst/>
          </a:prstGeom>
          <a:noFill/>
          <a:ln/>
        </p:spPr>
        <p:txBody>
          <a:bodyPr wrap="square" lIns="0" tIns="0" rIns="0" bIns="0" rtlCol="0" anchor="ctr">
            <a:normAutofit/>
          </a:bodyPr>
          <a:lstStyle/>
          <a:p>
            <a:pPr marL="0" indent="0" algn="l">
              <a:buNone/>
            </a:pPr>
            <a:r>
              <a:rPr lang="en-US" sz="1600" b="1" dirty="0">
                <a:solidFill>
                  <a:srgbClr val="243043"/>
                </a:solidFill>
              </a:rPr>
              <a:t>TriLiteNet inference</a:t>
            </a:r>
            <a:endParaRPr lang="en-US" sz="1600" dirty="0"/>
          </a:p>
        </p:txBody>
      </p:sp>
      <p:sp>
        <p:nvSpPr>
          <p:cNvPr id="45" name="Shape 20">
            <a:extLst>
              <a:ext uri="{FF2B5EF4-FFF2-40B4-BE49-F238E27FC236}">
                <a16:creationId xmlns:a16="http://schemas.microsoft.com/office/drawing/2014/main" id="{C3683B9C-BE03-7D32-2709-F76D5FC7DF35}"/>
              </a:ext>
            </a:extLst>
          </p:cNvPr>
          <p:cNvSpPr/>
          <p:nvPr/>
        </p:nvSpPr>
        <p:spPr>
          <a:xfrm>
            <a:off x="3488012" y="2713736"/>
            <a:ext cx="2501480" cy="965448"/>
          </a:xfrm>
          <a:prstGeom prst="rect">
            <a:avLst/>
          </a:prstGeom>
          <a:solidFill>
            <a:srgbClr val="F6F8FC"/>
          </a:solidFill>
          <a:ln w="8890">
            <a:solidFill>
              <a:srgbClr val="DDE3EC"/>
            </a:solidFill>
            <a:prstDash val="solid"/>
          </a:ln>
        </p:spPr>
      </p:sp>
      <p:sp>
        <p:nvSpPr>
          <p:cNvPr id="47" name="Text 21">
            <a:extLst>
              <a:ext uri="{FF2B5EF4-FFF2-40B4-BE49-F238E27FC236}">
                <a16:creationId xmlns:a16="http://schemas.microsoft.com/office/drawing/2014/main" id="{F0D867CF-A4D0-95F4-55AB-5A82041D1E82}"/>
              </a:ext>
            </a:extLst>
          </p:cNvPr>
          <p:cNvSpPr/>
          <p:nvPr/>
        </p:nvSpPr>
        <p:spPr>
          <a:xfrm>
            <a:off x="3561163" y="2786888"/>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257,9 ms/frame</a:t>
            </a:r>
            <a:endParaRPr lang="en-US" sz="1020" dirty="0"/>
          </a:p>
        </p:txBody>
      </p:sp>
      <p:sp>
        <p:nvSpPr>
          <p:cNvPr id="49" name="Shape 22">
            <a:extLst>
              <a:ext uri="{FF2B5EF4-FFF2-40B4-BE49-F238E27FC236}">
                <a16:creationId xmlns:a16="http://schemas.microsoft.com/office/drawing/2014/main" id="{A91CF31A-6FDF-8E75-EBF8-C5179F12819E}"/>
              </a:ext>
            </a:extLst>
          </p:cNvPr>
          <p:cNvSpPr/>
          <p:nvPr/>
        </p:nvSpPr>
        <p:spPr>
          <a:xfrm>
            <a:off x="5545412" y="2713736"/>
            <a:ext cx="2501480" cy="965448"/>
          </a:xfrm>
          <a:prstGeom prst="rect">
            <a:avLst/>
          </a:prstGeom>
          <a:solidFill>
            <a:srgbClr val="F6F8FC"/>
          </a:solidFill>
          <a:ln w="8890">
            <a:solidFill>
              <a:srgbClr val="DDE3EC"/>
            </a:solidFill>
            <a:prstDash val="solid"/>
          </a:ln>
        </p:spPr>
      </p:sp>
      <p:sp>
        <p:nvSpPr>
          <p:cNvPr id="51" name="Text 23">
            <a:extLst>
              <a:ext uri="{FF2B5EF4-FFF2-40B4-BE49-F238E27FC236}">
                <a16:creationId xmlns:a16="http://schemas.microsoft.com/office/drawing/2014/main" id="{69C28522-FB10-9514-D972-7D4EDF461B2E}"/>
              </a:ext>
            </a:extLst>
          </p:cNvPr>
          <p:cNvSpPr/>
          <p:nvPr/>
        </p:nvSpPr>
        <p:spPr>
          <a:xfrm>
            <a:off x="5618563" y="2786888"/>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248,8 ms/frame</a:t>
            </a:r>
            <a:endParaRPr lang="en-US" sz="1020" dirty="0"/>
          </a:p>
        </p:txBody>
      </p:sp>
      <p:sp>
        <p:nvSpPr>
          <p:cNvPr id="53" name="Shape 24">
            <a:extLst>
              <a:ext uri="{FF2B5EF4-FFF2-40B4-BE49-F238E27FC236}">
                <a16:creationId xmlns:a16="http://schemas.microsoft.com/office/drawing/2014/main" id="{5DEE2C6B-8070-14B6-2F74-7CFEA18747B5}"/>
              </a:ext>
            </a:extLst>
          </p:cNvPr>
          <p:cNvSpPr/>
          <p:nvPr/>
        </p:nvSpPr>
        <p:spPr>
          <a:xfrm>
            <a:off x="7602812" y="2713736"/>
            <a:ext cx="4891784" cy="965448"/>
          </a:xfrm>
          <a:prstGeom prst="rect">
            <a:avLst/>
          </a:prstGeom>
          <a:solidFill>
            <a:srgbClr val="F6F8FC"/>
          </a:solidFill>
          <a:ln w="8890">
            <a:solidFill>
              <a:srgbClr val="DDE3EC"/>
            </a:solidFill>
            <a:prstDash val="solid"/>
          </a:ln>
        </p:spPr>
      </p:sp>
      <p:sp>
        <p:nvSpPr>
          <p:cNvPr id="55" name="Text 25">
            <a:extLst>
              <a:ext uri="{FF2B5EF4-FFF2-40B4-BE49-F238E27FC236}">
                <a16:creationId xmlns:a16="http://schemas.microsoft.com/office/drawing/2014/main" id="{738FBF88-7479-6E99-F13B-3E82942471FB}"/>
              </a:ext>
            </a:extLst>
          </p:cNvPr>
          <p:cNvSpPr/>
          <p:nvPr/>
        </p:nvSpPr>
        <p:spPr>
          <a:xfrm>
            <a:off x="7675963" y="2786888"/>
            <a:ext cx="4713901" cy="712216"/>
          </a:xfrm>
          <a:prstGeom prst="rect">
            <a:avLst/>
          </a:prstGeom>
          <a:noFill/>
          <a:ln/>
        </p:spPr>
        <p:txBody>
          <a:bodyPr wrap="square" lIns="0" tIns="0" rIns="0" bIns="0" rtlCol="0" anchor="ctr">
            <a:normAutofit/>
          </a:bodyPr>
          <a:lstStyle/>
          <a:p>
            <a:pPr marL="0" indent="0" algn="l">
              <a:buNone/>
            </a:pPr>
            <a:r>
              <a:rPr lang="en-US" sz="1020" dirty="0">
                <a:solidFill>
                  <a:srgbClr val="3E4A5B"/>
                </a:solidFill>
              </a:rPr>
              <a:t>Gần tương đương → Tiny416 ổn định giữa hai nguồn video.</a:t>
            </a:r>
            <a:endParaRPr lang="en-US" sz="1020" dirty="0"/>
          </a:p>
        </p:txBody>
      </p:sp>
      <p:sp>
        <p:nvSpPr>
          <p:cNvPr id="57" name="Shape 26">
            <a:extLst>
              <a:ext uri="{FF2B5EF4-FFF2-40B4-BE49-F238E27FC236}">
                <a16:creationId xmlns:a16="http://schemas.microsoft.com/office/drawing/2014/main" id="{77F2F844-79CA-5D94-6FE2-2804565744A1}"/>
              </a:ext>
            </a:extLst>
          </p:cNvPr>
          <p:cNvSpPr/>
          <p:nvPr/>
        </p:nvSpPr>
        <p:spPr>
          <a:xfrm>
            <a:off x="653372" y="3271520"/>
            <a:ext cx="3446484" cy="965448"/>
          </a:xfrm>
          <a:prstGeom prst="rect">
            <a:avLst/>
          </a:prstGeom>
          <a:solidFill>
            <a:srgbClr val="FFFFFF"/>
          </a:solidFill>
          <a:ln w="8890">
            <a:solidFill>
              <a:srgbClr val="DDE3EC"/>
            </a:solidFill>
            <a:prstDash val="solid"/>
          </a:ln>
        </p:spPr>
      </p:sp>
      <p:sp>
        <p:nvSpPr>
          <p:cNvPr id="59" name="Text 27">
            <a:extLst>
              <a:ext uri="{FF2B5EF4-FFF2-40B4-BE49-F238E27FC236}">
                <a16:creationId xmlns:a16="http://schemas.microsoft.com/office/drawing/2014/main" id="{FDC66B28-2D39-13F4-65BE-7CA8DA4AE69F}"/>
              </a:ext>
            </a:extLst>
          </p:cNvPr>
          <p:cNvSpPr/>
          <p:nvPr/>
        </p:nvSpPr>
        <p:spPr>
          <a:xfrm>
            <a:off x="736642" y="3181549"/>
            <a:ext cx="3268601" cy="712216"/>
          </a:xfrm>
          <a:prstGeom prst="rect">
            <a:avLst/>
          </a:prstGeom>
          <a:noFill/>
          <a:ln/>
        </p:spPr>
        <p:txBody>
          <a:bodyPr wrap="square" lIns="0" tIns="0" rIns="0" bIns="0" rtlCol="0" anchor="ctr">
            <a:normAutofit/>
          </a:bodyPr>
          <a:lstStyle/>
          <a:p>
            <a:pPr marL="0" indent="0" algn="l">
              <a:buNone/>
            </a:pPr>
            <a:r>
              <a:rPr lang="en-US" sz="1600" b="1" dirty="0">
                <a:solidFill>
                  <a:srgbClr val="243043"/>
                </a:solidFill>
              </a:rPr>
              <a:t>Inference rate</a:t>
            </a:r>
            <a:endParaRPr lang="en-US" sz="1600" dirty="0"/>
          </a:p>
        </p:txBody>
      </p:sp>
      <p:sp>
        <p:nvSpPr>
          <p:cNvPr id="61" name="Shape 28">
            <a:extLst>
              <a:ext uri="{FF2B5EF4-FFF2-40B4-BE49-F238E27FC236}">
                <a16:creationId xmlns:a16="http://schemas.microsoft.com/office/drawing/2014/main" id="{DEB14269-5057-71E7-A62F-80977892500F}"/>
              </a:ext>
            </a:extLst>
          </p:cNvPr>
          <p:cNvSpPr/>
          <p:nvPr/>
        </p:nvSpPr>
        <p:spPr>
          <a:xfrm>
            <a:off x="3488012" y="3271520"/>
            <a:ext cx="2501480" cy="965448"/>
          </a:xfrm>
          <a:prstGeom prst="rect">
            <a:avLst/>
          </a:prstGeom>
          <a:solidFill>
            <a:srgbClr val="FFFFFF"/>
          </a:solidFill>
          <a:ln w="8890">
            <a:solidFill>
              <a:srgbClr val="DDE3EC"/>
            </a:solidFill>
            <a:prstDash val="solid"/>
          </a:ln>
        </p:spPr>
      </p:sp>
      <p:sp>
        <p:nvSpPr>
          <p:cNvPr id="63" name="Text 29">
            <a:extLst>
              <a:ext uri="{FF2B5EF4-FFF2-40B4-BE49-F238E27FC236}">
                <a16:creationId xmlns:a16="http://schemas.microsoft.com/office/drawing/2014/main" id="{2950C571-CAD5-47F1-8C45-9A51B99845AD}"/>
              </a:ext>
            </a:extLst>
          </p:cNvPr>
          <p:cNvSpPr/>
          <p:nvPr/>
        </p:nvSpPr>
        <p:spPr>
          <a:xfrm>
            <a:off x="3561163" y="3344672"/>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 3,88 FPS</a:t>
            </a:r>
            <a:endParaRPr lang="en-US" sz="1020" dirty="0"/>
          </a:p>
        </p:txBody>
      </p:sp>
      <p:sp>
        <p:nvSpPr>
          <p:cNvPr id="65" name="Shape 30">
            <a:extLst>
              <a:ext uri="{FF2B5EF4-FFF2-40B4-BE49-F238E27FC236}">
                <a16:creationId xmlns:a16="http://schemas.microsoft.com/office/drawing/2014/main" id="{FE439E6C-312C-2B7F-93E9-8F6B654AC1BA}"/>
              </a:ext>
            </a:extLst>
          </p:cNvPr>
          <p:cNvSpPr/>
          <p:nvPr/>
        </p:nvSpPr>
        <p:spPr>
          <a:xfrm>
            <a:off x="5545412" y="3271520"/>
            <a:ext cx="2501480" cy="965448"/>
          </a:xfrm>
          <a:prstGeom prst="rect">
            <a:avLst/>
          </a:prstGeom>
          <a:solidFill>
            <a:srgbClr val="FFFFFF"/>
          </a:solidFill>
          <a:ln w="8890">
            <a:solidFill>
              <a:srgbClr val="DDE3EC"/>
            </a:solidFill>
            <a:prstDash val="solid"/>
          </a:ln>
        </p:spPr>
      </p:sp>
      <p:sp>
        <p:nvSpPr>
          <p:cNvPr id="67" name="Text 31">
            <a:extLst>
              <a:ext uri="{FF2B5EF4-FFF2-40B4-BE49-F238E27FC236}">
                <a16:creationId xmlns:a16="http://schemas.microsoft.com/office/drawing/2014/main" id="{E783DD75-AA82-0058-66E5-D756F7BB278A}"/>
              </a:ext>
            </a:extLst>
          </p:cNvPr>
          <p:cNvSpPr/>
          <p:nvPr/>
        </p:nvSpPr>
        <p:spPr>
          <a:xfrm>
            <a:off x="5618563" y="3344672"/>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 4,02 FPS</a:t>
            </a:r>
            <a:endParaRPr lang="en-US" sz="1020" dirty="0"/>
          </a:p>
        </p:txBody>
      </p:sp>
      <p:sp>
        <p:nvSpPr>
          <p:cNvPr id="69" name="Shape 32">
            <a:extLst>
              <a:ext uri="{FF2B5EF4-FFF2-40B4-BE49-F238E27FC236}">
                <a16:creationId xmlns:a16="http://schemas.microsoft.com/office/drawing/2014/main" id="{DB3C1516-1E48-B0A2-F1BC-DB30E3ECC96D}"/>
              </a:ext>
            </a:extLst>
          </p:cNvPr>
          <p:cNvSpPr/>
          <p:nvPr/>
        </p:nvSpPr>
        <p:spPr>
          <a:xfrm>
            <a:off x="7602812" y="3271520"/>
            <a:ext cx="4891784" cy="965448"/>
          </a:xfrm>
          <a:prstGeom prst="rect">
            <a:avLst/>
          </a:prstGeom>
          <a:solidFill>
            <a:srgbClr val="FFFFFF"/>
          </a:solidFill>
          <a:ln w="8890">
            <a:solidFill>
              <a:srgbClr val="DDE3EC"/>
            </a:solidFill>
            <a:prstDash val="solid"/>
          </a:ln>
        </p:spPr>
      </p:sp>
      <p:sp>
        <p:nvSpPr>
          <p:cNvPr id="71" name="Text 33">
            <a:extLst>
              <a:ext uri="{FF2B5EF4-FFF2-40B4-BE49-F238E27FC236}">
                <a16:creationId xmlns:a16="http://schemas.microsoft.com/office/drawing/2014/main" id="{76EF4D33-4331-74B2-BFA5-5DA22C7411CC}"/>
              </a:ext>
            </a:extLst>
          </p:cNvPr>
          <p:cNvSpPr/>
          <p:nvPr/>
        </p:nvSpPr>
        <p:spPr>
          <a:xfrm>
            <a:off x="7675963" y="3344672"/>
            <a:ext cx="4713901" cy="712216"/>
          </a:xfrm>
          <a:prstGeom prst="rect">
            <a:avLst/>
          </a:prstGeom>
          <a:noFill/>
          <a:ln/>
        </p:spPr>
        <p:txBody>
          <a:bodyPr wrap="square" lIns="0" tIns="0" rIns="0" bIns="0" rtlCol="0" anchor="ctr">
            <a:normAutofit/>
          </a:bodyPr>
          <a:lstStyle/>
          <a:p>
            <a:pPr marL="0" indent="0" algn="l">
              <a:buNone/>
            </a:pPr>
            <a:r>
              <a:rPr lang="en-US" sz="1020" dirty="0">
                <a:solidFill>
                  <a:srgbClr val="3E4A5B"/>
                </a:solidFill>
              </a:rPr>
              <a:t>Nút thắt chính vẫn là CPU inference, không phải camera 30 FPS.</a:t>
            </a:r>
            <a:endParaRPr lang="en-US" sz="1020" dirty="0"/>
          </a:p>
        </p:txBody>
      </p:sp>
      <p:sp>
        <p:nvSpPr>
          <p:cNvPr id="73" name="Shape 34">
            <a:extLst>
              <a:ext uri="{FF2B5EF4-FFF2-40B4-BE49-F238E27FC236}">
                <a16:creationId xmlns:a16="http://schemas.microsoft.com/office/drawing/2014/main" id="{4AAAD786-C047-D6C2-B012-7D193CB6F649}"/>
              </a:ext>
            </a:extLst>
          </p:cNvPr>
          <p:cNvSpPr/>
          <p:nvPr/>
        </p:nvSpPr>
        <p:spPr>
          <a:xfrm>
            <a:off x="653372" y="3829304"/>
            <a:ext cx="3446484" cy="965448"/>
          </a:xfrm>
          <a:prstGeom prst="rect">
            <a:avLst/>
          </a:prstGeom>
          <a:solidFill>
            <a:srgbClr val="F6F8FC"/>
          </a:solidFill>
          <a:ln w="8890">
            <a:solidFill>
              <a:srgbClr val="DDE3EC"/>
            </a:solidFill>
            <a:prstDash val="solid"/>
          </a:ln>
        </p:spPr>
      </p:sp>
      <p:sp>
        <p:nvSpPr>
          <p:cNvPr id="75" name="Text 35">
            <a:extLst>
              <a:ext uri="{FF2B5EF4-FFF2-40B4-BE49-F238E27FC236}">
                <a16:creationId xmlns:a16="http://schemas.microsoft.com/office/drawing/2014/main" id="{172EC860-93D7-B309-F064-BF2C358969C1}"/>
              </a:ext>
            </a:extLst>
          </p:cNvPr>
          <p:cNvSpPr/>
          <p:nvPr/>
        </p:nvSpPr>
        <p:spPr>
          <a:xfrm>
            <a:off x="742313" y="3730189"/>
            <a:ext cx="3268601" cy="712216"/>
          </a:xfrm>
          <a:prstGeom prst="rect">
            <a:avLst/>
          </a:prstGeom>
          <a:noFill/>
          <a:ln/>
        </p:spPr>
        <p:txBody>
          <a:bodyPr wrap="square" lIns="0" tIns="0" rIns="0" bIns="0" rtlCol="0" anchor="ctr">
            <a:normAutofit/>
          </a:bodyPr>
          <a:lstStyle/>
          <a:p>
            <a:pPr marL="0" indent="0" algn="l">
              <a:buNone/>
            </a:pPr>
            <a:r>
              <a:rPr lang="en-US" sz="1600" b="1" dirty="0">
                <a:solidFill>
                  <a:srgbClr val="243043"/>
                </a:solidFill>
              </a:rPr>
              <a:t>Ego success</a:t>
            </a:r>
            <a:endParaRPr lang="en-US" sz="1600" dirty="0"/>
          </a:p>
        </p:txBody>
      </p:sp>
      <p:sp>
        <p:nvSpPr>
          <p:cNvPr id="77" name="Shape 36">
            <a:extLst>
              <a:ext uri="{FF2B5EF4-FFF2-40B4-BE49-F238E27FC236}">
                <a16:creationId xmlns:a16="http://schemas.microsoft.com/office/drawing/2014/main" id="{03C737FC-6A31-08CB-9E93-375FFA60659B}"/>
              </a:ext>
            </a:extLst>
          </p:cNvPr>
          <p:cNvSpPr/>
          <p:nvPr/>
        </p:nvSpPr>
        <p:spPr>
          <a:xfrm>
            <a:off x="3488012" y="3829304"/>
            <a:ext cx="2501480" cy="965448"/>
          </a:xfrm>
          <a:prstGeom prst="rect">
            <a:avLst/>
          </a:prstGeom>
          <a:solidFill>
            <a:srgbClr val="F6F8FC"/>
          </a:solidFill>
          <a:ln w="8890">
            <a:solidFill>
              <a:srgbClr val="DDE3EC"/>
            </a:solidFill>
            <a:prstDash val="solid"/>
          </a:ln>
        </p:spPr>
      </p:sp>
      <p:sp>
        <p:nvSpPr>
          <p:cNvPr id="79" name="Text 37">
            <a:extLst>
              <a:ext uri="{FF2B5EF4-FFF2-40B4-BE49-F238E27FC236}">
                <a16:creationId xmlns:a16="http://schemas.microsoft.com/office/drawing/2014/main" id="{DFC5C962-2BEA-4B1A-F267-7E5602ACEFB5}"/>
              </a:ext>
            </a:extLst>
          </p:cNvPr>
          <p:cNvSpPr/>
          <p:nvPr/>
        </p:nvSpPr>
        <p:spPr>
          <a:xfrm>
            <a:off x="3561163" y="3902456"/>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327/327 • 100%</a:t>
            </a:r>
            <a:endParaRPr lang="en-US" sz="1020" dirty="0"/>
          </a:p>
        </p:txBody>
      </p:sp>
      <p:sp>
        <p:nvSpPr>
          <p:cNvPr id="81" name="Shape 38">
            <a:extLst>
              <a:ext uri="{FF2B5EF4-FFF2-40B4-BE49-F238E27FC236}">
                <a16:creationId xmlns:a16="http://schemas.microsoft.com/office/drawing/2014/main" id="{3EE76EA9-1446-DFD2-E24B-3FD2033CD24A}"/>
              </a:ext>
            </a:extLst>
          </p:cNvPr>
          <p:cNvSpPr/>
          <p:nvPr/>
        </p:nvSpPr>
        <p:spPr>
          <a:xfrm>
            <a:off x="5545412" y="3829304"/>
            <a:ext cx="2501480" cy="965448"/>
          </a:xfrm>
          <a:prstGeom prst="rect">
            <a:avLst/>
          </a:prstGeom>
          <a:solidFill>
            <a:srgbClr val="F6F8FC"/>
          </a:solidFill>
          <a:ln w="8890">
            <a:solidFill>
              <a:srgbClr val="DDE3EC"/>
            </a:solidFill>
            <a:prstDash val="solid"/>
          </a:ln>
        </p:spPr>
      </p:sp>
      <p:sp>
        <p:nvSpPr>
          <p:cNvPr id="83" name="Text 39">
            <a:extLst>
              <a:ext uri="{FF2B5EF4-FFF2-40B4-BE49-F238E27FC236}">
                <a16:creationId xmlns:a16="http://schemas.microsoft.com/office/drawing/2014/main" id="{28A2CF38-E69D-F650-85E2-ADF08D01C5AE}"/>
              </a:ext>
            </a:extLst>
          </p:cNvPr>
          <p:cNvSpPr/>
          <p:nvPr/>
        </p:nvSpPr>
        <p:spPr>
          <a:xfrm>
            <a:off x="5618563" y="3902456"/>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831/890 • 93,37%</a:t>
            </a:r>
            <a:endParaRPr lang="en-US" sz="1020" dirty="0"/>
          </a:p>
        </p:txBody>
      </p:sp>
      <p:sp>
        <p:nvSpPr>
          <p:cNvPr id="85" name="Shape 40">
            <a:extLst>
              <a:ext uri="{FF2B5EF4-FFF2-40B4-BE49-F238E27FC236}">
                <a16:creationId xmlns:a16="http://schemas.microsoft.com/office/drawing/2014/main" id="{AE14B6CB-0719-9AC5-BFFA-19D1DD22F841}"/>
              </a:ext>
            </a:extLst>
          </p:cNvPr>
          <p:cNvSpPr/>
          <p:nvPr/>
        </p:nvSpPr>
        <p:spPr>
          <a:xfrm>
            <a:off x="7602812" y="3829304"/>
            <a:ext cx="4891784" cy="965448"/>
          </a:xfrm>
          <a:prstGeom prst="rect">
            <a:avLst/>
          </a:prstGeom>
          <a:solidFill>
            <a:srgbClr val="F6F8FC"/>
          </a:solidFill>
          <a:ln w="8890">
            <a:solidFill>
              <a:srgbClr val="DDE3EC"/>
            </a:solidFill>
            <a:prstDash val="solid"/>
          </a:ln>
        </p:spPr>
      </p:sp>
      <p:sp>
        <p:nvSpPr>
          <p:cNvPr id="87" name="Text 41">
            <a:extLst>
              <a:ext uri="{FF2B5EF4-FFF2-40B4-BE49-F238E27FC236}">
                <a16:creationId xmlns:a16="http://schemas.microsoft.com/office/drawing/2014/main" id="{820CD105-E468-05A4-C986-45530D9F7C53}"/>
              </a:ext>
            </a:extLst>
          </p:cNvPr>
          <p:cNvSpPr/>
          <p:nvPr/>
        </p:nvSpPr>
        <p:spPr>
          <a:xfrm>
            <a:off x="7675963" y="3902456"/>
            <a:ext cx="4713901" cy="712216"/>
          </a:xfrm>
          <a:prstGeom prst="rect">
            <a:avLst/>
          </a:prstGeom>
          <a:noFill/>
          <a:ln/>
        </p:spPr>
        <p:txBody>
          <a:bodyPr wrap="square" lIns="0" tIns="0" rIns="0" bIns="0" rtlCol="0" anchor="ctr">
            <a:normAutofit/>
          </a:bodyPr>
          <a:lstStyle/>
          <a:p>
            <a:pPr marL="0" indent="0" algn="l">
              <a:buNone/>
            </a:pPr>
            <a:r>
              <a:rPr lang="en-US" sz="1020" dirty="0">
                <a:solidFill>
                  <a:srgbClr val="3E4A5B"/>
                </a:solidFill>
              </a:rPr>
              <a:t>V3 có 59 frame fail → cần phân tích failure mode / temporal fallback.</a:t>
            </a:r>
            <a:endParaRPr lang="en-US" sz="1020" dirty="0"/>
          </a:p>
        </p:txBody>
      </p:sp>
      <p:sp>
        <p:nvSpPr>
          <p:cNvPr id="89" name="Shape 42">
            <a:extLst>
              <a:ext uri="{FF2B5EF4-FFF2-40B4-BE49-F238E27FC236}">
                <a16:creationId xmlns:a16="http://schemas.microsoft.com/office/drawing/2014/main" id="{7C491A39-4A5F-423C-A796-74E61686911F}"/>
              </a:ext>
            </a:extLst>
          </p:cNvPr>
          <p:cNvSpPr/>
          <p:nvPr/>
        </p:nvSpPr>
        <p:spPr>
          <a:xfrm>
            <a:off x="653372" y="4387088"/>
            <a:ext cx="3446484" cy="965448"/>
          </a:xfrm>
          <a:prstGeom prst="rect">
            <a:avLst/>
          </a:prstGeom>
          <a:solidFill>
            <a:srgbClr val="FFFFFF"/>
          </a:solidFill>
          <a:ln w="8890">
            <a:solidFill>
              <a:srgbClr val="DDE3EC"/>
            </a:solidFill>
            <a:prstDash val="solid"/>
          </a:ln>
        </p:spPr>
      </p:sp>
      <p:sp>
        <p:nvSpPr>
          <p:cNvPr id="91" name="Text 43">
            <a:extLst>
              <a:ext uri="{FF2B5EF4-FFF2-40B4-BE49-F238E27FC236}">
                <a16:creationId xmlns:a16="http://schemas.microsoft.com/office/drawing/2014/main" id="{944FFE1E-F48B-4814-E822-EF3E4C850352}"/>
              </a:ext>
            </a:extLst>
          </p:cNvPr>
          <p:cNvSpPr/>
          <p:nvPr/>
        </p:nvSpPr>
        <p:spPr>
          <a:xfrm>
            <a:off x="726521" y="4316779"/>
            <a:ext cx="3268601" cy="712216"/>
          </a:xfrm>
          <a:prstGeom prst="rect">
            <a:avLst/>
          </a:prstGeom>
          <a:noFill/>
          <a:ln/>
        </p:spPr>
        <p:txBody>
          <a:bodyPr wrap="square" lIns="0" tIns="0" rIns="0" bIns="0" rtlCol="0" anchor="ctr">
            <a:normAutofit/>
          </a:bodyPr>
          <a:lstStyle/>
          <a:p>
            <a:pPr marL="0" indent="0" algn="l">
              <a:buNone/>
            </a:pPr>
            <a:r>
              <a:rPr lang="en-US" sz="1600" b="1" dirty="0">
                <a:solidFill>
                  <a:srgbClr val="243043"/>
                </a:solidFill>
              </a:rPr>
              <a:t>Ego median latency</a:t>
            </a:r>
            <a:endParaRPr lang="en-US" sz="1600" dirty="0"/>
          </a:p>
        </p:txBody>
      </p:sp>
      <p:sp>
        <p:nvSpPr>
          <p:cNvPr id="93" name="Shape 44">
            <a:extLst>
              <a:ext uri="{FF2B5EF4-FFF2-40B4-BE49-F238E27FC236}">
                <a16:creationId xmlns:a16="http://schemas.microsoft.com/office/drawing/2014/main" id="{8BA74ADE-ACB2-1019-AC9E-4051E6F92D2F}"/>
              </a:ext>
            </a:extLst>
          </p:cNvPr>
          <p:cNvSpPr/>
          <p:nvPr/>
        </p:nvSpPr>
        <p:spPr>
          <a:xfrm>
            <a:off x="3488012" y="4387088"/>
            <a:ext cx="2501480" cy="965448"/>
          </a:xfrm>
          <a:prstGeom prst="rect">
            <a:avLst/>
          </a:prstGeom>
          <a:solidFill>
            <a:srgbClr val="FFFFFF"/>
          </a:solidFill>
          <a:ln w="8890">
            <a:solidFill>
              <a:srgbClr val="DDE3EC"/>
            </a:solidFill>
            <a:prstDash val="solid"/>
          </a:ln>
        </p:spPr>
      </p:sp>
      <p:sp>
        <p:nvSpPr>
          <p:cNvPr id="95" name="Text 45">
            <a:extLst>
              <a:ext uri="{FF2B5EF4-FFF2-40B4-BE49-F238E27FC236}">
                <a16:creationId xmlns:a16="http://schemas.microsoft.com/office/drawing/2014/main" id="{C3F70233-520E-FFEB-D2BD-7DF73F457EF8}"/>
              </a:ext>
            </a:extLst>
          </p:cNvPr>
          <p:cNvSpPr/>
          <p:nvPr/>
        </p:nvSpPr>
        <p:spPr>
          <a:xfrm>
            <a:off x="3561163" y="4460240"/>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110,58 ms</a:t>
            </a:r>
            <a:endParaRPr lang="en-US" sz="1020" dirty="0"/>
          </a:p>
        </p:txBody>
      </p:sp>
      <p:sp>
        <p:nvSpPr>
          <p:cNvPr id="97" name="Shape 46">
            <a:extLst>
              <a:ext uri="{FF2B5EF4-FFF2-40B4-BE49-F238E27FC236}">
                <a16:creationId xmlns:a16="http://schemas.microsoft.com/office/drawing/2014/main" id="{86369390-E4B9-4323-C553-576041B5125F}"/>
              </a:ext>
            </a:extLst>
          </p:cNvPr>
          <p:cNvSpPr/>
          <p:nvPr/>
        </p:nvSpPr>
        <p:spPr>
          <a:xfrm>
            <a:off x="5545412" y="4387088"/>
            <a:ext cx="2501480" cy="965448"/>
          </a:xfrm>
          <a:prstGeom prst="rect">
            <a:avLst/>
          </a:prstGeom>
          <a:solidFill>
            <a:srgbClr val="FFFFFF"/>
          </a:solidFill>
          <a:ln w="8890">
            <a:solidFill>
              <a:srgbClr val="DDE3EC"/>
            </a:solidFill>
            <a:prstDash val="solid"/>
          </a:ln>
        </p:spPr>
      </p:sp>
      <p:sp>
        <p:nvSpPr>
          <p:cNvPr id="99" name="Text 47">
            <a:extLst>
              <a:ext uri="{FF2B5EF4-FFF2-40B4-BE49-F238E27FC236}">
                <a16:creationId xmlns:a16="http://schemas.microsoft.com/office/drawing/2014/main" id="{EDA01461-5A13-DAFD-3891-3C943C86AB6C}"/>
              </a:ext>
            </a:extLst>
          </p:cNvPr>
          <p:cNvSpPr/>
          <p:nvPr/>
        </p:nvSpPr>
        <p:spPr>
          <a:xfrm>
            <a:off x="5618563" y="4460240"/>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111,0 ms</a:t>
            </a:r>
            <a:endParaRPr lang="en-US" sz="1020" dirty="0"/>
          </a:p>
        </p:txBody>
      </p:sp>
      <p:sp>
        <p:nvSpPr>
          <p:cNvPr id="101" name="Shape 48">
            <a:extLst>
              <a:ext uri="{FF2B5EF4-FFF2-40B4-BE49-F238E27FC236}">
                <a16:creationId xmlns:a16="http://schemas.microsoft.com/office/drawing/2014/main" id="{30D7E5C5-1218-0D9D-9156-4C952DC96F2B}"/>
              </a:ext>
            </a:extLst>
          </p:cNvPr>
          <p:cNvSpPr/>
          <p:nvPr/>
        </p:nvSpPr>
        <p:spPr>
          <a:xfrm>
            <a:off x="7602812" y="4387088"/>
            <a:ext cx="4891784" cy="965448"/>
          </a:xfrm>
          <a:prstGeom prst="rect">
            <a:avLst/>
          </a:prstGeom>
          <a:solidFill>
            <a:srgbClr val="FFFFFF"/>
          </a:solidFill>
          <a:ln w="8890">
            <a:solidFill>
              <a:srgbClr val="DDE3EC"/>
            </a:solidFill>
            <a:prstDash val="solid"/>
          </a:ln>
        </p:spPr>
      </p:sp>
      <p:sp>
        <p:nvSpPr>
          <p:cNvPr id="103" name="Text 49">
            <a:extLst>
              <a:ext uri="{FF2B5EF4-FFF2-40B4-BE49-F238E27FC236}">
                <a16:creationId xmlns:a16="http://schemas.microsoft.com/office/drawing/2014/main" id="{19DE7A04-F805-27E9-4B8B-135ED4A102E0}"/>
              </a:ext>
            </a:extLst>
          </p:cNvPr>
          <p:cNvSpPr/>
          <p:nvPr/>
        </p:nvSpPr>
        <p:spPr>
          <a:xfrm>
            <a:off x="7675963" y="4460240"/>
            <a:ext cx="4713901" cy="712216"/>
          </a:xfrm>
          <a:prstGeom prst="rect">
            <a:avLst/>
          </a:prstGeom>
          <a:noFill/>
          <a:ln/>
        </p:spPr>
        <p:txBody>
          <a:bodyPr wrap="square" lIns="0" tIns="0" rIns="0" bIns="0" rtlCol="0" anchor="ctr">
            <a:normAutofit/>
          </a:bodyPr>
          <a:lstStyle/>
          <a:p>
            <a:pPr marL="0" indent="0" algn="l">
              <a:buNone/>
            </a:pPr>
            <a:r>
              <a:rPr lang="en-US" sz="1020" dirty="0">
                <a:solidFill>
                  <a:srgbClr val="3E4A5B"/>
                </a:solidFill>
              </a:rPr>
              <a:t>Median gần như bằng nhau → phần lớn frame không chậm hơn.</a:t>
            </a:r>
            <a:endParaRPr lang="en-US" sz="1020" dirty="0"/>
          </a:p>
        </p:txBody>
      </p:sp>
      <p:sp>
        <p:nvSpPr>
          <p:cNvPr id="105" name="Shape 50">
            <a:extLst>
              <a:ext uri="{FF2B5EF4-FFF2-40B4-BE49-F238E27FC236}">
                <a16:creationId xmlns:a16="http://schemas.microsoft.com/office/drawing/2014/main" id="{F0AA64D6-1F31-6A05-A428-7686EAA2E1BE}"/>
              </a:ext>
            </a:extLst>
          </p:cNvPr>
          <p:cNvSpPr/>
          <p:nvPr/>
        </p:nvSpPr>
        <p:spPr>
          <a:xfrm>
            <a:off x="653372" y="4944872"/>
            <a:ext cx="3446484" cy="965448"/>
          </a:xfrm>
          <a:prstGeom prst="rect">
            <a:avLst/>
          </a:prstGeom>
          <a:solidFill>
            <a:srgbClr val="F6F8FC"/>
          </a:solidFill>
          <a:ln w="8890">
            <a:solidFill>
              <a:srgbClr val="DDE3EC"/>
            </a:solidFill>
            <a:prstDash val="solid"/>
          </a:ln>
        </p:spPr>
      </p:sp>
      <p:sp>
        <p:nvSpPr>
          <p:cNvPr id="107" name="Text 51">
            <a:extLst>
              <a:ext uri="{FF2B5EF4-FFF2-40B4-BE49-F238E27FC236}">
                <a16:creationId xmlns:a16="http://schemas.microsoft.com/office/drawing/2014/main" id="{A040199F-39A8-F03E-1242-F5882D6CD891}"/>
              </a:ext>
            </a:extLst>
          </p:cNvPr>
          <p:cNvSpPr/>
          <p:nvPr/>
        </p:nvSpPr>
        <p:spPr>
          <a:xfrm>
            <a:off x="726520" y="4889500"/>
            <a:ext cx="3268601" cy="712216"/>
          </a:xfrm>
          <a:prstGeom prst="rect">
            <a:avLst/>
          </a:prstGeom>
          <a:noFill/>
          <a:ln/>
        </p:spPr>
        <p:txBody>
          <a:bodyPr wrap="square" lIns="0" tIns="0" rIns="0" bIns="0" rtlCol="0" anchor="ctr">
            <a:normAutofit/>
          </a:bodyPr>
          <a:lstStyle/>
          <a:p>
            <a:pPr marL="0" indent="0" algn="l">
              <a:buNone/>
            </a:pPr>
            <a:r>
              <a:rPr lang="en-US" sz="1600" b="1" dirty="0">
                <a:solidFill>
                  <a:srgbClr val="243043"/>
                </a:solidFill>
              </a:rPr>
              <a:t>Ego p95 / max</a:t>
            </a:r>
            <a:endParaRPr lang="en-US" sz="1600" dirty="0"/>
          </a:p>
        </p:txBody>
      </p:sp>
      <p:sp>
        <p:nvSpPr>
          <p:cNvPr id="109" name="Shape 52">
            <a:extLst>
              <a:ext uri="{FF2B5EF4-FFF2-40B4-BE49-F238E27FC236}">
                <a16:creationId xmlns:a16="http://schemas.microsoft.com/office/drawing/2014/main" id="{F8160DC8-AB33-8F4B-4967-182C55F4CD37}"/>
              </a:ext>
            </a:extLst>
          </p:cNvPr>
          <p:cNvSpPr/>
          <p:nvPr/>
        </p:nvSpPr>
        <p:spPr>
          <a:xfrm>
            <a:off x="3488012" y="4944872"/>
            <a:ext cx="2501480" cy="965448"/>
          </a:xfrm>
          <a:prstGeom prst="rect">
            <a:avLst/>
          </a:prstGeom>
          <a:solidFill>
            <a:srgbClr val="F6F8FC"/>
          </a:solidFill>
          <a:ln w="8890">
            <a:solidFill>
              <a:srgbClr val="DDE3EC"/>
            </a:solidFill>
            <a:prstDash val="solid"/>
          </a:ln>
        </p:spPr>
      </p:sp>
      <p:sp>
        <p:nvSpPr>
          <p:cNvPr id="111" name="Text 53">
            <a:extLst>
              <a:ext uri="{FF2B5EF4-FFF2-40B4-BE49-F238E27FC236}">
                <a16:creationId xmlns:a16="http://schemas.microsoft.com/office/drawing/2014/main" id="{691B0C5D-84AC-7B3F-F258-CCCF22562E34}"/>
              </a:ext>
            </a:extLst>
          </p:cNvPr>
          <p:cNvSpPr/>
          <p:nvPr/>
        </p:nvSpPr>
        <p:spPr>
          <a:xfrm>
            <a:off x="3561163" y="5018024"/>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182,75 / 187,10 ms</a:t>
            </a:r>
            <a:endParaRPr lang="en-US" sz="1020" dirty="0"/>
          </a:p>
        </p:txBody>
      </p:sp>
      <p:sp>
        <p:nvSpPr>
          <p:cNvPr id="113" name="Shape 54">
            <a:extLst>
              <a:ext uri="{FF2B5EF4-FFF2-40B4-BE49-F238E27FC236}">
                <a16:creationId xmlns:a16="http://schemas.microsoft.com/office/drawing/2014/main" id="{11064AA1-25D6-D979-C6EC-E08F7E46E801}"/>
              </a:ext>
            </a:extLst>
          </p:cNvPr>
          <p:cNvSpPr/>
          <p:nvPr/>
        </p:nvSpPr>
        <p:spPr>
          <a:xfrm>
            <a:off x="5545412" y="4944872"/>
            <a:ext cx="2501480" cy="965448"/>
          </a:xfrm>
          <a:prstGeom prst="rect">
            <a:avLst/>
          </a:prstGeom>
          <a:solidFill>
            <a:srgbClr val="F6F8FC"/>
          </a:solidFill>
          <a:ln w="8890">
            <a:solidFill>
              <a:srgbClr val="DDE3EC"/>
            </a:solidFill>
            <a:prstDash val="solid"/>
          </a:ln>
        </p:spPr>
      </p:sp>
      <p:sp>
        <p:nvSpPr>
          <p:cNvPr id="115" name="Text 55">
            <a:extLst>
              <a:ext uri="{FF2B5EF4-FFF2-40B4-BE49-F238E27FC236}">
                <a16:creationId xmlns:a16="http://schemas.microsoft.com/office/drawing/2014/main" id="{64026E5A-A58D-7D4C-6D6F-E37F342A4A8C}"/>
              </a:ext>
            </a:extLst>
          </p:cNvPr>
          <p:cNvSpPr/>
          <p:nvPr/>
        </p:nvSpPr>
        <p:spPr>
          <a:xfrm>
            <a:off x="5618563" y="5018024"/>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291,83 / 364,37 ms</a:t>
            </a:r>
            <a:endParaRPr lang="en-US" sz="1020" dirty="0"/>
          </a:p>
        </p:txBody>
      </p:sp>
      <p:sp>
        <p:nvSpPr>
          <p:cNvPr id="117" name="Shape 56">
            <a:extLst>
              <a:ext uri="{FF2B5EF4-FFF2-40B4-BE49-F238E27FC236}">
                <a16:creationId xmlns:a16="http://schemas.microsoft.com/office/drawing/2014/main" id="{08A6D2D4-9CCE-6FD9-E807-9CC98F7B0A1D}"/>
              </a:ext>
            </a:extLst>
          </p:cNvPr>
          <p:cNvSpPr/>
          <p:nvPr/>
        </p:nvSpPr>
        <p:spPr>
          <a:xfrm>
            <a:off x="7602812" y="4944872"/>
            <a:ext cx="4891784" cy="965448"/>
          </a:xfrm>
          <a:prstGeom prst="rect">
            <a:avLst/>
          </a:prstGeom>
          <a:solidFill>
            <a:srgbClr val="F6F8FC"/>
          </a:solidFill>
          <a:ln w="8890">
            <a:solidFill>
              <a:srgbClr val="DDE3EC"/>
            </a:solidFill>
            <a:prstDash val="solid"/>
          </a:ln>
        </p:spPr>
      </p:sp>
      <p:sp>
        <p:nvSpPr>
          <p:cNvPr id="119" name="Text 57">
            <a:extLst>
              <a:ext uri="{FF2B5EF4-FFF2-40B4-BE49-F238E27FC236}">
                <a16:creationId xmlns:a16="http://schemas.microsoft.com/office/drawing/2014/main" id="{3D05CDC8-3B91-6DB6-0414-B137113A774C}"/>
              </a:ext>
            </a:extLst>
          </p:cNvPr>
          <p:cNvSpPr/>
          <p:nvPr/>
        </p:nvSpPr>
        <p:spPr>
          <a:xfrm>
            <a:off x="7675963" y="5018024"/>
            <a:ext cx="4713901" cy="712216"/>
          </a:xfrm>
          <a:prstGeom prst="rect">
            <a:avLst/>
          </a:prstGeom>
          <a:noFill/>
          <a:ln/>
        </p:spPr>
        <p:txBody>
          <a:bodyPr wrap="square" lIns="0" tIns="0" rIns="0" bIns="0" rtlCol="0" anchor="ctr">
            <a:normAutofit/>
          </a:bodyPr>
          <a:lstStyle/>
          <a:p>
            <a:pPr marL="0" indent="0" algn="l">
              <a:buNone/>
            </a:pPr>
            <a:r>
              <a:rPr lang="en-US" sz="1020" dirty="0">
                <a:solidFill>
                  <a:srgbClr val="3E4A5B"/>
                </a:solidFill>
              </a:rPr>
              <a:t>V3 có tail latency/outlier rõ hơn.</a:t>
            </a:r>
            <a:endParaRPr lang="en-US" sz="1020" dirty="0"/>
          </a:p>
        </p:txBody>
      </p:sp>
      <p:sp>
        <p:nvSpPr>
          <p:cNvPr id="121" name="Shape 58">
            <a:extLst>
              <a:ext uri="{FF2B5EF4-FFF2-40B4-BE49-F238E27FC236}">
                <a16:creationId xmlns:a16="http://schemas.microsoft.com/office/drawing/2014/main" id="{CC351E94-CD91-829C-3FA5-AF429234DA98}"/>
              </a:ext>
            </a:extLst>
          </p:cNvPr>
          <p:cNvSpPr/>
          <p:nvPr/>
        </p:nvSpPr>
        <p:spPr>
          <a:xfrm>
            <a:off x="653372" y="5502656"/>
            <a:ext cx="3446484" cy="965448"/>
          </a:xfrm>
          <a:prstGeom prst="rect">
            <a:avLst/>
          </a:prstGeom>
          <a:solidFill>
            <a:srgbClr val="FFFFFF"/>
          </a:solidFill>
          <a:ln w="8890">
            <a:solidFill>
              <a:srgbClr val="DDE3EC"/>
            </a:solidFill>
            <a:prstDash val="solid"/>
          </a:ln>
        </p:spPr>
      </p:sp>
      <p:sp>
        <p:nvSpPr>
          <p:cNvPr id="123" name="Text 59">
            <a:extLst>
              <a:ext uri="{FF2B5EF4-FFF2-40B4-BE49-F238E27FC236}">
                <a16:creationId xmlns:a16="http://schemas.microsoft.com/office/drawing/2014/main" id="{0DB9B80D-CF93-2EEF-DEF5-B610E8E86667}"/>
              </a:ext>
            </a:extLst>
          </p:cNvPr>
          <p:cNvSpPr/>
          <p:nvPr/>
        </p:nvSpPr>
        <p:spPr>
          <a:xfrm>
            <a:off x="726519" y="5423353"/>
            <a:ext cx="3268601" cy="712216"/>
          </a:xfrm>
          <a:prstGeom prst="rect">
            <a:avLst/>
          </a:prstGeom>
          <a:noFill/>
          <a:ln/>
        </p:spPr>
        <p:txBody>
          <a:bodyPr wrap="square" lIns="0" tIns="0" rIns="0" bIns="0" rtlCol="0" anchor="ctr">
            <a:normAutofit/>
          </a:bodyPr>
          <a:lstStyle/>
          <a:p>
            <a:pPr marL="0" indent="0" algn="l">
              <a:buNone/>
            </a:pPr>
            <a:r>
              <a:rPr lang="en-US" sz="1600" b="1" dirty="0">
                <a:solidFill>
                  <a:srgbClr val="243043"/>
                </a:solidFill>
              </a:rPr>
              <a:t>End-to-end offline</a:t>
            </a:r>
            <a:endParaRPr lang="en-US" sz="1600" dirty="0"/>
          </a:p>
        </p:txBody>
      </p:sp>
      <p:sp>
        <p:nvSpPr>
          <p:cNvPr id="125" name="Shape 60">
            <a:extLst>
              <a:ext uri="{FF2B5EF4-FFF2-40B4-BE49-F238E27FC236}">
                <a16:creationId xmlns:a16="http://schemas.microsoft.com/office/drawing/2014/main" id="{145D4274-A095-9A81-8DD5-BDCE08E7A2DF}"/>
              </a:ext>
            </a:extLst>
          </p:cNvPr>
          <p:cNvSpPr/>
          <p:nvPr/>
        </p:nvSpPr>
        <p:spPr>
          <a:xfrm>
            <a:off x="3488012" y="5502656"/>
            <a:ext cx="2501480" cy="965448"/>
          </a:xfrm>
          <a:prstGeom prst="rect">
            <a:avLst/>
          </a:prstGeom>
          <a:solidFill>
            <a:srgbClr val="FFFFFF"/>
          </a:solidFill>
          <a:ln w="8890">
            <a:solidFill>
              <a:srgbClr val="DDE3EC"/>
            </a:solidFill>
            <a:prstDash val="solid"/>
          </a:ln>
        </p:spPr>
      </p:sp>
      <p:sp>
        <p:nvSpPr>
          <p:cNvPr id="127" name="Text 61">
            <a:extLst>
              <a:ext uri="{FF2B5EF4-FFF2-40B4-BE49-F238E27FC236}">
                <a16:creationId xmlns:a16="http://schemas.microsoft.com/office/drawing/2014/main" id="{8B5F1FA8-1D83-566B-DB63-52F845C04BA7}"/>
              </a:ext>
            </a:extLst>
          </p:cNvPr>
          <p:cNvSpPr/>
          <p:nvPr/>
        </p:nvSpPr>
        <p:spPr>
          <a:xfrm>
            <a:off x="3561163" y="5575808"/>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 2,04 FPS</a:t>
            </a:r>
            <a:endParaRPr lang="en-US" sz="1020" dirty="0"/>
          </a:p>
        </p:txBody>
      </p:sp>
      <p:sp>
        <p:nvSpPr>
          <p:cNvPr id="129" name="Shape 62">
            <a:extLst>
              <a:ext uri="{FF2B5EF4-FFF2-40B4-BE49-F238E27FC236}">
                <a16:creationId xmlns:a16="http://schemas.microsoft.com/office/drawing/2014/main" id="{521F0C6C-FF98-D4B7-57AA-517AF8AF0CBD}"/>
              </a:ext>
            </a:extLst>
          </p:cNvPr>
          <p:cNvSpPr/>
          <p:nvPr/>
        </p:nvSpPr>
        <p:spPr>
          <a:xfrm>
            <a:off x="5545412" y="5502656"/>
            <a:ext cx="2501480" cy="965448"/>
          </a:xfrm>
          <a:prstGeom prst="rect">
            <a:avLst/>
          </a:prstGeom>
          <a:solidFill>
            <a:srgbClr val="FFFFFF"/>
          </a:solidFill>
          <a:ln w="8890">
            <a:solidFill>
              <a:srgbClr val="DDE3EC"/>
            </a:solidFill>
            <a:prstDash val="solid"/>
          </a:ln>
        </p:spPr>
      </p:sp>
      <p:sp>
        <p:nvSpPr>
          <p:cNvPr id="131" name="Text 63">
            <a:extLst>
              <a:ext uri="{FF2B5EF4-FFF2-40B4-BE49-F238E27FC236}">
                <a16:creationId xmlns:a16="http://schemas.microsoft.com/office/drawing/2014/main" id="{07BB3392-8258-23DF-77AD-C29FC28B74C5}"/>
              </a:ext>
            </a:extLst>
          </p:cNvPr>
          <p:cNvSpPr/>
          <p:nvPr/>
        </p:nvSpPr>
        <p:spPr>
          <a:xfrm>
            <a:off x="5618563" y="5575808"/>
            <a:ext cx="2323597" cy="712216"/>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 1,57 FPS</a:t>
            </a:r>
            <a:endParaRPr lang="en-US" sz="1020" dirty="0"/>
          </a:p>
        </p:txBody>
      </p:sp>
      <p:sp>
        <p:nvSpPr>
          <p:cNvPr id="133" name="Shape 64">
            <a:extLst>
              <a:ext uri="{FF2B5EF4-FFF2-40B4-BE49-F238E27FC236}">
                <a16:creationId xmlns:a16="http://schemas.microsoft.com/office/drawing/2014/main" id="{172FA18A-EE55-911C-37F1-358A5D983BE0}"/>
              </a:ext>
            </a:extLst>
          </p:cNvPr>
          <p:cNvSpPr/>
          <p:nvPr/>
        </p:nvSpPr>
        <p:spPr>
          <a:xfrm>
            <a:off x="7602812" y="5502656"/>
            <a:ext cx="4891784" cy="965448"/>
          </a:xfrm>
          <a:prstGeom prst="rect">
            <a:avLst/>
          </a:prstGeom>
          <a:solidFill>
            <a:srgbClr val="FFFFFF"/>
          </a:solidFill>
          <a:ln w="8890">
            <a:solidFill>
              <a:srgbClr val="DDE3EC"/>
            </a:solidFill>
            <a:prstDash val="solid"/>
          </a:ln>
        </p:spPr>
      </p:sp>
      <p:sp>
        <p:nvSpPr>
          <p:cNvPr id="135" name="Text 65">
            <a:extLst>
              <a:ext uri="{FF2B5EF4-FFF2-40B4-BE49-F238E27FC236}">
                <a16:creationId xmlns:a16="http://schemas.microsoft.com/office/drawing/2014/main" id="{60992A1A-C282-CFC0-B65D-21DE38CBF881}"/>
              </a:ext>
            </a:extLst>
          </p:cNvPr>
          <p:cNvSpPr/>
          <p:nvPr/>
        </p:nvSpPr>
        <p:spPr>
          <a:xfrm>
            <a:off x="7675961" y="5505658"/>
            <a:ext cx="4713901" cy="712216"/>
          </a:xfrm>
          <a:prstGeom prst="rect">
            <a:avLst/>
          </a:prstGeom>
          <a:noFill/>
          <a:ln/>
        </p:spPr>
        <p:txBody>
          <a:bodyPr wrap="square" lIns="0" tIns="0" rIns="0" bIns="0" rtlCol="0" anchor="ctr">
            <a:normAutofit/>
          </a:bodyPr>
          <a:lstStyle/>
          <a:p>
            <a:pPr marL="0" indent="0" algn="l">
              <a:buNone/>
            </a:pPr>
            <a:r>
              <a:rPr lang="en-US" sz="1020" dirty="0">
                <a:solidFill>
                  <a:srgbClr val="3E4A5B"/>
                </a:solidFill>
              </a:rPr>
              <a:t>Bao gồm decode, overlay, inverse projection và ghi video — chưa phải realtime production.</a:t>
            </a:r>
            <a:endParaRPr lang="en-US" sz="1020" dirty="0"/>
          </a:p>
        </p:txBody>
      </p:sp>
      <p:sp>
        <p:nvSpPr>
          <p:cNvPr id="137" name="Shape 66">
            <a:extLst>
              <a:ext uri="{FF2B5EF4-FFF2-40B4-BE49-F238E27FC236}">
                <a16:creationId xmlns:a16="http://schemas.microsoft.com/office/drawing/2014/main" id="{46FEA3A6-5741-08B6-A6C3-3D439DD7D9B2}"/>
              </a:ext>
            </a:extLst>
          </p:cNvPr>
          <p:cNvSpPr/>
          <p:nvPr/>
        </p:nvSpPr>
        <p:spPr>
          <a:xfrm>
            <a:off x="653372" y="6060439"/>
            <a:ext cx="3446484" cy="1022773"/>
          </a:xfrm>
          <a:prstGeom prst="rect">
            <a:avLst/>
          </a:prstGeom>
          <a:solidFill>
            <a:srgbClr val="F6F8FC"/>
          </a:solidFill>
          <a:ln w="8890">
            <a:solidFill>
              <a:srgbClr val="DDE3EC"/>
            </a:solidFill>
            <a:prstDash val="solid"/>
          </a:ln>
        </p:spPr>
      </p:sp>
      <p:sp>
        <p:nvSpPr>
          <p:cNvPr id="139" name="Text 67">
            <a:extLst>
              <a:ext uri="{FF2B5EF4-FFF2-40B4-BE49-F238E27FC236}">
                <a16:creationId xmlns:a16="http://schemas.microsoft.com/office/drawing/2014/main" id="{C0C14F67-2AF4-0BCF-30A5-D8EE4581D155}"/>
              </a:ext>
            </a:extLst>
          </p:cNvPr>
          <p:cNvSpPr/>
          <p:nvPr/>
        </p:nvSpPr>
        <p:spPr>
          <a:xfrm>
            <a:off x="726518" y="6066445"/>
            <a:ext cx="3268601" cy="949621"/>
          </a:xfrm>
          <a:prstGeom prst="rect">
            <a:avLst/>
          </a:prstGeom>
          <a:noFill/>
          <a:ln/>
        </p:spPr>
        <p:txBody>
          <a:bodyPr wrap="square" lIns="0" tIns="0" rIns="0" bIns="0" rtlCol="0" anchor="ctr">
            <a:normAutofit/>
          </a:bodyPr>
          <a:lstStyle/>
          <a:p>
            <a:pPr marL="0" indent="0" algn="l">
              <a:buNone/>
            </a:pPr>
            <a:r>
              <a:rPr lang="en-US" sz="1600" b="1" dirty="0">
                <a:solidFill>
                  <a:srgbClr val="243043"/>
                </a:solidFill>
              </a:rPr>
              <a:t>Perception định tính</a:t>
            </a:r>
            <a:endParaRPr lang="en-US" sz="1600" dirty="0"/>
          </a:p>
        </p:txBody>
      </p:sp>
      <p:sp>
        <p:nvSpPr>
          <p:cNvPr id="141" name="Shape 68">
            <a:extLst>
              <a:ext uri="{FF2B5EF4-FFF2-40B4-BE49-F238E27FC236}">
                <a16:creationId xmlns:a16="http://schemas.microsoft.com/office/drawing/2014/main" id="{3E2B5AE5-CE21-889F-4CA4-41492D3860C4}"/>
              </a:ext>
            </a:extLst>
          </p:cNvPr>
          <p:cNvSpPr/>
          <p:nvPr/>
        </p:nvSpPr>
        <p:spPr>
          <a:xfrm>
            <a:off x="3488012" y="6060439"/>
            <a:ext cx="2501480" cy="1022773"/>
          </a:xfrm>
          <a:prstGeom prst="rect">
            <a:avLst/>
          </a:prstGeom>
          <a:solidFill>
            <a:srgbClr val="F6F8FC"/>
          </a:solidFill>
          <a:ln w="8890">
            <a:solidFill>
              <a:srgbClr val="DDE3EC"/>
            </a:solidFill>
            <a:prstDash val="solid"/>
          </a:ln>
        </p:spPr>
      </p:sp>
      <p:sp>
        <p:nvSpPr>
          <p:cNvPr id="143" name="Text 69">
            <a:extLst>
              <a:ext uri="{FF2B5EF4-FFF2-40B4-BE49-F238E27FC236}">
                <a16:creationId xmlns:a16="http://schemas.microsoft.com/office/drawing/2014/main" id="{90DAFA02-5FAC-8CC2-C4D9-1DE23D8371EF}"/>
              </a:ext>
            </a:extLst>
          </p:cNvPr>
          <p:cNvSpPr/>
          <p:nvPr/>
        </p:nvSpPr>
        <p:spPr>
          <a:xfrm>
            <a:off x="3561163" y="6133591"/>
            <a:ext cx="2323597" cy="949621"/>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DA tốt; path ổn trong đoạn test</a:t>
            </a:r>
            <a:endParaRPr lang="en-US" sz="1020" dirty="0"/>
          </a:p>
        </p:txBody>
      </p:sp>
      <p:sp>
        <p:nvSpPr>
          <p:cNvPr id="145" name="Shape 70">
            <a:extLst>
              <a:ext uri="{FF2B5EF4-FFF2-40B4-BE49-F238E27FC236}">
                <a16:creationId xmlns:a16="http://schemas.microsoft.com/office/drawing/2014/main" id="{A2B6A07F-ADEB-FAB9-A820-07D2A1E2AFCB}"/>
              </a:ext>
            </a:extLst>
          </p:cNvPr>
          <p:cNvSpPr/>
          <p:nvPr/>
        </p:nvSpPr>
        <p:spPr>
          <a:xfrm>
            <a:off x="5545412" y="6060439"/>
            <a:ext cx="2501480" cy="1022773"/>
          </a:xfrm>
          <a:prstGeom prst="rect">
            <a:avLst/>
          </a:prstGeom>
          <a:solidFill>
            <a:srgbClr val="F6F8FC"/>
          </a:solidFill>
          <a:ln w="8890">
            <a:solidFill>
              <a:srgbClr val="DDE3EC"/>
            </a:solidFill>
            <a:prstDash val="solid"/>
          </a:ln>
        </p:spPr>
      </p:sp>
      <p:sp>
        <p:nvSpPr>
          <p:cNvPr id="147" name="Text 71">
            <a:extLst>
              <a:ext uri="{FF2B5EF4-FFF2-40B4-BE49-F238E27FC236}">
                <a16:creationId xmlns:a16="http://schemas.microsoft.com/office/drawing/2014/main" id="{9412B815-76FF-5EE4-64B6-0D0616A0FA0F}"/>
              </a:ext>
            </a:extLst>
          </p:cNvPr>
          <p:cNvSpPr/>
          <p:nvPr/>
        </p:nvSpPr>
        <p:spPr>
          <a:xfrm>
            <a:off x="5440675" y="6143412"/>
            <a:ext cx="2323597" cy="949621"/>
          </a:xfrm>
          <a:prstGeom prst="rect">
            <a:avLst/>
          </a:prstGeom>
          <a:noFill/>
          <a:ln/>
        </p:spPr>
        <p:txBody>
          <a:bodyPr wrap="square" lIns="0" tIns="0" rIns="0" bIns="0" rtlCol="0" anchor="ctr">
            <a:normAutofit/>
          </a:bodyPr>
          <a:lstStyle/>
          <a:p>
            <a:pPr marL="0" indent="0" algn="ctr">
              <a:buNone/>
            </a:pPr>
            <a:r>
              <a:rPr lang="en-US" sz="1020" dirty="0">
                <a:solidFill>
                  <a:srgbClr val="243043"/>
                </a:solidFill>
              </a:rPr>
              <a:t>DA tốt gần–trung bình; ô tô xa </a:t>
            </a:r>
            <a:r>
              <a:rPr lang="en-US" sz="1020" dirty="0" err="1">
                <a:solidFill>
                  <a:srgbClr val="243043"/>
                </a:solidFill>
              </a:rPr>
              <a:t>tốt</a:t>
            </a:r>
            <a:endParaRPr lang="en-US" sz="1020" dirty="0">
              <a:solidFill>
                <a:srgbClr val="243043"/>
              </a:solidFill>
            </a:endParaRPr>
          </a:p>
          <a:p>
            <a:pPr marL="0" indent="0">
              <a:buNone/>
            </a:pPr>
            <a:r>
              <a:rPr lang="en-US" sz="1020" dirty="0">
                <a:solidFill>
                  <a:srgbClr val="243043"/>
                </a:solidFill>
              </a:rPr>
              <a:t>          </a:t>
            </a:r>
            <a:r>
              <a:rPr lang="en-US" sz="1020" dirty="0" err="1">
                <a:solidFill>
                  <a:srgbClr val="243043"/>
                </a:solidFill>
              </a:rPr>
              <a:t>có</a:t>
            </a:r>
            <a:r>
              <a:rPr lang="en-US" sz="1020" dirty="0">
                <a:solidFill>
                  <a:srgbClr val="243043"/>
                </a:solidFill>
              </a:rPr>
              <a:t> false positive</a:t>
            </a:r>
            <a:endParaRPr lang="en-US" sz="1020" dirty="0"/>
          </a:p>
        </p:txBody>
      </p:sp>
      <p:sp>
        <p:nvSpPr>
          <p:cNvPr id="149" name="Shape 72">
            <a:extLst>
              <a:ext uri="{FF2B5EF4-FFF2-40B4-BE49-F238E27FC236}">
                <a16:creationId xmlns:a16="http://schemas.microsoft.com/office/drawing/2014/main" id="{0349944F-6A60-7812-9634-3D9C07762FEE}"/>
              </a:ext>
            </a:extLst>
          </p:cNvPr>
          <p:cNvSpPr/>
          <p:nvPr/>
        </p:nvSpPr>
        <p:spPr>
          <a:xfrm>
            <a:off x="7602812" y="6060439"/>
            <a:ext cx="4891784" cy="1022773"/>
          </a:xfrm>
          <a:prstGeom prst="rect">
            <a:avLst/>
          </a:prstGeom>
          <a:solidFill>
            <a:srgbClr val="F6F8FC"/>
          </a:solidFill>
          <a:ln w="8890">
            <a:solidFill>
              <a:srgbClr val="DDE3EC"/>
            </a:solidFill>
            <a:prstDash val="solid"/>
          </a:ln>
        </p:spPr>
      </p:sp>
      <p:sp>
        <p:nvSpPr>
          <p:cNvPr id="151" name="Text 73">
            <a:extLst>
              <a:ext uri="{FF2B5EF4-FFF2-40B4-BE49-F238E27FC236}">
                <a16:creationId xmlns:a16="http://schemas.microsoft.com/office/drawing/2014/main" id="{F228EA39-742F-D3ED-A12D-8E385DFBDAF1}"/>
              </a:ext>
            </a:extLst>
          </p:cNvPr>
          <p:cNvSpPr/>
          <p:nvPr/>
        </p:nvSpPr>
        <p:spPr>
          <a:xfrm>
            <a:off x="7675963" y="6133591"/>
            <a:ext cx="4713901" cy="949621"/>
          </a:xfrm>
          <a:prstGeom prst="rect">
            <a:avLst/>
          </a:prstGeom>
          <a:noFill/>
          <a:ln/>
        </p:spPr>
        <p:txBody>
          <a:bodyPr wrap="square" lIns="0" tIns="0" rIns="0" bIns="0" rtlCol="0" anchor="ctr">
            <a:normAutofit/>
          </a:bodyPr>
          <a:lstStyle/>
          <a:p>
            <a:pPr marL="0" indent="0" algn="l">
              <a:buNone/>
            </a:pPr>
            <a:r>
              <a:rPr lang="en-US" sz="1020" dirty="0">
                <a:solidFill>
                  <a:srgbClr val="3E4A5B"/>
                </a:solidFill>
              </a:rPr>
              <a:t>Giữ DA làm nguồn chính cho Virtual Ego; detector/lane chỉ là cue bổ sung.</a:t>
            </a:r>
            <a:endParaRPr lang="en-US" sz="1020" dirty="0"/>
          </a:p>
        </p:txBody>
      </p:sp>
    </p:spTree>
    <p:extLst>
      <p:ext uri="{BB962C8B-B14F-4D97-AF65-F5344CB8AC3E}">
        <p14:creationId xmlns:p14="http://schemas.microsoft.com/office/powerpoint/2010/main" val="28565413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43934" y="667978"/>
            <a:ext cx="14630400" cy="1813644"/>
          </a:xfrm>
          <a:prstGeom prst="rect">
            <a:avLst/>
          </a:prstGeom>
        </p:spPr>
      </p:pic>
      <p:pic>
        <p:nvPicPr>
          <p:cNvPr id="4" name="Picture 3"/>
          <p:cNvPicPr>
            <a:picLocks noChangeAspect="1"/>
          </p:cNvPicPr>
          <p:nvPr/>
        </p:nvPicPr>
        <p:blipFill>
          <a:blip r:embed="rId3"/>
          <a:stretch>
            <a:fillRect/>
          </a:stretch>
        </p:blipFill>
        <p:spPr>
          <a:xfrm>
            <a:off x="2761498" y="2588835"/>
            <a:ext cx="8819535" cy="4451062"/>
          </a:xfrm>
          <a:prstGeom prst="rect">
            <a:avLst/>
          </a:prstGeom>
        </p:spPr>
      </p:pic>
      <p:pic>
        <p:nvPicPr>
          <p:cNvPr id="2" name="Picture 1"/>
          <p:cNvPicPr>
            <a:picLocks noChangeAspect="1"/>
          </p:cNvPicPr>
          <p:nvPr/>
        </p:nvPicPr>
        <p:blipFill>
          <a:blip r:embed="rId4"/>
          <a:stretch>
            <a:fillRect/>
          </a:stretch>
        </p:blipFill>
        <p:spPr>
          <a:xfrm>
            <a:off x="11305711" y="7457967"/>
            <a:ext cx="3324689" cy="77163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wrap="square" lIns="0" tIns="0" rIns="0" bIns="0" rtlCol="0" anchor="t"/>
      <a:lstStyle>
        <a:defPPr marL="0" indent="0" algn="l">
          <a:lnSpc>
            <a:spcPts val="2900"/>
          </a:lnSpc>
          <a:buNone/>
          <a:defRPr sz="235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803</Words>
  <Application>Microsoft Office PowerPoint</Application>
  <PresentationFormat>Custom</PresentationFormat>
  <Paragraphs>85</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Times New Roman</vt:lpstr>
      <vt:lpstr>Aptos Display</vt:lpstr>
      <vt:lpstr>Barlow Bold</vt:lpstr>
      <vt:lpstr>Calibri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90</cp:revision>
  <dcterms:created xsi:type="dcterms:W3CDTF">2025-05-04T11:10:00Z</dcterms:created>
  <dcterms:modified xsi:type="dcterms:W3CDTF">2026-09-02T04:46:20Z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D2FC05807171450EA8D4AD282E70E19C_13</vt:lpwstr>
  </property>
</Properties>
</file>