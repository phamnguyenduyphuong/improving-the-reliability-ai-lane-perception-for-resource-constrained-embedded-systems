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6"/>
  </p:notesMasterIdLst>
  <p:sldIdLst>
    <p:sldId id="256" r:id="rId2"/>
    <p:sldId id="277" r:id="rId3"/>
    <p:sldId id="305" r:id="rId4"/>
    <p:sldId id="306" r:id="rId5"/>
    <p:sldId id="307" r:id="rId6"/>
    <p:sldId id="308" r:id="rId7"/>
    <p:sldId id="309" r:id="rId8"/>
    <p:sldId id="310" r:id="rId9"/>
    <p:sldId id="311" r:id="rId10"/>
    <p:sldId id="312" r:id="rId11"/>
    <p:sldId id="313" r:id="rId12"/>
    <p:sldId id="314" r:id="rId13"/>
    <p:sldId id="315" r:id="rId14"/>
    <p:sldId id="316" r:id="rId15"/>
    <p:sldId id="317" r:id="rId16"/>
    <p:sldId id="318" r:id="rId17"/>
    <p:sldId id="319" r:id="rId18"/>
    <p:sldId id="320" r:id="rId19"/>
    <p:sldId id="321" r:id="rId20"/>
    <p:sldId id="322" r:id="rId21"/>
    <p:sldId id="323" r:id="rId22"/>
    <p:sldId id="324" r:id="rId23"/>
    <p:sldId id="325" r:id="rId24"/>
    <p:sldId id="328" r:id="rId25"/>
    <p:sldId id="329" r:id="rId26"/>
    <p:sldId id="330" r:id="rId27"/>
    <p:sldId id="335" r:id="rId28"/>
    <p:sldId id="331" r:id="rId29"/>
    <p:sldId id="332" r:id="rId30"/>
    <p:sldId id="333" r:id="rId31"/>
    <p:sldId id="326" r:id="rId32"/>
    <p:sldId id="327" r:id="rId33"/>
    <p:sldId id="334" r:id="rId34"/>
    <p:sldId id="264" r:id="rId35"/>
  </p:sldIdLst>
  <p:sldSz cx="14630400" cy="8229600"/>
  <p:notesSz cx="8229600" cy="14630400"/>
  <p:embeddedFontLst>
    <p:embeddedFont>
      <p:font typeface="Barlow Bold" panose="020B0604020202020204" charset="0"/>
      <p:bold r:id="rId37"/>
    </p:embeddedFont>
    <p:embeddedFont>
      <p:font typeface="Cambria Math" panose="02040503050406030204" pitchFamily="18" charset="0"/>
      <p:regular r:id="rId38"/>
    </p:embeddedFont>
    <p:embeddedFont>
      <p:font typeface="Montserrat" panose="00000500000000000000" pitchFamily="2" charset="0"/>
      <p:regular r:id="rId39"/>
      <p:bold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F4F"/>
    <a:srgbClr val="FF5353"/>
    <a:srgbClr val="FF9933"/>
    <a:srgbClr val="FF0000"/>
    <a:srgbClr val="F09456"/>
    <a:srgbClr val="FAFFFA"/>
    <a:srgbClr val="7AB850"/>
    <a:srgbClr val="BDD7EE"/>
    <a:srgbClr val="D4E9F7"/>
    <a:srgbClr val="6F83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46" autoAdjust="0"/>
    <p:restoredTop sz="94610"/>
  </p:normalViewPr>
  <p:slideViewPr>
    <p:cSldViewPr snapToGrid="0" snapToObjects="1">
      <p:cViewPr varScale="1">
        <p:scale>
          <a:sx n="90" d="100"/>
          <a:sy n="90" d="100"/>
        </p:scale>
        <p:origin x="32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p:spPr>
      </p:sp>
      <p:sp>
        <p:nvSpPr>
          <p:cNvPr id="3" name="Shape 1"/>
          <p:cNvSpPr/>
          <p:nvPr/>
        </p:nvSpPr>
        <p:spPr>
          <a:xfrm>
            <a:off x="0" y="0"/>
            <a:ext cx="14630400" cy="8229600"/>
          </a:xfrm>
          <a:prstGeom prst="rect">
            <a:avLst/>
          </a:prstGeom>
          <a:solidFill>
            <a:srgbClr val="FAFFFA"/>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6.png"/><Relationship Id="rId7"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9.pn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22.png"/><Relationship Id="rId5" Type="http://schemas.openxmlformats.org/officeDocument/2006/relationships/image" Target="../media/image9.png"/><Relationship Id="rId10" Type="http://schemas.openxmlformats.org/officeDocument/2006/relationships/image" Target="../media/image21.png"/><Relationship Id="rId4" Type="http://schemas.openxmlformats.org/officeDocument/2006/relationships/image" Target="../media/image8.jpg"/><Relationship Id="rId9"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8.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8.jpg"/><Relationship Id="rId7"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9.png"/><Relationship Id="rId9"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8.jpg"/><Relationship Id="rId7" Type="http://schemas.openxmlformats.org/officeDocument/2006/relationships/image" Target="../media/image38.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47.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3.xml"/><Relationship Id="rId5" Type="http://schemas.openxmlformats.org/officeDocument/2006/relationships/image" Target="../media/image48.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8.jpg"/><Relationship Id="rId4" Type="http://schemas.openxmlformats.org/officeDocument/2006/relationships/image" Target="../media/image50.png"/></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2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52.png"/><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8.jp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29.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8.jp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57.png"/><Relationship Id="rId5" Type="http://schemas.openxmlformats.org/officeDocument/2006/relationships/image" Target="../media/image58.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60.png"/><Relationship Id="rId5" Type="http://schemas.openxmlformats.org/officeDocument/2006/relationships/image" Target="../media/image9.png"/><Relationship Id="rId4" Type="http://schemas.openxmlformats.org/officeDocument/2006/relationships/image" Target="../media/image8.jpg"/></Relationships>
</file>

<file path=ppt/slides/_rels/slide3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8.jpg"/><Relationship Id="rId9" Type="http://schemas.openxmlformats.org/officeDocument/2006/relationships/image" Target="../media/image62.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63.png"/><Relationship Id="rId4" Type="http://schemas.openxmlformats.org/officeDocument/2006/relationships/image" Target="../media/image8.jpg"/></Relationships>
</file>

<file path=ppt/slides/_rels/slide3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9.xml"/><Relationship Id="rId4" Type="http://schemas.openxmlformats.org/officeDocument/2006/relationships/image" Target="../media/image6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Text 1"/>
          <p:cNvSpPr/>
          <p:nvPr/>
        </p:nvSpPr>
        <p:spPr>
          <a:xfrm>
            <a:off x="6280189" y="1659043"/>
            <a:ext cx="7556421" cy="725805"/>
          </a:xfrm>
          <a:prstGeom prst="rect">
            <a:avLst/>
          </a:prstGeom>
          <a:noFill/>
        </p:spPr>
        <p:txBody>
          <a:bodyPr wrap="square" lIns="0" tIns="0" rIns="0" bIns="0" rtlCol="0" anchor="t"/>
          <a:lstStyle/>
          <a:p>
            <a:pPr marL="0" indent="0" algn="l">
              <a:lnSpc>
                <a:spcPts val="2850"/>
              </a:lnSpc>
              <a:buNone/>
            </a:pPr>
            <a:endParaRPr lang="en-US" sz="1750" dirty="0"/>
          </a:p>
        </p:txBody>
      </p:sp>
      <p:sp>
        <p:nvSpPr>
          <p:cNvPr id="5" name="Shape 2"/>
          <p:cNvSpPr/>
          <p:nvPr/>
        </p:nvSpPr>
        <p:spPr>
          <a:xfrm>
            <a:off x="6280190" y="5302568"/>
            <a:ext cx="362903" cy="362903"/>
          </a:xfrm>
          <a:prstGeom prst="roundRect">
            <a:avLst>
              <a:gd name="adj" fmla="val 25194296"/>
            </a:avLst>
          </a:prstGeom>
          <a:noFill/>
          <a:ln w="7620">
            <a:solidFill>
              <a:srgbClr val="FFFFFF"/>
            </a:solidFill>
            <a:prstDash val="solid"/>
          </a:ln>
        </p:spPr>
      </p:sp>
      <p:sp>
        <p:nvSpPr>
          <p:cNvPr id="7" name="Text 3"/>
          <p:cNvSpPr/>
          <p:nvPr/>
        </p:nvSpPr>
        <p:spPr>
          <a:xfrm>
            <a:off x="419236" y="6379640"/>
            <a:ext cx="3279815" cy="396835"/>
          </a:xfrm>
          <a:prstGeom prst="rect">
            <a:avLst/>
          </a:prstGeom>
          <a:noFill/>
        </p:spPr>
        <p:txBody>
          <a:bodyPr wrap="none" lIns="0" tIns="0" rIns="0" bIns="0" rtlCol="0" anchor="t"/>
          <a:lstStyle/>
          <a:p>
            <a:pPr marL="0" indent="0" algn="l">
              <a:lnSpc>
                <a:spcPts val="3100"/>
              </a:lnSpc>
              <a:buNone/>
            </a:pPr>
            <a:endParaRPr lang="en-US" sz="2200" dirty="0"/>
          </a:p>
        </p:txBody>
      </p:sp>
      <p:pic>
        <p:nvPicPr>
          <p:cNvPr id="2" name="Picture 1"/>
          <p:cNvPicPr>
            <a:picLocks noChangeAspect="1"/>
          </p:cNvPicPr>
          <p:nvPr/>
        </p:nvPicPr>
        <p:blipFill>
          <a:blip r:embed="rId3"/>
          <a:stretch>
            <a:fillRect/>
          </a:stretch>
        </p:blipFill>
        <p:spPr>
          <a:xfrm>
            <a:off x="9983122" y="6351582"/>
            <a:ext cx="4524219" cy="1853471"/>
          </a:xfrm>
          <a:prstGeom prst="rect">
            <a:avLst/>
          </a:prstGeom>
          <a:noFill/>
        </p:spPr>
      </p:pic>
      <p:sp>
        <p:nvSpPr>
          <p:cNvPr id="18" name="Text 1"/>
          <p:cNvSpPr/>
          <p:nvPr/>
        </p:nvSpPr>
        <p:spPr>
          <a:xfrm>
            <a:off x="218854" y="4580222"/>
            <a:ext cx="3365897" cy="354330"/>
          </a:xfrm>
          <a:prstGeom prst="rect">
            <a:avLst/>
          </a:prstGeom>
          <a:noFill/>
        </p:spPr>
        <p:txBody>
          <a:bodyPr wrap="none" lIns="0" tIns="0" rIns="0" bIns="0" rtlCol="0" anchor="t"/>
          <a:lstStyle/>
          <a:p>
            <a:pPr>
              <a:lnSpc>
                <a:spcPct val="150000"/>
              </a:lnSpc>
            </a:pPr>
            <a:r>
              <a:rPr lang="vi-VN" sz="2200" b="1" dirty="0">
                <a:solidFill>
                  <a:schemeClr val="tx1">
                    <a:lumMod val="95000"/>
                    <a:lumOff val="5000"/>
                  </a:schemeClr>
                </a:solidFill>
                <a:latin typeface="+mj-lt"/>
                <a:ea typeface="Fraunces Extra Bold" pitchFamily="34" charset="-122"/>
                <a:cs typeface="Fraunces Extra Bold" pitchFamily="34" charset="-120"/>
              </a:rPr>
              <a:t>Sinh viên: Phạm Nguyễn Duy Phương</a:t>
            </a:r>
          </a:p>
          <a:p>
            <a:pPr>
              <a:lnSpc>
                <a:spcPct val="150000"/>
              </a:lnSpc>
            </a:pPr>
            <a:r>
              <a:rPr lang="vi-VN" sz="2200" b="1" dirty="0">
                <a:solidFill>
                  <a:schemeClr val="tx1">
                    <a:lumMod val="95000"/>
                    <a:lumOff val="5000"/>
                  </a:schemeClr>
                </a:solidFill>
                <a:latin typeface="+mj-lt"/>
              </a:rPr>
              <a:t>	     Võ Như Quyết</a:t>
            </a:r>
            <a:endParaRPr lang="en-US" sz="2200" dirty="0">
              <a:solidFill>
                <a:schemeClr val="tx1">
                  <a:lumMod val="95000"/>
                  <a:lumOff val="5000"/>
                </a:schemeClr>
              </a:solidFill>
              <a:latin typeface="+mj-lt"/>
            </a:endParaRPr>
          </a:p>
        </p:txBody>
      </p:sp>
      <p:pic>
        <p:nvPicPr>
          <p:cNvPr id="1040" name="Picture 16" descr="Khoa Điện - Điện tử, Trường Đại học Sư phạm Kỹ thuật Tp.HC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09303" y="24547"/>
            <a:ext cx="1617138" cy="16099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p:cNvGraphicFramePr>
            <a:graphicFrameLocks noGrp="1"/>
          </p:cNvGraphicFramePr>
          <p:nvPr/>
        </p:nvGraphicFramePr>
        <p:xfrm>
          <a:off x="0" y="1963563"/>
          <a:ext cx="14604428" cy="1921189"/>
        </p:xfrm>
        <a:graphic>
          <a:graphicData uri="http://schemas.openxmlformats.org/drawingml/2006/table">
            <a:tbl>
              <a:tblPr firstRow="1" bandRow="1">
                <a:tableStyleId>{FABFCF23-3B69-468F-B69F-88F6DE6A72F2}</a:tableStyleId>
              </a:tblPr>
              <a:tblGrid>
                <a:gridCol w="14604428">
                  <a:extLst>
                    <a:ext uri="{9D8B030D-6E8A-4147-A177-3AD203B41FA5}">
                      <a16:colId xmlns:a16="http://schemas.microsoft.com/office/drawing/2014/main" val="20000"/>
                    </a:ext>
                  </a:extLst>
                </a:gridCol>
              </a:tblGrid>
              <a:tr h="1921189">
                <a:tc>
                  <a:txBody>
                    <a:bodyPr/>
                    <a:lstStyle/>
                    <a:p>
                      <a:endParaRPr lang="en-US" dirty="0"/>
                    </a:p>
                  </a:txBody>
                  <a:tcPr/>
                </a:tc>
                <a:extLst>
                  <a:ext uri="{0D108BD9-81ED-4DB2-BD59-A6C34878D82A}">
                    <a16:rowId xmlns:a16="http://schemas.microsoft.com/office/drawing/2014/main" val="10000"/>
                  </a:ext>
                </a:extLst>
              </a:tr>
            </a:tbl>
          </a:graphicData>
        </a:graphic>
      </p:graphicFrame>
      <p:sp>
        <p:nvSpPr>
          <p:cNvPr id="25" name="Text 0"/>
          <p:cNvSpPr/>
          <p:nvPr/>
        </p:nvSpPr>
        <p:spPr>
          <a:xfrm>
            <a:off x="546537" y="2358498"/>
            <a:ext cx="13118663" cy="362903"/>
          </a:xfrm>
          <a:prstGeom prst="rect">
            <a:avLst/>
          </a:prstGeom>
          <a:noFill/>
        </p:spPr>
        <p:txBody>
          <a:bodyPr wrap="square" lIns="0" tIns="0" rIns="0" bIns="0" rtlCol="0" anchor="t"/>
          <a:lstStyle/>
          <a:p>
            <a:pPr algn="ctr">
              <a:lnSpc>
                <a:spcPct val="100000"/>
              </a:lnSpc>
            </a:pPr>
            <a:r>
              <a:rPr lang="en-US" sz="3600" b="1" dirty="0">
                <a:solidFill>
                  <a:srgbClr val="3B4540"/>
                </a:solidFill>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 </a:t>
            </a:r>
            <a:r>
              <a:rPr lang="en-US" sz="3600" b="1" dirty="0">
                <a:solidFill>
                  <a:srgbClr val="FF5353"/>
                </a:solidFill>
                <a:latin typeface="Times New Roman" panose="02020603050405020304" pitchFamily="18" charset="0"/>
                <a:cs typeface="Times New Roman" panose="02020603050405020304" pitchFamily="18" charset="0"/>
              </a:rPr>
              <a:t>Improving</a:t>
            </a:r>
            <a:r>
              <a:rPr lang="en-US" sz="3600" b="1" dirty="0">
                <a:latin typeface="Times New Roman" panose="02020603050405020304" pitchFamily="18" charset="0"/>
                <a:cs typeface="Times New Roman" panose="02020603050405020304" pitchFamily="18" charset="0"/>
              </a:rPr>
              <a:t> the Reliability of </a:t>
            </a:r>
            <a:r>
              <a:rPr lang="en-US" sz="3600" b="1" dirty="0">
                <a:solidFill>
                  <a:srgbClr val="FF9933"/>
                </a:solidFill>
                <a:latin typeface="Times New Roman" panose="02020603050405020304" pitchFamily="18" charset="0"/>
                <a:cs typeface="Times New Roman" panose="02020603050405020304" pitchFamily="18" charset="0"/>
              </a:rPr>
              <a:t>AI-Based Lane Perception </a:t>
            </a:r>
            <a:r>
              <a:rPr lang="en-US" sz="3600" b="1" dirty="0">
                <a:latin typeface="Times New Roman" panose="02020603050405020304" pitchFamily="18" charset="0"/>
                <a:cs typeface="Times New Roman" panose="02020603050405020304" pitchFamily="18" charset="0"/>
              </a:rPr>
              <a:t>for </a:t>
            </a:r>
            <a:r>
              <a:rPr lang="en-US" sz="3600" b="1" dirty="0">
                <a:solidFill>
                  <a:srgbClr val="FFFF00"/>
                </a:solidFill>
                <a:latin typeface="Times New Roman" panose="02020603050405020304" pitchFamily="18" charset="0"/>
                <a:cs typeface="Times New Roman" panose="02020603050405020304" pitchFamily="18" charset="0"/>
              </a:rPr>
              <a:t>Resource-Constrained Embedded Systems</a:t>
            </a:r>
            <a:endParaRPr lang="en-US" sz="3600" dirty="0">
              <a:solidFill>
                <a:srgbClr val="FFFF00"/>
              </a:solidFill>
              <a:latin typeface="Times New Roman" panose="02020603050405020304" pitchFamily="18" charset="0"/>
              <a:cs typeface="Times New Roman" panose="02020603050405020304" pitchFamily="18" charset="0"/>
            </a:endParaRPr>
          </a:p>
        </p:txBody>
      </p:sp>
      <p:sp>
        <p:nvSpPr>
          <p:cNvPr id="29" name="Text 1"/>
          <p:cNvSpPr/>
          <p:nvPr/>
        </p:nvSpPr>
        <p:spPr>
          <a:xfrm>
            <a:off x="218854" y="5720213"/>
            <a:ext cx="4724402" cy="957720"/>
          </a:xfrm>
          <a:prstGeom prst="rect">
            <a:avLst/>
          </a:prstGeom>
          <a:noFill/>
        </p:spPr>
        <p:txBody>
          <a:bodyPr wrap="none" lIns="0" tIns="0" rIns="0" bIns="0" rtlCol="0" anchor="t"/>
          <a:lstStyle/>
          <a:p>
            <a:pPr>
              <a:lnSpc>
                <a:spcPct val="150000"/>
              </a:lnSpc>
            </a:pP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Nghành học</a:t>
            </a:r>
            <a:r>
              <a:rPr lang="en-US"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a:t>
            </a: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 Công nghệ kỹ thuật</a:t>
            </a:r>
          </a:p>
          <a:p>
            <a:pPr>
              <a:lnSpc>
                <a:spcPct val="150000"/>
              </a:lnSpc>
            </a:pP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điện tử - viễn thông</a:t>
            </a:r>
            <a:endParaRPr lang="en-US" sz="2200" b="1" dirty="0">
              <a:solidFill>
                <a:srgbClr val="3B4540"/>
              </a:solidFill>
              <a:latin typeface="Times New Roman" panose="02020603050405020304" pitchFamily="18" charset="0"/>
              <a:ea typeface="Fraunces Extra Bold" pitchFamily="34" charset="-122"/>
              <a:cs typeface="Times New Roman" panose="02020603050405020304" pitchFamily="18" charset="0"/>
            </a:endParaRPr>
          </a:p>
        </p:txBody>
      </p:sp>
      <p:sp>
        <p:nvSpPr>
          <p:cNvPr id="30" name="Text 1"/>
          <p:cNvSpPr/>
          <p:nvPr/>
        </p:nvSpPr>
        <p:spPr>
          <a:xfrm>
            <a:off x="218854" y="6851696"/>
            <a:ext cx="3365897" cy="35433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Năm học: 2022-2026</a:t>
            </a:r>
            <a:endParaRPr lang="en-US" sz="2200" dirty="0">
              <a:solidFill>
                <a:schemeClr val="tx1">
                  <a:lumMod val="95000"/>
                  <a:lumOff val="5000"/>
                </a:schemeClr>
              </a:solidFill>
              <a:latin typeface="+mj-lt"/>
            </a:endParaRPr>
          </a:p>
        </p:txBody>
      </p:sp>
      <p:sp>
        <p:nvSpPr>
          <p:cNvPr id="31" name="Text 1"/>
          <p:cNvSpPr/>
          <p:nvPr/>
        </p:nvSpPr>
        <p:spPr>
          <a:xfrm>
            <a:off x="8752331" y="4585792"/>
            <a:ext cx="3365897" cy="354330"/>
          </a:xfrm>
          <a:prstGeom prst="rect">
            <a:avLst/>
          </a:prstGeom>
          <a:noFill/>
        </p:spPr>
        <p:txBody>
          <a:bodyPr wrap="none" lIns="0" tIns="0" rIns="0" bIns="0" rtlCol="0" anchor="t"/>
          <a:lstStyle/>
          <a:p>
            <a:pPr>
              <a:lnSpc>
                <a:spcPct val="150000"/>
              </a:lnSpc>
            </a:pPr>
            <a:r>
              <a:rPr lang="vi-VN" sz="2200" b="1" dirty="0">
                <a:solidFill>
                  <a:schemeClr val="tx1">
                    <a:lumMod val="95000"/>
                    <a:lumOff val="5000"/>
                  </a:schemeClr>
                </a:solidFill>
                <a:latin typeface="+mj-lt"/>
                <a:ea typeface="Fraunces Extra Bold" pitchFamily="34" charset="-122"/>
                <a:cs typeface="Fraunces Extra Bold" pitchFamily="34" charset="-120"/>
              </a:rPr>
              <a:t>Mã số sinh viên: 22161068</a:t>
            </a:r>
            <a:br>
              <a:rPr kumimoji="0" lang="vi-VN" sz="2200" b="1"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rPr>
            </a:br>
            <a:r>
              <a:rPr kumimoji="0" lang="vi-VN" sz="2200" b="1" i="0" u="none" strike="noStrike" kern="1200" cap="none" spc="0" normalizeH="0" baseline="0" noProof="0" dirty="0">
                <a:ln>
                  <a:noFill/>
                </a:ln>
                <a:solidFill>
                  <a:prstClr val="black">
                    <a:lumMod val="95000"/>
                    <a:lumOff val="5000"/>
                  </a:prstClr>
                </a:solidFill>
                <a:effectLst/>
                <a:uLnTx/>
                <a:uFillTx/>
                <a:latin typeface="Times New Roman" panose="02020603050405020304" pitchFamily="18" charset="0"/>
                <a:ea typeface="Fraunces Extra Bold" pitchFamily="34" charset="-122"/>
                <a:cs typeface="Fraunces Extra Bold" pitchFamily="34" charset="-120"/>
              </a:rPr>
              <a:t>                             22161072</a:t>
            </a:r>
            <a:endParaRPr lang="en-US" sz="2200" dirty="0">
              <a:solidFill>
                <a:schemeClr val="tx1">
                  <a:lumMod val="95000"/>
                  <a:lumOff val="5000"/>
                </a:schemeClr>
              </a:solidFill>
              <a:latin typeface="+mj-lt"/>
            </a:endParaRPr>
          </a:p>
        </p:txBody>
      </p:sp>
      <p:sp>
        <p:nvSpPr>
          <p:cNvPr id="32" name="Text 1"/>
          <p:cNvSpPr/>
          <p:nvPr/>
        </p:nvSpPr>
        <p:spPr>
          <a:xfrm>
            <a:off x="8752330" y="5844743"/>
            <a:ext cx="3365897" cy="35433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Lớp: 22161FIE1</a:t>
            </a:r>
            <a:endParaRPr lang="en-US" sz="2200" dirty="0">
              <a:solidFill>
                <a:schemeClr val="tx1">
                  <a:lumMod val="95000"/>
                  <a:lumOff val="5000"/>
                </a:schemeClr>
              </a:solidFill>
              <a:latin typeface="+mj-lt"/>
            </a:endParaRPr>
          </a:p>
        </p:txBody>
      </p:sp>
      <p:pic>
        <p:nvPicPr>
          <p:cNvPr id="6" name="Picture 5" descr="Trường Đại Học Công nghệ Kỹ Thuật TP. HCM"/>
          <p:cNvPicPr>
            <a:picLocks noChangeAspect="1"/>
          </p:cNvPicPr>
          <p:nvPr/>
        </p:nvPicPr>
        <p:blipFill>
          <a:blip r:embed="rId5"/>
          <a:stretch>
            <a:fillRect/>
          </a:stretch>
        </p:blipFill>
        <p:spPr>
          <a:xfrm>
            <a:off x="-1" y="6672"/>
            <a:ext cx="10858501" cy="1866493"/>
          </a:xfrm>
          <a:prstGeom prst="rect">
            <a:avLst/>
          </a:prstGeom>
        </p:spPr>
      </p:pic>
      <p:pic>
        <p:nvPicPr>
          <p:cNvPr id="11" name="Picture 10"/>
          <p:cNvPicPr>
            <a:picLocks noChangeAspect="1"/>
          </p:cNvPicPr>
          <p:nvPr/>
        </p:nvPicPr>
        <p:blipFill>
          <a:blip r:embed="rId6"/>
          <a:stretch>
            <a:fillRect/>
          </a:stretch>
        </p:blipFill>
        <p:spPr>
          <a:xfrm>
            <a:off x="7407035" y="3395"/>
            <a:ext cx="3525024" cy="1894316"/>
          </a:xfrm>
          <a:prstGeom prst="rect">
            <a:avLst/>
          </a:prstGeom>
        </p:spPr>
      </p:pic>
      <p:pic>
        <p:nvPicPr>
          <p:cNvPr id="8" name="Picture 7"/>
          <p:cNvPicPr>
            <a:picLocks noChangeAspect="1"/>
          </p:cNvPicPr>
          <p:nvPr/>
        </p:nvPicPr>
        <p:blipFill>
          <a:blip r:embed="rId7"/>
          <a:stretch>
            <a:fillRect/>
          </a:stretch>
        </p:blipFill>
        <p:spPr>
          <a:xfrm>
            <a:off x="12750689" y="8338"/>
            <a:ext cx="1756652" cy="1626159"/>
          </a:xfrm>
          <a:prstGeom prst="rect">
            <a:avLst/>
          </a:prstGeom>
        </p:spPr>
      </p:pic>
      <p:sp>
        <p:nvSpPr>
          <p:cNvPr id="10" name="Text 1"/>
          <p:cNvSpPr/>
          <p:nvPr/>
        </p:nvSpPr>
        <p:spPr>
          <a:xfrm>
            <a:off x="218854" y="4147269"/>
            <a:ext cx="3365897" cy="354330"/>
          </a:xfrm>
          <a:prstGeom prst="rect">
            <a:avLst/>
          </a:prstGeom>
          <a:noFill/>
        </p:spPr>
        <p:txBody>
          <a:bodyPr wrap="none" lIns="0" tIns="0" rIns="0" bIns="0" rtlCol="0" anchor="t"/>
          <a:lstStyle/>
          <a:p>
            <a:pPr>
              <a:lnSpc>
                <a:spcPts val="2750"/>
              </a:lnSpc>
            </a:pPr>
            <a:r>
              <a:rPr lang="vi-VN" sz="2200" b="1" dirty="0">
                <a:solidFill>
                  <a:schemeClr val="tx1">
                    <a:lumMod val="95000"/>
                    <a:lumOff val="5000"/>
                  </a:schemeClr>
                </a:solidFill>
                <a:latin typeface="+mj-lt"/>
                <a:ea typeface="Fraunces Extra Bold" pitchFamily="34" charset="-122"/>
                <a:cs typeface="Fraunces Extra Bold" pitchFamily="34" charset="-120"/>
              </a:rPr>
              <a:t>Giáo viên hướng dẫn : </a:t>
            </a: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TS</a:t>
            </a:r>
            <a:r>
              <a:rPr lang="fr-FR"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 </a:t>
            </a: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Phạm</a:t>
            </a:r>
            <a:r>
              <a:rPr lang="fr-FR"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 </a:t>
            </a:r>
            <a:r>
              <a:rPr lang="vi-VN" sz="22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Văn Khoa</a:t>
            </a:r>
            <a:endParaRPr lang="en-US" sz="2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B28B127-512D-3A5E-63C7-AF32B13B2CEE}"/>
              </a:ext>
            </a:extLst>
          </p:cNvPr>
          <p:cNvPicPr>
            <a:picLocks noChangeAspect="1"/>
          </p:cNvPicPr>
          <p:nvPr/>
        </p:nvPicPr>
        <p:blipFill>
          <a:blip r:embed="rId2"/>
          <a:stretch>
            <a:fillRect/>
          </a:stretch>
        </p:blipFill>
        <p:spPr>
          <a:xfrm>
            <a:off x="10106181" y="6391981"/>
            <a:ext cx="4524219" cy="1853471"/>
          </a:xfrm>
          <a:prstGeom prst="rect">
            <a:avLst/>
          </a:prstGeom>
          <a:noFill/>
        </p:spPr>
      </p:pic>
      <p:sp>
        <p:nvSpPr>
          <p:cNvPr id="22" name="Shape 3">
            <a:extLst>
              <a:ext uri="{FF2B5EF4-FFF2-40B4-BE49-F238E27FC236}">
                <a16:creationId xmlns:a16="http://schemas.microsoft.com/office/drawing/2014/main" id="{2C9175A5-58F5-1B2F-1527-185E1F3138EB}"/>
              </a:ext>
            </a:extLst>
          </p:cNvPr>
          <p:cNvSpPr/>
          <p:nvPr/>
        </p:nvSpPr>
        <p:spPr>
          <a:xfrm>
            <a:off x="426898" y="1467758"/>
            <a:ext cx="10478169" cy="860575"/>
          </a:xfrm>
          <a:prstGeom prst="roundRect">
            <a:avLst>
              <a:gd name="adj" fmla="val 6235"/>
            </a:avLst>
          </a:prstGeom>
          <a:solidFill>
            <a:srgbClr val="FFFFFF"/>
          </a:solidFill>
          <a:ln w="22860">
            <a:solidFill>
              <a:srgbClr val="BACFDD"/>
            </a:solidFill>
            <a:prstDash val="solid"/>
          </a:ln>
        </p:spPr>
      </p:sp>
      <p:pic>
        <p:nvPicPr>
          <p:cNvPr id="24" name="Image 0" descr="preencoded.png">
            <a:extLst>
              <a:ext uri="{FF2B5EF4-FFF2-40B4-BE49-F238E27FC236}">
                <a16:creationId xmlns:a16="http://schemas.microsoft.com/office/drawing/2014/main" id="{D262348F-19AE-7100-F53B-22CC96459059}"/>
              </a:ext>
            </a:extLst>
          </p:cNvPr>
          <p:cNvPicPr>
            <a:picLocks noChangeAspect="1"/>
          </p:cNvPicPr>
          <p:nvPr/>
        </p:nvPicPr>
        <p:blipFill>
          <a:blip r:embed="rId3"/>
          <a:stretch>
            <a:fillRect/>
          </a:stretch>
        </p:blipFill>
        <p:spPr>
          <a:xfrm>
            <a:off x="416518" y="1467758"/>
            <a:ext cx="45719" cy="879974"/>
          </a:xfrm>
          <a:prstGeom prst="rect">
            <a:avLst/>
          </a:prstGeom>
        </p:spPr>
      </p:pic>
      <p:sp>
        <p:nvSpPr>
          <p:cNvPr id="26" name="Text 4">
            <a:extLst>
              <a:ext uri="{FF2B5EF4-FFF2-40B4-BE49-F238E27FC236}">
                <a16:creationId xmlns:a16="http://schemas.microsoft.com/office/drawing/2014/main" id="{6276530C-A308-36D6-DCF9-09230E965019}"/>
              </a:ext>
            </a:extLst>
          </p:cNvPr>
          <p:cNvSpPr/>
          <p:nvPr/>
        </p:nvSpPr>
        <p:spPr>
          <a:xfrm>
            <a:off x="674646" y="1680165"/>
            <a:ext cx="3487460" cy="311706"/>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Improving gồm</a:t>
            </a:r>
            <a:r>
              <a:rPr lang="en-US" sz="2400" dirty="0">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tăng</a:t>
            </a:r>
            <a:r>
              <a:rPr lang="en-US"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độ</a:t>
            </a:r>
            <a:r>
              <a:rPr lang="en-US"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 tin </a:t>
            </a:r>
            <a:r>
              <a:rPr lang="en-US" sz="2400" dirty="0" err="1">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cậy</a:t>
            </a:r>
            <a:r>
              <a:rPr lang="en-US"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độ</a:t>
            </a:r>
            <a:r>
              <a:rPr lang="en-US"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chính</a:t>
            </a:r>
            <a:r>
              <a:rPr lang="en-US"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xác</a:t>
            </a:r>
            <a:r>
              <a:rPr lang="en-US"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giảm</a:t>
            </a:r>
            <a:r>
              <a:rPr lang="en-US"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độ</a:t>
            </a:r>
            <a:r>
              <a:rPr lang="en-US"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trễ</a:t>
            </a:r>
            <a:r>
              <a:rPr lang="en-US"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 ,</a:t>
            </a:r>
            <a:r>
              <a:rPr lang="vi-VN"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bộ</a:t>
            </a:r>
            <a:r>
              <a:rPr lang="en-US"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 </a:t>
            </a:r>
            <a:r>
              <a:rPr lang="vi-VN"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nhớ, …</a:t>
            </a:r>
            <a:endParaRPr lang="en-US" sz="2400" dirty="0">
              <a:solidFill>
                <a:srgbClr val="EE0000"/>
              </a:solidFill>
              <a:latin typeface="Times New Roman" panose="02020603050405020304" pitchFamily="18" charset="0"/>
              <a:cs typeface="Times New Roman" panose="02020603050405020304" pitchFamily="18" charset="0"/>
            </a:endParaRPr>
          </a:p>
        </p:txBody>
      </p:sp>
      <p:graphicFrame>
        <p:nvGraphicFramePr>
          <p:cNvPr id="28" name="Table 27">
            <a:extLst>
              <a:ext uri="{FF2B5EF4-FFF2-40B4-BE49-F238E27FC236}">
                <a16:creationId xmlns:a16="http://schemas.microsoft.com/office/drawing/2014/main" id="{4AD99698-74BB-2857-B8F5-B542B255EC13}"/>
              </a:ext>
            </a:extLst>
          </p:cNvPr>
          <p:cNvGraphicFramePr>
            <a:graphicFrameLocks noGrp="1"/>
          </p:cNvGraphicFramePr>
          <p:nvPr>
            <p:extLst>
              <p:ext uri="{D42A27DB-BD31-4B8C-83A1-F6EECF244321}">
                <p14:modId xmlns:p14="http://schemas.microsoft.com/office/powerpoint/2010/main" val="1323229461"/>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Giới thiệu</a:t>
                      </a:r>
                    </a:p>
                  </a:txBody>
                  <a:tcPr/>
                </a:tc>
                <a:extLst>
                  <a:ext uri="{0D108BD9-81ED-4DB2-BD59-A6C34878D82A}">
                    <a16:rowId xmlns:a16="http://schemas.microsoft.com/office/drawing/2014/main" val="10000"/>
                  </a:ext>
                </a:extLst>
              </a:tr>
            </a:tbl>
          </a:graphicData>
        </a:graphic>
      </p:graphicFrame>
      <p:pic>
        <p:nvPicPr>
          <p:cNvPr id="30" name="Picture 29">
            <a:extLst>
              <a:ext uri="{FF2B5EF4-FFF2-40B4-BE49-F238E27FC236}">
                <a16:creationId xmlns:a16="http://schemas.microsoft.com/office/drawing/2014/main" id="{54872E44-7413-E9DA-1016-E99CE6782E41}"/>
              </a:ext>
            </a:extLst>
          </p:cNvPr>
          <p:cNvPicPr/>
          <p:nvPr/>
        </p:nvPicPr>
        <p:blipFill>
          <a:blip r:embed="rId4"/>
          <a:stretch>
            <a:fillRect/>
          </a:stretch>
        </p:blipFill>
        <p:spPr>
          <a:xfrm>
            <a:off x="-118532" y="-145263"/>
            <a:ext cx="1371600" cy="1390223"/>
          </a:xfrm>
          <a:prstGeom prst="rect">
            <a:avLst/>
          </a:prstGeom>
        </p:spPr>
      </p:pic>
      <p:sp>
        <p:nvSpPr>
          <p:cNvPr id="33" name="Shape 3">
            <a:extLst>
              <a:ext uri="{FF2B5EF4-FFF2-40B4-BE49-F238E27FC236}">
                <a16:creationId xmlns:a16="http://schemas.microsoft.com/office/drawing/2014/main" id="{74245BFF-DB00-C532-A291-16866F5019B6}"/>
              </a:ext>
            </a:extLst>
          </p:cNvPr>
          <p:cNvSpPr/>
          <p:nvPr/>
        </p:nvSpPr>
        <p:spPr>
          <a:xfrm>
            <a:off x="437278" y="2698858"/>
            <a:ext cx="10478169" cy="1099698"/>
          </a:xfrm>
          <a:prstGeom prst="roundRect">
            <a:avLst>
              <a:gd name="adj" fmla="val 6235"/>
            </a:avLst>
          </a:prstGeom>
          <a:solidFill>
            <a:srgbClr val="FFFFFF"/>
          </a:solidFill>
          <a:ln w="22860">
            <a:solidFill>
              <a:srgbClr val="BACFDD"/>
            </a:solidFill>
            <a:prstDash val="solid"/>
          </a:ln>
        </p:spPr>
      </p:sp>
      <p:pic>
        <p:nvPicPr>
          <p:cNvPr id="35" name="Image 0" descr="preencoded.png">
            <a:extLst>
              <a:ext uri="{FF2B5EF4-FFF2-40B4-BE49-F238E27FC236}">
                <a16:creationId xmlns:a16="http://schemas.microsoft.com/office/drawing/2014/main" id="{336F9BF8-6EBA-6F59-D798-DDE2C521F851}"/>
              </a:ext>
            </a:extLst>
          </p:cNvPr>
          <p:cNvPicPr>
            <a:picLocks noChangeAspect="1"/>
          </p:cNvPicPr>
          <p:nvPr/>
        </p:nvPicPr>
        <p:blipFill>
          <a:blip r:embed="rId3"/>
          <a:stretch>
            <a:fillRect/>
          </a:stretch>
        </p:blipFill>
        <p:spPr>
          <a:xfrm>
            <a:off x="426898" y="2698857"/>
            <a:ext cx="57135" cy="1099697"/>
          </a:xfrm>
          <a:prstGeom prst="rect">
            <a:avLst/>
          </a:prstGeom>
        </p:spPr>
      </p:pic>
      <p:sp>
        <p:nvSpPr>
          <p:cNvPr id="41" name="Text 4">
            <a:extLst>
              <a:ext uri="{FF2B5EF4-FFF2-40B4-BE49-F238E27FC236}">
                <a16:creationId xmlns:a16="http://schemas.microsoft.com/office/drawing/2014/main" id="{81811139-2365-70BC-32FD-5825CE81BF2F}"/>
              </a:ext>
            </a:extLst>
          </p:cNvPr>
          <p:cNvSpPr/>
          <p:nvPr/>
        </p:nvSpPr>
        <p:spPr>
          <a:xfrm>
            <a:off x="685026" y="2911265"/>
            <a:ext cx="3487460" cy="311706"/>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AI-Based Lane Perception chuyên</a:t>
            </a:r>
            <a:r>
              <a:rPr lang="en-US" sz="2400" dirty="0">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ea typeface="Barlow Bold" panose="00000800000000000000" pitchFamily="34" charset="-122"/>
                <a:cs typeface="Times New Roman" panose="02020603050405020304" pitchFamily="18" charset="0"/>
              </a:rPr>
              <a:t>nhận</a:t>
            </a:r>
            <a:r>
              <a:rPr lang="en-US" sz="2400" dirty="0">
                <a:solidFill>
                  <a:schemeClr val="accent6">
                    <a:lumMod val="75000"/>
                  </a:schemeClr>
                </a:solidFill>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ea typeface="Barlow Bold" panose="00000800000000000000" pitchFamily="34" charset="-122"/>
                <a:cs typeface="Times New Roman" panose="02020603050405020304" pitchFamily="18" charset="0"/>
              </a:rPr>
              <a:t>diện</a:t>
            </a:r>
            <a:r>
              <a:rPr lang="en-US" sz="2400" dirty="0">
                <a:solidFill>
                  <a:schemeClr val="accent6">
                    <a:lumMod val="75000"/>
                  </a:schemeClr>
                </a:solidFill>
                <a:latin typeface="Times New Roman" panose="02020603050405020304" pitchFamily="18" charset="0"/>
                <a:ea typeface="Barlow Bold" panose="00000800000000000000" pitchFamily="34" charset="-122"/>
                <a:cs typeface="Times New Roman" panose="02020603050405020304" pitchFamily="18" charset="0"/>
              </a:rPr>
              <a:t> </a:t>
            </a:r>
            <a:r>
              <a:rPr lang="en-US" sz="2400" dirty="0" err="1">
                <a:solidFill>
                  <a:schemeClr val="accent6">
                    <a:lumMod val="75000"/>
                  </a:schemeClr>
                </a:solidFill>
                <a:latin typeface="Times New Roman" panose="02020603050405020304" pitchFamily="18" charset="0"/>
                <a:ea typeface="Barlow Bold" panose="00000800000000000000" pitchFamily="34" charset="-122"/>
                <a:cs typeface="Times New Roman" panose="02020603050405020304" pitchFamily="18" charset="0"/>
              </a:rPr>
              <a:t>vạch</a:t>
            </a:r>
            <a:r>
              <a:rPr lang="en-US" sz="2400" dirty="0">
                <a:solidFill>
                  <a:schemeClr val="accent6">
                    <a:lumMod val="75000"/>
                  </a:schemeClr>
                </a:solidFill>
                <a:latin typeface="Times New Roman" panose="02020603050405020304" pitchFamily="18" charset="0"/>
                <a:ea typeface="Barlow Bold" panose="00000800000000000000" pitchFamily="34" charset="-122"/>
                <a:cs typeface="Times New Roman" panose="02020603050405020304" pitchFamily="18" charset="0"/>
              </a:rPr>
              <a:t> </a:t>
            </a:r>
            <a:r>
              <a:rPr lang="vi-VN" sz="2400" dirty="0">
                <a:solidFill>
                  <a:schemeClr val="accent6">
                    <a:lumMod val="75000"/>
                  </a:schemeClr>
                </a:solidFill>
                <a:latin typeface="Times New Roman" panose="02020603050405020304" pitchFamily="18" charset="0"/>
                <a:ea typeface="Barlow Bold" panose="00000800000000000000" pitchFamily="34" charset="-122"/>
                <a:cs typeface="Times New Roman" panose="02020603050405020304" pitchFamily="18" charset="0"/>
              </a:rPr>
              <a:t>làn, vùng có thể di chuyển,</a:t>
            </a:r>
          </a:p>
          <a:p>
            <a:pPr marL="0" indent="0" algn="l">
              <a:lnSpc>
                <a:spcPct val="100000"/>
              </a:lnSpc>
              <a:buNone/>
            </a:pPr>
            <a:r>
              <a:rPr lang="vi-VN" sz="2400" dirty="0">
                <a:solidFill>
                  <a:schemeClr val="accent6">
                    <a:lumMod val="75000"/>
                  </a:schemeClr>
                </a:solidFill>
                <a:latin typeface="Times New Roman" panose="02020603050405020304" pitchFamily="18" charset="0"/>
                <a:ea typeface="Barlow Bold" panose="00000800000000000000" pitchFamily="34" charset="-122"/>
                <a:cs typeface="Times New Roman" panose="02020603050405020304" pitchFamily="18" charset="0"/>
              </a:rPr>
              <a:t>làn xe hiện tại, phương tiện/vật cản xung quanh, …</a:t>
            </a: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43" name="Shape 3">
            <a:extLst>
              <a:ext uri="{FF2B5EF4-FFF2-40B4-BE49-F238E27FC236}">
                <a16:creationId xmlns:a16="http://schemas.microsoft.com/office/drawing/2014/main" id="{60C0F4C4-7732-5EA8-6AAF-F32C4392E183}"/>
              </a:ext>
            </a:extLst>
          </p:cNvPr>
          <p:cNvSpPr/>
          <p:nvPr/>
        </p:nvSpPr>
        <p:spPr>
          <a:xfrm>
            <a:off x="437278" y="4149679"/>
            <a:ext cx="10467789" cy="1099698"/>
          </a:xfrm>
          <a:prstGeom prst="roundRect">
            <a:avLst>
              <a:gd name="adj" fmla="val 6235"/>
            </a:avLst>
          </a:prstGeom>
          <a:solidFill>
            <a:srgbClr val="FFFFFF"/>
          </a:solidFill>
          <a:ln w="22860">
            <a:solidFill>
              <a:srgbClr val="BACFDD"/>
            </a:solidFill>
            <a:prstDash val="solid"/>
          </a:ln>
        </p:spPr>
      </p:sp>
      <p:pic>
        <p:nvPicPr>
          <p:cNvPr id="49" name="Image 0" descr="preencoded.png">
            <a:extLst>
              <a:ext uri="{FF2B5EF4-FFF2-40B4-BE49-F238E27FC236}">
                <a16:creationId xmlns:a16="http://schemas.microsoft.com/office/drawing/2014/main" id="{200A26B2-E6E2-B1F9-40CD-54E6F7D9ABC0}"/>
              </a:ext>
            </a:extLst>
          </p:cNvPr>
          <p:cNvPicPr>
            <a:picLocks noChangeAspect="1"/>
          </p:cNvPicPr>
          <p:nvPr/>
        </p:nvPicPr>
        <p:blipFill>
          <a:blip r:embed="rId3"/>
          <a:stretch>
            <a:fillRect/>
          </a:stretch>
        </p:blipFill>
        <p:spPr>
          <a:xfrm>
            <a:off x="426898" y="4149679"/>
            <a:ext cx="57134" cy="1099698"/>
          </a:xfrm>
          <a:prstGeom prst="rect">
            <a:avLst/>
          </a:prstGeom>
        </p:spPr>
      </p:pic>
      <p:sp>
        <p:nvSpPr>
          <p:cNvPr id="51" name="Text 4">
            <a:extLst>
              <a:ext uri="{FF2B5EF4-FFF2-40B4-BE49-F238E27FC236}">
                <a16:creationId xmlns:a16="http://schemas.microsoft.com/office/drawing/2014/main" id="{FE8368B7-089A-FEB2-2E27-85BF9180B565}"/>
              </a:ext>
            </a:extLst>
          </p:cNvPr>
          <p:cNvSpPr/>
          <p:nvPr/>
        </p:nvSpPr>
        <p:spPr>
          <a:xfrm>
            <a:off x="685026" y="4362086"/>
            <a:ext cx="3487460" cy="311706"/>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Resource-Constrained Embedded Systems hướng </a:t>
            </a:r>
            <a:r>
              <a:rPr lang="vi-VN" sz="2400" dirty="0">
                <a:solidFill>
                  <a:schemeClr val="accent4">
                    <a:lumMod val="75000"/>
                  </a:schemeClr>
                </a:solidFill>
                <a:latin typeface="Times New Roman" panose="02020603050405020304" pitchFamily="18" charset="0"/>
                <a:ea typeface="Barlow Bold" panose="00000800000000000000" pitchFamily="34" charset="-122"/>
                <a:cs typeface="Times New Roman" panose="02020603050405020304" pitchFamily="18" charset="0"/>
              </a:rPr>
              <a:t>đến các board nhúng </a:t>
            </a:r>
          </a:p>
          <a:p>
            <a:pPr marL="0" indent="0" algn="l">
              <a:lnSpc>
                <a:spcPct val="100000"/>
              </a:lnSpc>
              <a:buNone/>
            </a:pPr>
            <a:r>
              <a:rPr lang="vi-VN" sz="2400" dirty="0">
                <a:solidFill>
                  <a:schemeClr val="accent4">
                    <a:lumMod val="75000"/>
                  </a:schemeClr>
                </a:solidFill>
                <a:latin typeface="Times New Roman" panose="02020603050405020304" pitchFamily="18" charset="0"/>
                <a:ea typeface="Barlow Bold" panose="00000800000000000000" pitchFamily="34" charset="-122"/>
                <a:cs typeface="Times New Roman" panose="02020603050405020304" pitchFamily="18" charset="0"/>
              </a:rPr>
              <a:t>phổ biến, chi phí thấp.</a:t>
            </a:r>
            <a:endParaRPr lang="en-US" sz="2400" dirty="0">
              <a:solidFill>
                <a:schemeClr val="accent4">
                  <a:lumMod val="75000"/>
                </a:schemeClr>
              </a:solidFill>
              <a:latin typeface="Times New Roman" panose="02020603050405020304" pitchFamily="18" charset="0"/>
              <a:cs typeface="Times New Roman" panose="02020603050405020304" pitchFamily="18" charset="0"/>
            </a:endParaRPr>
          </a:p>
        </p:txBody>
      </p:sp>
      <p:pic>
        <p:nvPicPr>
          <p:cNvPr id="54" name="Picture 53">
            <a:extLst>
              <a:ext uri="{FF2B5EF4-FFF2-40B4-BE49-F238E27FC236}">
                <a16:creationId xmlns:a16="http://schemas.microsoft.com/office/drawing/2014/main" id="{C0A5F623-43AC-D3BE-8FC4-B79D54200748}"/>
              </a:ext>
            </a:extLst>
          </p:cNvPr>
          <p:cNvPicPr>
            <a:picLocks noChangeAspect="1"/>
          </p:cNvPicPr>
          <p:nvPr/>
        </p:nvPicPr>
        <p:blipFill>
          <a:blip r:embed="rId5"/>
          <a:stretch>
            <a:fillRect/>
          </a:stretch>
        </p:blipFill>
        <p:spPr>
          <a:xfrm>
            <a:off x="-118532" y="1111603"/>
            <a:ext cx="3073558" cy="1333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3E3ACE-DD21-AD86-AF7C-81A438ABB6C7}"/>
              </a:ext>
            </a:extLst>
          </p:cNvPr>
          <p:cNvPicPr>
            <a:picLocks noChangeAspect="1"/>
          </p:cNvPicPr>
          <p:nvPr/>
        </p:nvPicPr>
        <p:blipFill>
          <a:blip r:embed="rId2"/>
          <a:stretch>
            <a:fillRect/>
          </a:stretch>
        </p:blipFill>
        <p:spPr>
          <a:xfrm>
            <a:off x="10106181" y="6391981"/>
            <a:ext cx="4524219" cy="1853471"/>
          </a:xfrm>
          <a:prstGeom prst="rect">
            <a:avLst/>
          </a:prstGeom>
          <a:noFill/>
        </p:spPr>
      </p:pic>
      <p:sp>
        <p:nvSpPr>
          <p:cNvPr id="5" name="Shape 3">
            <a:extLst>
              <a:ext uri="{FF2B5EF4-FFF2-40B4-BE49-F238E27FC236}">
                <a16:creationId xmlns:a16="http://schemas.microsoft.com/office/drawing/2014/main" id="{17A888EC-7945-A64C-736D-15DD18784091}"/>
              </a:ext>
            </a:extLst>
          </p:cNvPr>
          <p:cNvSpPr/>
          <p:nvPr/>
        </p:nvSpPr>
        <p:spPr>
          <a:xfrm>
            <a:off x="426898" y="1467758"/>
            <a:ext cx="12861085" cy="860575"/>
          </a:xfrm>
          <a:prstGeom prst="roundRect">
            <a:avLst>
              <a:gd name="adj" fmla="val 6235"/>
            </a:avLst>
          </a:prstGeom>
          <a:solidFill>
            <a:srgbClr val="FFFFFF"/>
          </a:solidFill>
          <a:ln w="22860">
            <a:solidFill>
              <a:srgbClr val="BACFDD"/>
            </a:solidFill>
            <a:prstDash val="solid"/>
          </a:ln>
        </p:spPr>
      </p:sp>
      <p:pic>
        <p:nvPicPr>
          <p:cNvPr id="7" name="Image 0" descr="preencoded.png">
            <a:extLst>
              <a:ext uri="{FF2B5EF4-FFF2-40B4-BE49-F238E27FC236}">
                <a16:creationId xmlns:a16="http://schemas.microsoft.com/office/drawing/2014/main" id="{339A995C-1DA3-2A5B-2279-43C023116E25}"/>
              </a:ext>
            </a:extLst>
          </p:cNvPr>
          <p:cNvPicPr>
            <a:picLocks noChangeAspect="1"/>
          </p:cNvPicPr>
          <p:nvPr/>
        </p:nvPicPr>
        <p:blipFill>
          <a:blip r:embed="rId3"/>
          <a:stretch>
            <a:fillRect/>
          </a:stretch>
        </p:blipFill>
        <p:spPr>
          <a:xfrm>
            <a:off x="416518" y="1467758"/>
            <a:ext cx="45719" cy="879974"/>
          </a:xfrm>
          <a:prstGeom prst="rect">
            <a:avLst/>
          </a:prstGeom>
        </p:spPr>
      </p:pic>
      <p:sp>
        <p:nvSpPr>
          <p:cNvPr id="9" name="Text 4">
            <a:extLst>
              <a:ext uri="{FF2B5EF4-FFF2-40B4-BE49-F238E27FC236}">
                <a16:creationId xmlns:a16="http://schemas.microsoft.com/office/drawing/2014/main" id="{625C2F90-DD63-4C66-F569-2E8A3E9B37F8}"/>
              </a:ext>
            </a:extLst>
          </p:cNvPr>
          <p:cNvSpPr/>
          <p:nvPr/>
        </p:nvSpPr>
        <p:spPr>
          <a:xfrm>
            <a:off x="674646" y="1680165"/>
            <a:ext cx="3487460" cy="311706"/>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Lane Line, Drivable Area, Ego-Lane </a:t>
            </a:r>
            <a:r>
              <a:rPr lang="vi-VN" sz="2800" dirty="0">
                <a:latin typeface="Times New Roman" panose="02020603050405020304" pitchFamily="18" charset="0"/>
                <a:ea typeface="Barlow Bold" panose="00000800000000000000" pitchFamily="34" charset="-122"/>
                <a:cs typeface="Times New Roman" panose="02020603050405020304" pitchFamily="18" charset="0"/>
              </a:rPr>
              <a:t>→</a:t>
            </a:r>
            <a:r>
              <a:rPr lang="vi-VN" sz="2400" dirty="0">
                <a:latin typeface="Times New Roman" panose="02020603050405020304" pitchFamily="18" charset="0"/>
                <a:ea typeface="Barlow Bold" panose="00000800000000000000" pitchFamily="34" charset="-122"/>
                <a:cs typeface="Times New Roman" panose="02020603050405020304" pitchFamily="18" charset="0"/>
              </a:rPr>
              <a:t> các </a:t>
            </a:r>
            <a:r>
              <a:rPr lang="vi-VN" sz="2400" dirty="0">
                <a:solidFill>
                  <a:schemeClr val="accent2"/>
                </a:solidFill>
                <a:latin typeface="Times New Roman" panose="02020603050405020304" pitchFamily="18" charset="0"/>
                <a:ea typeface="Barlow Bold" panose="00000800000000000000" pitchFamily="34" charset="-122"/>
                <a:cs typeface="Times New Roman" panose="02020603050405020304" pitchFamily="18" charset="0"/>
              </a:rPr>
              <a:t>bài toán </a:t>
            </a:r>
            <a:r>
              <a:rPr lang="vi-VN" sz="2400" dirty="0">
                <a:latin typeface="Times New Roman" panose="02020603050405020304" pitchFamily="18" charset="0"/>
                <a:ea typeface="Barlow Bold" panose="00000800000000000000" pitchFamily="34" charset="-122"/>
                <a:cs typeface="Times New Roman" panose="02020603050405020304" pitchFamily="18" charset="0"/>
              </a:rPr>
              <a:t>nhận thức làn đường bằng </a:t>
            </a:r>
            <a:r>
              <a:rPr lang="vi-VN" sz="2400" dirty="0">
                <a:solidFill>
                  <a:schemeClr val="accent2"/>
                </a:solidFill>
                <a:latin typeface="Times New Roman" panose="02020603050405020304" pitchFamily="18" charset="0"/>
                <a:ea typeface="Barlow Bold" panose="00000800000000000000" pitchFamily="34" charset="-122"/>
                <a:cs typeface="Times New Roman" panose="02020603050405020304" pitchFamily="18" charset="0"/>
              </a:rPr>
              <a:t>hình ảnh</a:t>
            </a:r>
            <a:endParaRPr lang="en-US" sz="2400" dirty="0">
              <a:solidFill>
                <a:schemeClr val="accent2"/>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4BA5EB45-9C92-88DE-7ECA-2F4150982BCB}"/>
              </a:ext>
            </a:extLst>
          </p:cNvPr>
          <p:cNvGraphicFramePr>
            <a:graphicFrameLocks noGrp="1"/>
          </p:cNvGraphicFramePr>
          <p:nvPr>
            <p:extLst>
              <p:ext uri="{D42A27DB-BD31-4B8C-83A1-F6EECF244321}">
                <p14:modId xmlns:p14="http://schemas.microsoft.com/office/powerpoint/2010/main" val="48778448"/>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Tiêu chí cần đặt ra ?</a:t>
                      </a:r>
                    </a:p>
                  </a:txBody>
                  <a:tcPr/>
                </a:tc>
                <a:extLst>
                  <a:ext uri="{0D108BD9-81ED-4DB2-BD59-A6C34878D82A}">
                    <a16:rowId xmlns:a16="http://schemas.microsoft.com/office/drawing/2014/main" val="10000"/>
                  </a:ext>
                </a:extLst>
              </a:tr>
            </a:tbl>
          </a:graphicData>
        </a:graphic>
      </p:graphicFrame>
      <p:pic>
        <p:nvPicPr>
          <p:cNvPr id="13" name="Picture 12">
            <a:extLst>
              <a:ext uri="{FF2B5EF4-FFF2-40B4-BE49-F238E27FC236}">
                <a16:creationId xmlns:a16="http://schemas.microsoft.com/office/drawing/2014/main" id="{C91697FC-CE59-9614-0084-DE0BD0168C22}"/>
              </a:ext>
            </a:extLst>
          </p:cNvPr>
          <p:cNvPicPr/>
          <p:nvPr/>
        </p:nvPicPr>
        <p:blipFill>
          <a:blip r:embed="rId4"/>
          <a:stretch>
            <a:fillRect/>
          </a:stretch>
        </p:blipFill>
        <p:spPr>
          <a:xfrm>
            <a:off x="-118532" y="-145263"/>
            <a:ext cx="1371600" cy="1390223"/>
          </a:xfrm>
          <a:prstGeom prst="rect">
            <a:avLst/>
          </a:prstGeom>
        </p:spPr>
      </p:pic>
      <p:sp>
        <p:nvSpPr>
          <p:cNvPr id="15" name="Shape 3">
            <a:extLst>
              <a:ext uri="{FF2B5EF4-FFF2-40B4-BE49-F238E27FC236}">
                <a16:creationId xmlns:a16="http://schemas.microsoft.com/office/drawing/2014/main" id="{3593868E-6404-CAF2-6A34-3FBC0BEACE5B}"/>
              </a:ext>
            </a:extLst>
          </p:cNvPr>
          <p:cNvSpPr/>
          <p:nvPr/>
        </p:nvSpPr>
        <p:spPr>
          <a:xfrm>
            <a:off x="462237" y="2716797"/>
            <a:ext cx="12768613" cy="1853471"/>
          </a:xfrm>
          <a:prstGeom prst="roundRect">
            <a:avLst>
              <a:gd name="adj" fmla="val 6235"/>
            </a:avLst>
          </a:prstGeom>
          <a:solidFill>
            <a:srgbClr val="FFFFFF"/>
          </a:solidFill>
          <a:ln w="22860">
            <a:solidFill>
              <a:srgbClr val="BACFDD"/>
            </a:solidFill>
            <a:prstDash val="solid"/>
          </a:ln>
        </p:spPr>
      </p:sp>
      <p:pic>
        <p:nvPicPr>
          <p:cNvPr id="17" name="Image 0" descr="preencoded.png">
            <a:extLst>
              <a:ext uri="{FF2B5EF4-FFF2-40B4-BE49-F238E27FC236}">
                <a16:creationId xmlns:a16="http://schemas.microsoft.com/office/drawing/2014/main" id="{B1DFA6BC-1EC3-1107-CB3B-EA189D0DA9DA}"/>
              </a:ext>
            </a:extLst>
          </p:cNvPr>
          <p:cNvPicPr>
            <a:picLocks noChangeAspect="1"/>
          </p:cNvPicPr>
          <p:nvPr/>
        </p:nvPicPr>
        <p:blipFill>
          <a:blip r:embed="rId3"/>
          <a:stretch>
            <a:fillRect/>
          </a:stretch>
        </p:blipFill>
        <p:spPr>
          <a:xfrm rot="10800000" flipH="1">
            <a:off x="438253" y="2723793"/>
            <a:ext cx="47967" cy="1846475"/>
          </a:xfrm>
          <a:prstGeom prst="rect">
            <a:avLst/>
          </a:prstGeom>
        </p:spPr>
      </p:pic>
      <p:sp>
        <p:nvSpPr>
          <p:cNvPr id="19" name="Text 4">
            <a:extLst>
              <a:ext uri="{FF2B5EF4-FFF2-40B4-BE49-F238E27FC236}">
                <a16:creationId xmlns:a16="http://schemas.microsoft.com/office/drawing/2014/main" id="{75C39869-DBA4-2B06-1E34-0FC2D636C53A}"/>
              </a:ext>
            </a:extLst>
          </p:cNvPr>
          <p:cNvSpPr/>
          <p:nvPr/>
        </p:nvSpPr>
        <p:spPr>
          <a:xfrm>
            <a:off x="685026" y="2911265"/>
            <a:ext cx="3487460" cy="311706"/>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Resource-Constrained Embedded Devices ?</a:t>
            </a:r>
            <a:br>
              <a:rPr lang="vi-VN" sz="2400" dirty="0">
                <a:latin typeface="Times New Roman" panose="02020603050405020304" pitchFamily="18" charset="0"/>
                <a:ea typeface="Barlow Bold" panose="00000800000000000000" pitchFamily="34" charset="-122"/>
                <a:cs typeface="Times New Roman" panose="02020603050405020304" pitchFamily="18" charset="0"/>
              </a:rPr>
            </a:br>
            <a:r>
              <a:rPr lang="vi-VN" sz="2400" dirty="0">
                <a:latin typeface="Times New Roman" panose="02020603050405020304" pitchFamily="18" charset="0"/>
                <a:ea typeface="Barlow Bold" panose="00000800000000000000" pitchFamily="34" charset="-122"/>
                <a:cs typeface="Times New Roman" panose="02020603050405020304" pitchFamily="18" charset="0"/>
              </a:rPr>
              <a:t>	+ Nhẹ (lightweight), chi phí thấp</a:t>
            </a:r>
            <a:br>
              <a:rPr lang="vi-VN" sz="2400" dirty="0">
                <a:latin typeface="Times New Roman" panose="02020603050405020304" pitchFamily="18" charset="0"/>
                <a:ea typeface="Barlow Bold" panose="00000800000000000000" pitchFamily="34" charset="-122"/>
                <a:cs typeface="Times New Roman" panose="02020603050405020304" pitchFamily="18" charset="0"/>
              </a:rPr>
            </a:br>
            <a:r>
              <a:rPr lang="vi-VN" sz="2400" dirty="0">
                <a:latin typeface="Times New Roman" panose="02020603050405020304" pitchFamily="18" charset="0"/>
                <a:ea typeface="Barlow Bold" panose="00000800000000000000" pitchFamily="34" charset="-122"/>
                <a:cs typeface="Times New Roman" panose="02020603050405020304" pitchFamily="18" charset="0"/>
              </a:rPr>
              <a:t>	+ </a:t>
            </a:r>
            <a:r>
              <a:rPr lang="vi-VN"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rPr>
              <a:t>Memory efficient</a:t>
            </a:r>
            <a:br>
              <a:rPr lang="vi-VN" sz="2400" dirty="0">
                <a:latin typeface="Times New Roman" panose="02020603050405020304" pitchFamily="18" charset="0"/>
                <a:ea typeface="Barlow Bold" panose="00000800000000000000" pitchFamily="34" charset="-122"/>
                <a:cs typeface="Times New Roman" panose="02020603050405020304" pitchFamily="18" charset="0"/>
              </a:rPr>
            </a:br>
            <a:r>
              <a:rPr lang="vi-VN" sz="2400" dirty="0">
                <a:latin typeface="Times New Roman" panose="02020603050405020304" pitchFamily="18" charset="0"/>
                <a:ea typeface="Barlow Bold" panose="00000800000000000000" pitchFamily="34" charset="-122"/>
                <a:cs typeface="Times New Roman" panose="02020603050405020304" pitchFamily="18" charset="0"/>
              </a:rPr>
              <a:t>	+ </a:t>
            </a:r>
            <a:r>
              <a:rPr lang="vi-VN" sz="2400" dirty="0">
                <a:solidFill>
                  <a:srgbClr val="00B050"/>
                </a:solidFill>
                <a:latin typeface="Times New Roman" panose="02020603050405020304" pitchFamily="18" charset="0"/>
                <a:ea typeface="Barlow Bold" panose="00000800000000000000" pitchFamily="34" charset="-122"/>
                <a:cs typeface="Times New Roman" panose="02020603050405020304" pitchFamily="18" charset="0"/>
              </a:rPr>
              <a:t>Công suất và năng lượng hạn chế</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21" name="Shape 3">
            <a:extLst>
              <a:ext uri="{FF2B5EF4-FFF2-40B4-BE49-F238E27FC236}">
                <a16:creationId xmlns:a16="http://schemas.microsoft.com/office/drawing/2014/main" id="{F591EF3B-2CAD-699B-2E51-1BF1FE8E4561}"/>
              </a:ext>
            </a:extLst>
          </p:cNvPr>
          <p:cNvSpPr/>
          <p:nvPr/>
        </p:nvSpPr>
        <p:spPr>
          <a:xfrm>
            <a:off x="438252" y="4946329"/>
            <a:ext cx="12792598" cy="1846474"/>
          </a:xfrm>
          <a:prstGeom prst="roundRect">
            <a:avLst>
              <a:gd name="adj" fmla="val 6235"/>
            </a:avLst>
          </a:prstGeom>
          <a:solidFill>
            <a:srgbClr val="FFFFFF"/>
          </a:solidFill>
          <a:ln w="22860">
            <a:solidFill>
              <a:srgbClr val="BACFDD"/>
            </a:solidFill>
            <a:prstDash val="solid"/>
          </a:ln>
        </p:spPr>
      </p:sp>
      <p:pic>
        <p:nvPicPr>
          <p:cNvPr id="23" name="Image 0" descr="preencoded.png">
            <a:extLst>
              <a:ext uri="{FF2B5EF4-FFF2-40B4-BE49-F238E27FC236}">
                <a16:creationId xmlns:a16="http://schemas.microsoft.com/office/drawing/2014/main" id="{315DE0AA-69EF-7167-2D5E-31571C191EB2}"/>
              </a:ext>
            </a:extLst>
          </p:cNvPr>
          <p:cNvPicPr>
            <a:picLocks noChangeAspect="1"/>
          </p:cNvPicPr>
          <p:nvPr/>
        </p:nvPicPr>
        <p:blipFill>
          <a:blip r:embed="rId3"/>
          <a:stretch>
            <a:fillRect/>
          </a:stretch>
        </p:blipFill>
        <p:spPr>
          <a:xfrm>
            <a:off x="427872" y="4984285"/>
            <a:ext cx="57416" cy="1815514"/>
          </a:xfrm>
          <a:prstGeom prst="rect">
            <a:avLst/>
          </a:prstGeom>
        </p:spPr>
      </p:pic>
      <p:sp>
        <p:nvSpPr>
          <p:cNvPr id="25" name="Text 4">
            <a:extLst>
              <a:ext uri="{FF2B5EF4-FFF2-40B4-BE49-F238E27FC236}">
                <a16:creationId xmlns:a16="http://schemas.microsoft.com/office/drawing/2014/main" id="{391C06DC-CF21-FB79-B9DF-DA623D00CCCA}"/>
              </a:ext>
            </a:extLst>
          </p:cNvPr>
          <p:cNvSpPr/>
          <p:nvPr/>
        </p:nvSpPr>
        <p:spPr>
          <a:xfrm>
            <a:off x="686000" y="5158736"/>
            <a:ext cx="3487460" cy="311706"/>
          </a:xfrm>
          <a:prstGeom prst="rect">
            <a:avLst/>
          </a:prstGeom>
          <a:noFill/>
        </p:spPr>
        <p:txBody>
          <a:bodyPr wrap="none" lIns="0" tIns="0" rIns="0" bIns="0" rtlCol="0" anchor="t"/>
          <a:lstStyle/>
          <a:p>
            <a:r>
              <a:rPr lang="vi-VN" sz="2400" dirty="0">
                <a:latin typeface="Times New Roman" panose="02020603050405020304" pitchFamily="18" charset="0"/>
                <a:ea typeface="Barlow Bold" panose="00000800000000000000" pitchFamily="34" charset="-122"/>
                <a:cs typeface="Times New Roman" panose="02020603050405020304" pitchFamily="18" charset="0"/>
              </a:rPr>
              <a:t>Làm nổi bật hướng đi</a:t>
            </a:r>
            <a:br>
              <a:rPr lang="vi-VN" sz="2400" b="1" dirty="0">
                <a:solidFill>
                  <a:srgbClr val="00B050"/>
                </a:solidFill>
                <a:latin typeface="Times New Roman" panose="02020603050405020304" pitchFamily="18" charset="0"/>
                <a:ea typeface="Barlow Bold" panose="00000800000000000000" pitchFamily="34" charset="-122"/>
                <a:cs typeface="Times New Roman" panose="02020603050405020304" pitchFamily="18" charset="0"/>
              </a:rPr>
            </a:br>
            <a:r>
              <a:rPr lang="vi-VN" sz="2400" b="1" dirty="0">
                <a:solidFill>
                  <a:srgbClr val="00B050"/>
                </a:solidFill>
                <a:latin typeface="Times New Roman" panose="02020603050405020304" pitchFamily="18" charset="0"/>
                <a:ea typeface="Barlow Bold" panose="00000800000000000000" pitchFamily="34" charset="-122"/>
                <a:cs typeface="Times New Roman" panose="02020603050405020304" pitchFamily="18" charset="0"/>
              </a:rPr>
              <a:t>	</a:t>
            </a:r>
            <a:r>
              <a:rPr lang="vi-VN" sz="2400" b="1" dirty="0">
                <a:latin typeface="Times New Roman" panose="02020603050405020304" pitchFamily="18" charset="0"/>
                <a:ea typeface="Barlow Bold" panose="00000800000000000000" pitchFamily="34" charset="-122"/>
                <a:cs typeface="Times New Roman" panose="02020603050405020304" pitchFamily="18" charset="0"/>
              </a:rPr>
              <a:t>+ </a:t>
            </a:r>
            <a:r>
              <a:rPr lang="vi-VN" sz="2400" dirty="0">
                <a:latin typeface="Times New Roman" panose="02020603050405020304" pitchFamily="18" charset="0"/>
                <a:ea typeface="Barlow Bold" panose="00000800000000000000" pitchFamily="34" charset="-122"/>
                <a:cs typeface="Times New Roman" panose="02020603050405020304" pitchFamily="18" charset="0"/>
              </a:rPr>
              <a:t>Reliable - lane không có vạch, mờ, thiếu, ...</a:t>
            </a:r>
            <a:br>
              <a:rPr lang="vi-VN" sz="2400" b="1" dirty="0">
                <a:latin typeface="Times New Roman" panose="02020603050405020304" pitchFamily="18" charset="0"/>
                <a:ea typeface="Barlow Bold" panose="00000800000000000000" pitchFamily="34" charset="-122"/>
                <a:cs typeface="Times New Roman" panose="02020603050405020304" pitchFamily="18" charset="0"/>
              </a:rPr>
            </a:br>
            <a:r>
              <a:rPr lang="vi-VN" sz="2400" b="1" dirty="0">
                <a:latin typeface="Times New Roman" panose="02020603050405020304" pitchFamily="18" charset="0"/>
                <a:ea typeface="Barlow Bold" panose="00000800000000000000" pitchFamily="34" charset="-122"/>
                <a:cs typeface="Times New Roman" panose="02020603050405020304" pitchFamily="18" charset="0"/>
              </a:rPr>
              <a:t>	+ </a:t>
            </a:r>
            <a:r>
              <a:rPr lang="vi-VN" sz="2400" dirty="0">
                <a:solidFill>
                  <a:srgbClr val="FF0000"/>
                </a:solidFill>
                <a:latin typeface="Times New Roman" panose="02020603050405020304" pitchFamily="18" charset="0"/>
                <a:ea typeface="Barlow Bold" panose="00000800000000000000" pitchFamily="34" charset="-122"/>
                <a:cs typeface="Times New Roman" panose="02020603050405020304" pitchFamily="18" charset="0"/>
              </a:rPr>
              <a:t>Low latency </a:t>
            </a:r>
            <a:r>
              <a:rPr lang="vi-VN" sz="2400" dirty="0">
                <a:latin typeface="Times New Roman" panose="02020603050405020304" pitchFamily="18" charset="0"/>
                <a:ea typeface="Barlow Bold" panose="00000800000000000000" pitchFamily="34" charset="-122"/>
                <a:cs typeface="Times New Roman" panose="02020603050405020304" pitchFamily="18" charset="0"/>
              </a:rPr>
              <a:t>- phù hợp xử lý gần </a:t>
            </a:r>
            <a:r>
              <a:rPr lang="vi-VN" sz="2400" dirty="0">
                <a:solidFill>
                  <a:srgbClr val="FF0000"/>
                </a:solidFill>
                <a:latin typeface="Times New Roman" panose="02020603050405020304" pitchFamily="18" charset="0"/>
                <a:ea typeface="Barlow Bold" panose="00000800000000000000" pitchFamily="34" charset="-122"/>
                <a:cs typeface="Times New Roman" panose="02020603050405020304" pitchFamily="18" charset="0"/>
              </a:rPr>
              <a:t>thời gian thực</a:t>
            </a:r>
            <a:br>
              <a:rPr lang="vi-VN" sz="2400" b="1" dirty="0">
                <a:latin typeface="Times New Roman" panose="02020603050405020304" pitchFamily="18" charset="0"/>
                <a:ea typeface="Barlow Bold" panose="00000800000000000000" pitchFamily="34" charset="-122"/>
                <a:cs typeface="Times New Roman" panose="02020603050405020304" pitchFamily="18" charset="0"/>
              </a:rPr>
            </a:br>
            <a:r>
              <a:rPr lang="vi-VN" sz="2400" b="1" dirty="0">
                <a:latin typeface="Times New Roman" panose="02020603050405020304" pitchFamily="18" charset="0"/>
                <a:ea typeface="Barlow Bold" panose="00000800000000000000" pitchFamily="34" charset="-122"/>
                <a:cs typeface="Times New Roman" panose="02020603050405020304" pitchFamily="18" charset="0"/>
              </a:rPr>
              <a:t>	+ </a:t>
            </a:r>
            <a:r>
              <a:rPr lang="vi-VN" sz="2400" dirty="0">
                <a:latin typeface="Times New Roman" panose="02020603050405020304" pitchFamily="18" charset="0"/>
                <a:ea typeface="Barlow Bold" panose="00000800000000000000" pitchFamily="34" charset="-122"/>
                <a:cs typeface="Times New Roman" panose="02020603050405020304" pitchFamily="18" charset="0"/>
              </a:rPr>
              <a:t>Tối ưu tài nguyên</a:t>
            </a:r>
            <a:endParaRPr lang="en-US" sz="2400" dirty="0">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C12D705E-C939-BCAA-364E-D1A2B6EF31D4}"/>
              </a:ext>
            </a:extLst>
          </p:cNvPr>
          <p:cNvPicPr>
            <a:picLocks noChangeAspect="1"/>
          </p:cNvPicPr>
          <p:nvPr/>
        </p:nvPicPr>
        <p:blipFill>
          <a:blip r:embed="rId5"/>
          <a:stretch>
            <a:fillRect/>
          </a:stretch>
        </p:blipFill>
        <p:spPr>
          <a:xfrm>
            <a:off x="-118532" y="1111603"/>
            <a:ext cx="3073558" cy="133357"/>
          </a:xfrm>
          <a:prstGeom prst="rect">
            <a:avLst/>
          </a:prstGeom>
        </p:spPr>
      </p:pic>
    </p:spTree>
    <p:extLst>
      <p:ext uri="{BB962C8B-B14F-4D97-AF65-F5344CB8AC3E}">
        <p14:creationId xmlns:p14="http://schemas.microsoft.com/office/powerpoint/2010/main" val="260840034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2">
            <a:extLst>
              <a:ext uri="{FF2B5EF4-FFF2-40B4-BE49-F238E27FC236}">
                <a16:creationId xmlns:a16="http://schemas.microsoft.com/office/drawing/2014/main" id="{59B38A4A-F357-A668-C001-9473BB5F525A}"/>
              </a:ext>
            </a:extLst>
          </p:cNvPr>
          <p:cNvSpPr/>
          <p:nvPr/>
        </p:nvSpPr>
        <p:spPr>
          <a:xfrm>
            <a:off x="550333" y="5496576"/>
            <a:ext cx="7084547" cy="2639892"/>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70" name="Shape 2">
            <a:extLst>
              <a:ext uri="{FF2B5EF4-FFF2-40B4-BE49-F238E27FC236}">
                <a16:creationId xmlns:a16="http://schemas.microsoft.com/office/drawing/2014/main" id="{C9D7DCA8-C938-B98B-4946-804457AE6B11}"/>
              </a:ext>
            </a:extLst>
          </p:cNvPr>
          <p:cNvSpPr/>
          <p:nvPr/>
        </p:nvSpPr>
        <p:spPr>
          <a:xfrm>
            <a:off x="4086153" y="2637699"/>
            <a:ext cx="3807295" cy="2755058"/>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8" name="Picture 7">
            <a:extLst>
              <a:ext uri="{FF2B5EF4-FFF2-40B4-BE49-F238E27FC236}">
                <a16:creationId xmlns:a16="http://schemas.microsoft.com/office/drawing/2014/main" id="{A6946FBF-3D63-F1EB-C8A1-405C1F56A6C9}"/>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66" name="Shape 2">
            <a:extLst>
              <a:ext uri="{FF2B5EF4-FFF2-40B4-BE49-F238E27FC236}">
                <a16:creationId xmlns:a16="http://schemas.microsoft.com/office/drawing/2014/main" id="{F4A7343A-38C2-FA9E-DBB4-F205B002058A}"/>
              </a:ext>
            </a:extLst>
          </p:cNvPr>
          <p:cNvSpPr/>
          <p:nvPr/>
        </p:nvSpPr>
        <p:spPr>
          <a:xfrm>
            <a:off x="8290919" y="1099698"/>
            <a:ext cx="7084547" cy="6190102"/>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24" name="Image 0" descr="preencoded.png">
            <a:extLst>
              <a:ext uri="{FF2B5EF4-FFF2-40B4-BE49-F238E27FC236}">
                <a16:creationId xmlns:a16="http://schemas.microsoft.com/office/drawing/2014/main" id="{A65EAF19-A830-661C-C95D-A863D263A1B8}"/>
              </a:ext>
            </a:extLst>
          </p:cNvPr>
          <p:cNvPicPr>
            <a:picLocks noChangeAspect="1"/>
          </p:cNvPicPr>
          <p:nvPr/>
        </p:nvPicPr>
        <p:blipFill>
          <a:blip r:embed="rId3"/>
          <a:stretch>
            <a:fillRect/>
          </a:stretch>
        </p:blipFill>
        <p:spPr>
          <a:xfrm flipH="1">
            <a:off x="893265" y="1599126"/>
            <a:ext cx="65834" cy="318574"/>
          </a:xfrm>
          <a:prstGeom prst="rect">
            <a:avLst/>
          </a:prstGeom>
        </p:spPr>
      </p:pic>
      <p:graphicFrame>
        <p:nvGraphicFramePr>
          <p:cNvPr id="11" name="Table 10">
            <a:extLst>
              <a:ext uri="{FF2B5EF4-FFF2-40B4-BE49-F238E27FC236}">
                <a16:creationId xmlns:a16="http://schemas.microsoft.com/office/drawing/2014/main" id="{B2DD88E1-ED6F-8AB1-8F46-ACFA72C844F8}"/>
              </a:ext>
            </a:extLst>
          </p:cNvPr>
          <p:cNvGraphicFramePr>
            <a:graphicFrameLocks noGrp="1"/>
          </p:cNvGraphicFramePr>
          <p:nvPr>
            <p:extLst>
              <p:ext uri="{D42A27DB-BD31-4B8C-83A1-F6EECF244321}">
                <p14:modId xmlns:p14="http://schemas.microsoft.com/office/powerpoint/2010/main" val="1895709905"/>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Các bài báo nền tảng(1)</a:t>
                      </a:r>
                    </a:p>
                  </a:txBody>
                  <a:tcPr/>
                </a:tc>
                <a:extLst>
                  <a:ext uri="{0D108BD9-81ED-4DB2-BD59-A6C34878D82A}">
                    <a16:rowId xmlns:a16="http://schemas.microsoft.com/office/drawing/2014/main" val="10000"/>
                  </a:ext>
                </a:extLst>
              </a:tr>
            </a:tbl>
          </a:graphicData>
        </a:graphic>
      </p:graphicFrame>
      <p:pic>
        <p:nvPicPr>
          <p:cNvPr id="13" name="Picture 12">
            <a:extLst>
              <a:ext uri="{FF2B5EF4-FFF2-40B4-BE49-F238E27FC236}">
                <a16:creationId xmlns:a16="http://schemas.microsoft.com/office/drawing/2014/main" id="{58DEE3C3-521F-F176-7EDD-BBD087F42AA7}"/>
              </a:ext>
            </a:extLst>
          </p:cNvPr>
          <p:cNvPicPr/>
          <p:nvPr/>
        </p:nvPicPr>
        <p:blipFill>
          <a:blip r:embed="rId4"/>
          <a:stretch>
            <a:fillRect/>
          </a:stretch>
        </p:blipFill>
        <p:spPr>
          <a:xfrm>
            <a:off x="-118532" y="-145263"/>
            <a:ext cx="1371600" cy="1390223"/>
          </a:xfrm>
          <a:prstGeom prst="rect">
            <a:avLst/>
          </a:prstGeom>
        </p:spPr>
      </p:pic>
      <p:pic>
        <p:nvPicPr>
          <p:cNvPr id="27" name="Picture 26">
            <a:extLst>
              <a:ext uri="{FF2B5EF4-FFF2-40B4-BE49-F238E27FC236}">
                <a16:creationId xmlns:a16="http://schemas.microsoft.com/office/drawing/2014/main" id="{43360F40-7228-A13B-4724-5C1E6F37549C}"/>
              </a:ext>
            </a:extLst>
          </p:cNvPr>
          <p:cNvPicPr>
            <a:picLocks noChangeAspect="1"/>
          </p:cNvPicPr>
          <p:nvPr/>
        </p:nvPicPr>
        <p:blipFill>
          <a:blip r:embed="rId5"/>
          <a:stretch>
            <a:fillRect/>
          </a:stretch>
        </p:blipFill>
        <p:spPr>
          <a:xfrm>
            <a:off x="-118532" y="1111603"/>
            <a:ext cx="3073558" cy="133357"/>
          </a:xfrm>
          <a:prstGeom prst="rect">
            <a:avLst/>
          </a:prstGeom>
        </p:spPr>
      </p:pic>
      <p:pic>
        <p:nvPicPr>
          <p:cNvPr id="4" name="Picture 3">
            <a:extLst>
              <a:ext uri="{FF2B5EF4-FFF2-40B4-BE49-F238E27FC236}">
                <a16:creationId xmlns:a16="http://schemas.microsoft.com/office/drawing/2014/main" id="{84DC9B9F-04BC-E3DA-A920-1A67F3129584}"/>
              </a:ext>
            </a:extLst>
          </p:cNvPr>
          <p:cNvPicPr>
            <a:picLocks noChangeAspect="1"/>
          </p:cNvPicPr>
          <p:nvPr/>
        </p:nvPicPr>
        <p:blipFill>
          <a:blip r:embed="rId6"/>
          <a:stretch>
            <a:fillRect/>
          </a:stretch>
        </p:blipFill>
        <p:spPr>
          <a:xfrm>
            <a:off x="8551532" y="1391080"/>
            <a:ext cx="6045511" cy="5607338"/>
          </a:xfrm>
          <a:prstGeom prst="rect">
            <a:avLst/>
          </a:prstGeom>
        </p:spPr>
      </p:pic>
      <p:pic>
        <p:nvPicPr>
          <p:cNvPr id="12" name="Picture 11">
            <a:extLst>
              <a:ext uri="{FF2B5EF4-FFF2-40B4-BE49-F238E27FC236}">
                <a16:creationId xmlns:a16="http://schemas.microsoft.com/office/drawing/2014/main" id="{7DCDE4F6-1AD6-453B-70FE-B33D1A862622}"/>
              </a:ext>
            </a:extLst>
          </p:cNvPr>
          <p:cNvPicPr>
            <a:picLocks noChangeAspect="1"/>
          </p:cNvPicPr>
          <p:nvPr/>
        </p:nvPicPr>
        <p:blipFill>
          <a:blip r:embed="rId7"/>
          <a:stretch>
            <a:fillRect/>
          </a:stretch>
        </p:blipFill>
        <p:spPr>
          <a:xfrm>
            <a:off x="345006" y="1519362"/>
            <a:ext cx="463574" cy="476274"/>
          </a:xfrm>
          <a:prstGeom prst="rect">
            <a:avLst/>
          </a:prstGeom>
        </p:spPr>
      </p:pic>
      <p:pic>
        <p:nvPicPr>
          <p:cNvPr id="16" name="Picture 15">
            <a:extLst>
              <a:ext uri="{FF2B5EF4-FFF2-40B4-BE49-F238E27FC236}">
                <a16:creationId xmlns:a16="http://schemas.microsoft.com/office/drawing/2014/main" id="{3232DF87-B670-6A55-B5BF-C3A514704215}"/>
              </a:ext>
            </a:extLst>
          </p:cNvPr>
          <p:cNvPicPr>
            <a:picLocks noChangeAspect="1"/>
          </p:cNvPicPr>
          <p:nvPr/>
        </p:nvPicPr>
        <p:blipFill>
          <a:blip r:embed="rId8"/>
          <a:stretch>
            <a:fillRect/>
          </a:stretch>
        </p:blipFill>
        <p:spPr>
          <a:xfrm>
            <a:off x="3875199" y="1519362"/>
            <a:ext cx="482625" cy="463574"/>
          </a:xfrm>
          <a:prstGeom prst="rect">
            <a:avLst/>
          </a:prstGeom>
        </p:spPr>
      </p:pic>
      <p:sp>
        <p:nvSpPr>
          <p:cNvPr id="20" name="Shape 3">
            <a:extLst>
              <a:ext uri="{FF2B5EF4-FFF2-40B4-BE49-F238E27FC236}">
                <a16:creationId xmlns:a16="http://schemas.microsoft.com/office/drawing/2014/main" id="{9CD054DA-8D4D-E280-FFAC-F9B177BC72FA}"/>
              </a:ext>
            </a:extLst>
          </p:cNvPr>
          <p:cNvSpPr/>
          <p:nvPr/>
        </p:nvSpPr>
        <p:spPr>
          <a:xfrm>
            <a:off x="951959" y="1599125"/>
            <a:ext cx="2263680" cy="318575"/>
          </a:xfrm>
          <a:prstGeom prst="roundRect">
            <a:avLst>
              <a:gd name="adj" fmla="val 6235"/>
            </a:avLst>
          </a:prstGeom>
          <a:solidFill>
            <a:srgbClr val="FFFFFF"/>
          </a:solidFill>
          <a:ln w="22860">
            <a:solidFill>
              <a:srgbClr val="BACFDD"/>
            </a:solidFill>
            <a:prstDash val="solid"/>
          </a:ln>
        </p:spPr>
      </p:sp>
      <p:sp>
        <p:nvSpPr>
          <p:cNvPr id="28" name="Text 4">
            <a:extLst>
              <a:ext uri="{FF2B5EF4-FFF2-40B4-BE49-F238E27FC236}">
                <a16:creationId xmlns:a16="http://schemas.microsoft.com/office/drawing/2014/main" id="{808116AA-1672-05AC-2ABF-9CDEE6501429}"/>
              </a:ext>
            </a:extLst>
          </p:cNvPr>
          <p:cNvSpPr/>
          <p:nvPr/>
        </p:nvSpPr>
        <p:spPr>
          <a:xfrm>
            <a:off x="1017792" y="1558924"/>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Phát hiện Lane</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30" name="Image 0" descr="preencoded.png">
            <a:extLst>
              <a:ext uri="{FF2B5EF4-FFF2-40B4-BE49-F238E27FC236}">
                <a16:creationId xmlns:a16="http://schemas.microsoft.com/office/drawing/2014/main" id="{6EBFD852-31ED-49B7-2CDB-50C043EA195A}"/>
              </a:ext>
            </a:extLst>
          </p:cNvPr>
          <p:cNvPicPr>
            <a:picLocks noChangeAspect="1"/>
          </p:cNvPicPr>
          <p:nvPr/>
        </p:nvPicPr>
        <p:blipFill>
          <a:blip r:embed="rId3"/>
          <a:stretch>
            <a:fillRect/>
          </a:stretch>
        </p:blipFill>
        <p:spPr>
          <a:xfrm flipH="1">
            <a:off x="893265" y="2077940"/>
            <a:ext cx="65834" cy="318574"/>
          </a:xfrm>
          <a:prstGeom prst="rect">
            <a:avLst/>
          </a:prstGeom>
        </p:spPr>
      </p:pic>
      <p:pic>
        <p:nvPicPr>
          <p:cNvPr id="32" name="Picture 31">
            <a:extLst>
              <a:ext uri="{FF2B5EF4-FFF2-40B4-BE49-F238E27FC236}">
                <a16:creationId xmlns:a16="http://schemas.microsoft.com/office/drawing/2014/main" id="{20FCED49-AAF1-80B3-5369-4CA146FF9671}"/>
              </a:ext>
            </a:extLst>
          </p:cNvPr>
          <p:cNvPicPr>
            <a:picLocks noChangeAspect="1"/>
          </p:cNvPicPr>
          <p:nvPr/>
        </p:nvPicPr>
        <p:blipFill>
          <a:blip r:embed="rId7"/>
          <a:stretch>
            <a:fillRect/>
          </a:stretch>
        </p:blipFill>
        <p:spPr>
          <a:xfrm>
            <a:off x="345006" y="1998176"/>
            <a:ext cx="463574" cy="476274"/>
          </a:xfrm>
          <a:prstGeom prst="rect">
            <a:avLst/>
          </a:prstGeom>
        </p:spPr>
      </p:pic>
      <p:sp>
        <p:nvSpPr>
          <p:cNvPr id="34" name="Shape 3">
            <a:extLst>
              <a:ext uri="{FF2B5EF4-FFF2-40B4-BE49-F238E27FC236}">
                <a16:creationId xmlns:a16="http://schemas.microsoft.com/office/drawing/2014/main" id="{157DF807-DC13-16F0-9AC1-BF47C3EA611B}"/>
              </a:ext>
            </a:extLst>
          </p:cNvPr>
          <p:cNvSpPr/>
          <p:nvPr/>
        </p:nvSpPr>
        <p:spPr>
          <a:xfrm>
            <a:off x="951958" y="2077939"/>
            <a:ext cx="2263681" cy="318575"/>
          </a:xfrm>
          <a:prstGeom prst="roundRect">
            <a:avLst>
              <a:gd name="adj" fmla="val 6235"/>
            </a:avLst>
          </a:prstGeom>
          <a:solidFill>
            <a:srgbClr val="FFFFFF"/>
          </a:solidFill>
          <a:ln w="22860">
            <a:solidFill>
              <a:srgbClr val="BACFDD"/>
            </a:solidFill>
            <a:prstDash val="solid"/>
          </a:ln>
        </p:spPr>
      </p:sp>
      <p:sp>
        <p:nvSpPr>
          <p:cNvPr id="36" name="Text 4">
            <a:extLst>
              <a:ext uri="{FF2B5EF4-FFF2-40B4-BE49-F238E27FC236}">
                <a16:creationId xmlns:a16="http://schemas.microsoft.com/office/drawing/2014/main" id="{D7A2A3F5-CFF6-BACF-4A3A-78863B4C4F54}"/>
              </a:ext>
            </a:extLst>
          </p:cNvPr>
          <p:cNvSpPr/>
          <p:nvPr/>
        </p:nvSpPr>
        <p:spPr>
          <a:xfrm>
            <a:off x="1017792" y="2037738"/>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Độ chính xác cao</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38" name="Image 0" descr="preencoded.png">
            <a:extLst>
              <a:ext uri="{FF2B5EF4-FFF2-40B4-BE49-F238E27FC236}">
                <a16:creationId xmlns:a16="http://schemas.microsoft.com/office/drawing/2014/main" id="{2816A1B4-4D66-727A-C1B3-F1A2C2B59F65}"/>
              </a:ext>
            </a:extLst>
          </p:cNvPr>
          <p:cNvPicPr>
            <a:picLocks noChangeAspect="1"/>
          </p:cNvPicPr>
          <p:nvPr/>
        </p:nvPicPr>
        <p:blipFill>
          <a:blip r:embed="rId3"/>
          <a:stretch>
            <a:fillRect/>
          </a:stretch>
        </p:blipFill>
        <p:spPr>
          <a:xfrm flipH="1">
            <a:off x="4432983" y="1589878"/>
            <a:ext cx="65834" cy="318574"/>
          </a:xfrm>
          <a:prstGeom prst="rect">
            <a:avLst/>
          </a:prstGeom>
        </p:spPr>
      </p:pic>
      <p:sp>
        <p:nvSpPr>
          <p:cNvPr id="42" name="Shape 3">
            <a:extLst>
              <a:ext uri="{FF2B5EF4-FFF2-40B4-BE49-F238E27FC236}">
                <a16:creationId xmlns:a16="http://schemas.microsoft.com/office/drawing/2014/main" id="{55B4099D-9BAD-DD4D-6695-C01AA56EF179}"/>
              </a:ext>
            </a:extLst>
          </p:cNvPr>
          <p:cNvSpPr/>
          <p:nvPr/>
        </p:nvSpPr>
        <p:spPr>
          <a:xfrm>
            <a:off x="4491676" y="1589877"/>
            <a:ext cx="2263681" cy="318575"/>
          </a:xfrm>
          <a:prstGeom prst="roundRect">
            <a:avLst>
              <a:gd name="adj" fmla="val 6235"/>
            </a:avLst>
          </a:prstGeom>
          <a:solidFill>
            <a:srgbClr val="FFFFFF"/>
          </a:solidFill>
          <a:ln w="22860">
            <a:solidFill>
              <a:srgbClr val="BACFDD"/>
            </a:solidFill>
            <a:prstDash val="solid"/>
          </a:ln>
        </p:spPr>
      </p:sp>
      <p:sp>
        <p:nvSpPr>
          <p:cNvPr id="44" name="Text 4">
            <a:extLst>
              <a:ext uri="{FF2B5EF4-FFF2-40B4-BE49-F238E27FC236}">
                <a16:creationId xmlns:a16="http://schemas.microsoft.com/office/drawing/2014/main" id="{EFFAD992-FA85-CFCA-A5B7-3C0C8D7D91EC}"/>
              </a:ext>
            </a:extLst>
          </p:cNvPr>
          <p:cNvSpPr/>
          <p:nvPr/>
        </p:nvSpPr>
        <p:spPr>
          <a:xfrm>
            <a:off x="4557510" y="1549676"/>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Chi phí cao</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46" name="Picture 45">
            <a:extLst>
              <a:ext uri="{FF2B5EF4-FFF2-40B4-BE49-F238E27FC236}">
                <a16:creationId xmlns:a16="http://schemas.microsoft.com/office/drawing/2014/main" id="{D976B4A8-7412-5A3D-50BF-750B4C5E21A7}"/>
              </a:ext>
            </a:extLst>
          </p:cNvPr>
          <p:cNvPicPr>
            <a:picLocks noChangeAspect="1"/>
          </p:cNvPicPr>
          <p:nvPr/>
        </p:nvPicPr>
        <p:blipFill>
          <a:blip r:embed="rId8"/>
          <a:stretch>
            <a:fillRect/>
          </a:stretch>
        </p:blipFill>
        <p:spPr>
          <a:xfrm>
            <a:off x="3884725" y="2032815"/>
            <a:ext cx="482625" cy="463574"/>
          </a:xfrm>
          <a:prstGeom prst="rect">
            <a:avLst/>
          </a:prstGeom>
        </p:spPr>
      </p:pic>
      <p:pic>
        <p:nvPicPr>
          <p:cNvPr id="48" name="Image 0" descr="preencoded.png">
            <a:extLst>
              <a:ext uri="{FF2B5EF4-FFF2-40B4-BE49-F238E27FC236}">
                <a16:creationId xmlns:a16="http://schemas.microsoft.com/office/drawing/2014/main" id="{F96F658B-A908-8286-4EDA-D06EF3F1621E}"/>
              </a:ext>
            </a:extLst>
          </p:cNvPr>
          <p:cNvPicPr>
            <a:picLocks noChangeAspect="1"/>
          </p:cNvPicPr>
          <p:nvPr/>
        </p:nvPicPr>
        <p:blipFill>
          <a:blip r:embed="rId3"/>
          <a:stretch>
            <a:fillRect/>
          </a:stretch>
        </p:blipFill>
        <p:spPr>
          <a:xfrm flipH="1">
            <a:off x="4442509" y="2103331"/>
            <a:ext cx="65834" cy="318574"/>
          </a:xfrm>
          <a:prstGeom prst="rect">
            <a:avLst/>
          </a:prstGeom>
        </p:spPr>
      </p:pic>
      <p:sp>
        <p:nvSpPr>
          <p:cNvPr id="50" name="Shape 3">
            <a:extLst>
              <a:ext uri="{FF2B5EF4-FFF2-40B4-BE49-F238E27FC236}">
                <a16:creationId xmlns:a16="http://schemas.microsoft.com/office/drawing/2014/main" id="{844C7269-B474-C117-8C0D-E9B3A4309959}"/>
              </a:ext>
            </a:extLst>
          </p:cNvPr>
          <p:cNvSpPr/>
          <p:nvPr/>
        </p:nvSpPr>
        <p:spPr>
          <a:xfrm>
            <a:off x="4501202" y="2103330"/>
            <a:ext cx="2263681" cy="318575"/>
          </a:xfrm>
          <a:prstGeom prst="roundRect">
            <a:avLst>
              <a:gd name="adj" fmla="val 6235"/>
            </a:avLst>
          </a:prstGeom>
          <a:solidFill>
            <a:srgbClr val="FFFFFF"/>
          </a:solidFill>
          <a:ln w="22860">
            <a:solidFill>
              <a:srgbClr val="BACFDD"/>
            </a:solidFill>
            <a:prstDash val="solid"/>
          </a:ln>
        </p:spPr>
      </p:sp>
      <p:sp>
        <p:nvSpPr>
          <p:cNvPr id="52" name="Text 4">
            <a:extLst>
              <a:ext uri="{FF2B5EF4-FFF2-40B4-BE49-F238E27FC236}">
                <a16:creationId xmlns:a16="http://schemas.microsoft.com/office/drawing/2014/main" id="{23E4A7D7-5E10-2953-6125-9CCFD0099DC9}"/>
              </a:ext>
            </a:extLst>
          </p:cNvPr>
          <p:cNvSpPr/>
          <p:nvPr/>
        </p:nvSpPr>
        <p:spPr>
          <a:xfrm>
            <a:off x="4567036" y="2063129"/>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Yêu cầu thiết bị</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54" name="Picture 53">
            <a:extLst>
              <a:ext uri="{FF2B5EF4-FFF2-40B4-BE49-F238E27FC236}">
                <a16:creationId xmlns:a16="http://schemas.microsoft.com/office/drawing/2014/main" id="{B58E9BDC-6A8C-8320-CA7D-62FD27E73C24}"/>
              </a:ext>
            </a:extLst>
          </p:cNvPr>
          <p:cNvPicPr>
            <a:picLocks noChangeAspect="1"/>
          </p:cNvPicPr>
          <p:nvPr/>
        </p:nvPicPr>
        <p:blipFill>
          <a:blip r:embed="rId9"/>
          <a:stretch>
            <a:fillRect/>
          </a:stretch>
        </p:blipFill>
        <p:spPr>
          <a:xfrm>
            <a:off x="661682" y="5550269"/>
            <a:ext cx="6884172" cy="2504305"/>
          </a:xfrm>
          <a:prstGeom prst="rect">
            <a:avLst/>
          </a:prstGeom>
        </p:spPr>
      </p:pic>
      <p:sp>
        <p:nvSpPr>
          <p:cNvPr id="56" name="Shape 2">
            <a:extLst>
              <a:ext uri="{FF2B5EF4-FFF2-40B4-BE49-F238E27FC236}">
                <a16:creationId xmlns:a16="http://schemas.microsoft.com/office/drawing/2014/main" id="{5A2CCF43-C107-B7B1-FFCB-14C1019BC0AB}"/>
              </a:ext>
            </a:extLst>
          </p:cNvPr>
          <p:cNvSpPr/>
          <p:nvPr/>
        </p:nvSpPr>
        <p:spPr>
          <a:xfrm>
            <a:off x="171589" y="2618953"/>
            <a:ext cx="3807295" cy="2755058"/>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58" name="Text 3">
            <a:extLst>
              <a:ext uri="{FF2B5EF4-FFF2-40B4-BE49-F238E27FC236}">
                <a16:creationId xmlns:a16="http://schemas.microsoft.com/office/drawing/2014/main" id="{490BFC30-28D6-F691-AF0D-CEA503CDDBB3}"/>
              </a:ext>
            </a:extLst>
          </p:cNvPr>
          <p:cNvSpPr/>
          <p:nvPr/>
        </p:nvSpPr>
        <p:spPr>
          <a:xfrm>
            <a:off x="396346" y="2696955"/>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Vấn đề giải quyết</a:t>
            </a:r>
            <a:endParaRPr lang="en-US" sz="1900" dirty="0"/>
          </a:p>
        </p:txBody>
      </p:sp>
      <p:sp>
        <p:nvSpPr>
          <p:cNvPr id="60" name="Text 4">
            <a:extLst>
              <a:ext uri="{FF2B5EF4-FFF2-40B4-BE49-F238E27FC236}">
                <a16:creationId xmlns:a16="http://schemas.microsoft.com/office/drawing/2014/main" id="{CD95F92F-40CF-1D44-02DF-A7CD84B4C998}"/>
              </a:ext>
            </a:extLst>
          </p:cNvPr>
          <p:cNvSpPr/>
          <p:nvPr/>
        </p:nvSpPr>
        <p:spPr>
          <a:xfrm>
            <a:off x="443879" y="3029567"/>
            <a:ext cx="4191970" cy="1158240"/>
          </a:xfrm>
          <a:prstGeom prst="rect">
            <a:avLst/>
          </a:prstGeom>
          <a:noFill/>
        </p:spPr>
        <p:txBody>
          <a:bodyPr wrap="square" lIns="0" tIns="0" rIns="0" bIns="0" rtlCol="0" anchor="t"/>
          <a:lstStyle/>
          <a:p>
            <a:pPr marL="0" indent="0" algn="l">
              <a:lnSpc>
                <a:spcPts val="225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Lane bị che khuất</a:t>
            </a:r>
            <a:b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b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Lane đứt đoạn</a:t>
            </a:r>
            <a:b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b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Ánh sáng yếu, chói sáng, thời tiết xấu</a:t>
            </a:r>
            <a:endParaRPr lang="en-US" sz="1400" dirty="0"/>
          </a:p>
        </p:txBody>
      </p:sp>
      <p:sp>
        <p:nvSpPr>
          <p:cNvPr id="62" name="Text 3">
            <a:extLst>
              <a:ext uri="{FF2B5EF4-FFF2-40B4-BE49-F238E27FC236}">
                <a16:creationId xmlns:a16="http://schemas.microsoft.com/office/drawing/2014/main" id="{54FD68F3-3EA7-373C-AA2E-129F8FC45369}"/>
              </a:ext>
            </a:extLst>
          </p:cNvPr>
          <p:cNvSpPr/>
          <p:nvPr/>
        </p:nvSpPr>
        <p:spPr>
          <a:xfrm>
            <a:off x="396346" y="4057848"/>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Output thực tế</a:t>
            </a:r>
            <a:endParaRPr lang="en-US" sz="1900" dirty="0"/>
          </a:p>
        </p:txBody>
      </p:sp>
      <p:sp>
        <p:nvSpPr>
          <p:cNvPr id="64" name="Text 4">
            <a:extLst>
              <a:ext uri="{FF2B5EF4-FFF2-40B4-BE49-F238E27FC236}">
                <a16:creationId xmlns:a16="http://schemas.microsoft.com/office/drawing/2014/main" id="{94C01A56-0586-82B8-69F9-B7A57727F3DF}"/>
              </a:ext>
            </a:extLst>
          </p:cNvPr>
          <p:cNvSpPr/>
          <p:nvPr/>
        </p:nvSpPr>
        <p:spPr>
          <a:xfrm>
            <a:off x="443879" y="4418970"/>
            <a:ext cx="4191970" cy="1158240"/>
          </a:xfrm>
          <a:prstGeom prst="rect">
            <a:avLst/>
          </a:prstGeom>
          <a:noFill/>
        </p:spPr>
        <p:txBody>
          <a:bodyPr wrap="square" lIns="0" tIns="0" rIns="0" bIns="0" rtlCol="0" anchor="t"/>
          <a:lstStyle/>
          <a:p>
            <a:pPr marL="0" indent="0" algn="l">
              <a:lnSpc>
                <a:spcPts val="225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Hỗ trợ xe nhận biết làn</a:t>
            </a:r>
            <a:b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b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Dẫn hướng</a:t>
            </a:r>
            <a:b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b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Driving-assistance systems</a:t>
            </a:r>
            <a:endParaRPr lang="en-US" sz="1400" dirty="0"/>
          </a:p>
        </p:txBody>
      </p:sp>
      <p:sp>
        <p:nvSpPr>
          <p:cNvPr id="68" name="Text 3">
            <a:extLst>
              <a:ext uri="{FF2B5EF4-FFF2-40B4-BE49-F238E27FC236}">
                <a16:creationId xmlns:a16="http://schemas.microsoft.com/office/drawing/2014/main" id="{F3135986-C885-F4C1-C043-8888911F453C}"/>
              </a:ext>
            </a:extLst>
          </p:cNvPr>
          <p:cNvSpPr/>
          <p:nvPr/>
        </p:nvSpPr>
        <p:spPr>
          <a:xfrm>
            <a:off x="4268531" y="2859035"/>
            <a:ext cx="3624917"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Mô hình SCNN đã giành giải nhất tại cuộc thi TuSimple Benchmark </a:t>
            </a:r>
            <a:r>
              <a:rPr lang="vi-VN" sz="1900" b="1" dirty="0">
                <a:solidFill>
                  <a:srgbClr val="EE0000"/>
                </a:solidFill>
                <a:latin typeface="Barlow Bold" panose="00000800000000000000" pitchFamily="34" charset="0"/>
                <a:ea typeface="Barlow Bold" panose="00000800000000000000" pitchFamily="34" charset="-122"/>
                <a:cs typeface="Barlow Bold" panose="00000800000000000000" pitchFamily="34" charset="-120"/>
              </a:rPr>
              <a:t>Lane Detection </a:t>
            </a: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Challenge với độ chính xác đạt 96,53%.</a:t>
            </a:r>
            <a:endParaRPr lang="en-US" sz="1900" dirty="0"/>
          </a:p>
        </p:txBody>
      </p:sp>
    </p:spTree>
    <p:extLst>
      <p:ext uri="{BB962C8B-B14F-4D97-AF65-F5344CB8AC3E}">
        <p14:creationId xmlns:p14="http://schemas.microsoft.com/office/powerpoint/2010/main" val="27582521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2">
            <a:extLst>
              <a:ext uri="{FF2B5EF4-FFF2-40B4-BE49-F238E27FC236}">
                <a16:creationId xmlns:a16="http://schemas.microsoft.com/office/drawing/2014/main" id="{8550D31A-5A0C-D3BB-5840-34C258A7E4F6}"/>
              </a:ext>
            </a:extLst>
          </p:cNvPr>
          <p:cNvSpPr>
            <a:spLocks/>
          </p:cNvSpPr>
          <p:nvPr/>
        </p:nvSpPr>
        <p:spPr>
          <a:xfrm>
            <a:off x="298910" y="1229683"/>
            <a:ext cx="7474200" cy="3702547"/>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3" name="Picture 2">
            <a:extLst>
              <a:ext uri="{FF2B5EF4-FFF2-40B4-BE49-F238E27FC236}">
                <a16:creationId xmlns:a16="http://schemas.microsoft.com/office/drawing/2014/main" id="{20784AB7-62AA-6FA9-6834-FB25787F03C3}"/>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5" name="Shape 2">
            <a:extLst>
              <a:ext uri="{FF2B5EF4-FFF2-40B4-BE49-F238E27FC236}">
                <a16:creationId xmlns:a16="http://schemas.microsoft.com/office/drawing/2014/main" id="{4689B199-E6B2-3CF0-A869-252AC8640255}"/>
              </a:ext>
            </a:extLst>
          </p:cNvPr>
          <p:cNvSpPr/>
          <p:nvPr/>
        </p:nvSpPr>
        <p:spPr>
          <a:xfrm>
            <a:off x="8290919" y="1099698"/>
            <a:ext cx="7084547" cy="6190102"/>
          </a:xfrm>
          <a:prstGeom prst="roundRect">
            <a:avLst>
              <a:gd name="adj" fmla="val 11303"/>
            </a:avLst>
          </a:prstGeom>
          <a:solidFill>
            <a:srgbClr val="D4E9F7"/>
          </a:solidFill>
          <a:ln w="7620">
            <a:solidFill>
              <a:srgbClr val="BACFDD"/>
            </a:solidFill>
            <a:prstDash val="solid"/>
          </a:ln>
        </p:spPr>
        <p:txBody>
          <a:bodyPr/>
          <a:lstStyle/>
          <a:p>
            <a:endParaRPr lang="en-US" dirty="0"/>
          </a:p>
        </p:txBody>
      </p:sp>
      <p:graphicFrame>
        <p:nvGraphicFramePr>
          <p:cNvPr id="9" name="Table 8">
            <a:extLst>
              <a:ext uri="{FF2B5EF4-FFF2-40B4-BE49-F238E27FC236}">
                <a16:creationId xmlns:a16="http://schemas.microsoft.com/office/drawing/2014/main" id="{D5F4293E-51F0-9515-19B4-E9E7FCC3EC37}"/>
              </a:ext>
            </a:extLst>
          </p:cNvPr>
          <p:cNvGraphicFramePr>
            <a:graphicFrameLocks noGrp="1"/>
          </p:cNvGraphicFramePr>
          <p:nvPr>
            <p:extLst>
              <p:ext uri="{D42A27DB-BD31-4B8C-83A1-F6EECF244321}">
                <p14:modId xmlns:p14="http://schemas.microsoft.com/office/powerpoint/2010/main" val="1024560555"/>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Các bài báo nền tảng(1)</a:t>
                      </a:r>
                    </a:p>
                  </a:txBody>
                  <a:tcPr/>
                </a:tc>
                <a:extLst>
                  <a:ext uri="{0D108BD9-81ED-4DB2-BD59-A6C34878D82A}">
                    <a16:rowId xmlns:a16="http://schemas.microsoft.com/office/drawing/2014/main" val="10000"/>
                  </a:ext>
                </a:extLst>
              </a:tr>
            </a:tbl>
          </a:graphicData>
        </a:graphic>
      </p:graphicFrame>
      <p:pic>
        <p:nvPicPr>
          <p:cNvPr id="11" name="Picture 10">
            <a:extLst>
              <a:ext uri="{FF2B5EF4-FFF2-40B4-BE49-F238E27FC236}">
                <a16:creationId xmlns:a16="http://schemas.microsoft.com/office/drawing/2014/main" id="{FAE09CD0-1B41-AB36-0DB8-C01FBD6D7102}"/>
              </a:ext>
            </a:extLst>
          </p:cNvPr>
          <p:cNvPicPr/>
          <p:nvPr/>
        </p:nvPicPr>
        <p:blipFill>
          <a:blip r:embed="rId3"/>
          <a:stretch>
            <a:fillRect/>
          </a:stretch>
        </p:blipFill>
        <p:spPr>
          <a:xfrm>
            <a:off x="-118532" y="-145263"/>
            <a:ext cx="1371600" cy="1390223"/>
          </a:xfrm>
          <a:prstGeom prst="rect">
            <a:avLst/>
          </a:prstGeom>
        </p:spPr>
      </p:pic>
      <p:pic>
        <p:nvPicPr>
          <p:cNvPr id="13" name="Picture 12">
            <a:extLst>
              <a:ext uri="{FF2B5EF4-FFF2-40B4-BE49-F238E27FC236}">
                <a16:creationId xmlns:a16="http://schemas.microsoft.com/office/drawing/2014/main" id="{C6AE5AA2-7085-7836-396E-2CF1DB3F6A5B}"/>
              </a:ext>
            </a:extLst>
          </p:cNvPr>
          <p:cNvPicPr>
            <a:picLocks noChangeAspect="1"/>
          </p:cNvPicPr>
          <p:nvPr/>
        </p:nvPicPr>
        <p:blipFill>
          <a:blip r:embed="rId4"/>
          <a:stretch>
            <a:fillRect/>
          </a:stretch>
        </p:blipFill>
        <p:spPr>
          <a:xfrm>
            <a:off x="-118532" y="1111603"/>
            <a:ext cx="3073558" cy="133357"/>
          </a:xfrm>
          <a:prstGeom prst="rect">
            <a:avLst/>
          </a:prstGeom>
        </p:spPr>
      </p:pic>
      <p:pic>
        <p:nvPicPr>
          <p:cNvPr id="15" name="Picture 14">
            <a:extLst>
              <a:ext uri="{FF2B5EF4-FFF2-40B4-BE49-F238E27FC236}">
                <a16:creationId xmlns:a16="http://schemas.microsoft.com/office/drawing/2014/main" id="{9744BCAA-B698-2DF0-9635-2511AAEF8FEC}"/>
              </a:ext>
            </a:extLst>
          </p:cNvPr>
          <p:cNvPicPr>
            <a:picLocks noChangeAspect="1"/>
          </p:cNvPicPr>
          <p:nvPr/>
        </p:nvPicPr>
        <p:blipFill>
          <a:blip r:embed="rId5"/>
          <a:stretch>
            <a:fillRect/>
          </a:stretch>
        </p:blipFill>
        <p:spPr>
          <a:xfrm>
            <a:off x="8551532" y="1391080"/>
            <a:ext cx="6045511" cy="5607338"/>
          </a:xfrm>
          <a:prstGeom prst="rect">
            <a:avLst/>
          </a:prstGeom>
        </p:spPr>
      </p:pic>
      <p:pic>
        <p:nvPicPr>
          <p:cNvPr id="59" name="Picture 58">
            <a:extLst>
              <a:ext uri="{FF2B5EF4-FFF2-40B4-BE49-F238E27FC236}">
                <a16:creationId xmlns:a16="http://schemas.microsoft.com/office/drawing/2014/main" id="{122B2266-C683-9021-D2F7-A3E874059BF4}"/>
              </a:ext>
            </a:extLst>
          </p:cNvPr>
          <p:cNvPicPr>
            <a:picLocks noChangeAspect="1"/>
          </p:cNvPicPr>
          <p:nvPr/>
        </p:nvPicPr>
        <p:blipFill>
          <a:blip r:embed="rId6"/>
          <a:stretch>
            <a:fillRect/>
          </a:stretch>
        </p:blipFill>
        <p:spPr>
          <a:xfrm>
            <a:off x="481419" y="1325381"/>
            <a:ext cx="7031077" cy="3511150"/>
          </a:xfrm>
          <a:prstGeom prst="rect">
            <a:avLst/>
          </a:prstGeom>
        </p:spPr>
      </p:pic>
      <p:sp>
        <p:nvSpPr>
          <p:cNvPr id="63" name="Text 3">
            <a:extLst>
              <a:ext uri="{FF2B5EF4-FFF2-40B4-BE49-F238E27FC236}">
                <a16:creationId xmlns:a16="http://schemas.microsoft.com/office/drawing/2014/main" id="{ED42F64D-A0FA-647C-13DA-DD7DF5997E5D}"/>
              </a:ext>
            </a:extLst>
          </p:cNvPr>
          <p:cNvSpPr/>
          <p:nvPr/>
        </p:nvSpPr>
        <p:spPr>
          <a:xfrm>
            <a:off x="422153" y="5160754"/>
            <a:ext cx="7290979" cy="604361"/>
          </a:xfrm>
          <a:prstGeom prst="rect">
            <a:avLst/>
          </a:prstGeom>
          <a:noFill/>
        </p:spPr>
        <p:txBody>
          <a:bodyPr wrap="square" lIns="0" tIns="0" rIns="0" bIns="0" rtlCol="0" anchor="t"/>
          <a:lstStyle/>
          <a:p>
            <a:pPr marL="0" indent="0" algn="l">
              <a:lnSpc>
                <a:spcPct val="15000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Spatial CNN (SCNN); mô hình này mở rộng phương pháp tích chập theo lớp truyền thống thành </a:t>
            </a:r>
            <a:r>
              <a:rPr lang="vi-VN" sz="1900" b="1" dirty="0">
                <a:solidFill>
                  <a:srgbClr val="00B050"/>
                </a:solidFill>
                <a:latin typeface="Barlow Bold" panose="00000800000000000000" pitchFamily="34" charset="0"/>
                <a:ea typeface="Barlow Bold" panose="00000800000000000000" pitchFamily="34" charset="-122"/>
                <a:cs typeface="Barlow Bold" panose="00000800000000000000" pitchFamily="34" charset="-120"/>
              </a:rPr>
              <a:t>tích chập </a:t>
            </a:r>
            <a:r>
              <a:rPr lang="vi-VN" sz="1900" b="1" dirty="0">
                <a:solidFill>
                  <a:srgbClr val="EE0000"/>
                </a:solidFill>
                <a:latin typeface="Barlow Bold" panose="00000800000000000000" pitchFamily="34" charset="0"/>
                <a:ea typeface="Barlow Bold" panose="00000800000000000000" pitchFamily="34" charset="-122"/>
                <a:cs typeface="Barlow Bold" panose="00000800000000000000" pitchFamily="34" charset="-120"/>
              </a:rPr>
              <a:t>theo từng lát cắt </a:t>
            </a: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(slice-by-slice) ngay trong các bản đồ đặc trưng (feature maps), qua đó cho phép </a:t>
            </a:r>
            <a:r>
              <a:rPr lang="vi-VN" sz="1900" b="1" dirty="0">
                <a:solidFill>
                  <a:srgbClr val="00B050"/>
                </a:solidFill>
                <a:latin typeface="Barlow Bold" panose="00000800000000000000" pitchFamily="34" charset="0"/>
                <a:ea typeface="Barlow Bold" panose="00000800000000000000" pitchFamily="34" charset="-122"/>
                <a:cs typeface="Barlow Bold" panose="00000800000000000000" pitchFamily="34" charset="-120"/>
              </a:rPr>
              <a:t>truyền tải thông tin giữa các điểm ảnh </a:t>
            </a:r>
            <a:r>
              <a:rPr lang="vi-VN" sz="1900" b="1" dirty="0">
                <a:solidFill>
                  <a:srgbClr val="EE0000"/>
                </a:solidFill>
                <a:latin typeface="Barlow Bold" panose="00000800000000000000" pitchFamily="34" charset="0"/>
                <a:ea typeface="Barlow Bold" panose="00000800000000000000" pitchFamily="34" charset="-122"/>
                <a:cs typeface="Barlow Bold" panose="00000800000000000000" pitchFamily="34" charset="-120"/>
              </a:rPr>
              <a:t>dọc theo hàng và cột trong cùng một lớp</a:t>
            </a: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SCNN đặc biệt phù hợp với các đối tượng lớn hoặc có cấu trúc hình dạng dài và liên tục.</a:t>
            </a:r>
            <a:endParaRPr lang="en-US" sz="1900" dirty="0"/>
          </a:p>
        </p:txBody>
      </p:sp>
    </p:spTree>
    <p:extLst>
      <p:ext uri="{BB962C8B-B14F-4D97-AF65-F5344CB8AC3E}">
        <p14:creationId xmlns:p14="http://schemas.microsoft.com/office/powerpoint/2010/main" val="12474647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C5123C-6D66-47BE-0B45-79AB5CC703C7}"/>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7" name="Shape 2">
            <a:extLst>
              <a:ext uri="{FF2B5EF4-FFF2-40B4-BE49-F238E27FC236}">
                <a16:creationId xmlns:a16="http://schemas.microsoft.com/office/drawing/2014/main" id="{1CEBCAA6-8659-CAF9-EC82-DBD2FEDF2E52}"/>
              </a:ext>
            </a:extLst>
          </p:cNvPr>
          <p:cNvSpPr/>
          <p:nvPr/>
        </p:nvSpPr>
        <p:spPr>
          <a:xfrm>
            <a:off x="8303936" y="1112762"/>
            <a:ext cx="7084547" cy="5364238"/>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9" name="Image 0" descr="preencoded.png">
            <a:extLst>
              <a:ext uri="{FF2B5EF4-FFF2-40B4-BE49-F238E27FC236}">
                <a16:creationId xmlns:a16="http://schemas.microsoft.com/office/drawing/2014/main" id="{A3919F09-C7DA-DF05-6454-573FB48EA564}"/>
              </a:ext>
            </a:extLst>
          </p:cNvPr>
          <p:cNvPicPr>
            <a:picLocks noChangeAspect="1"/>
          </p:cNvPicPr>
          <p:nvPr/>
        </p:nvPicPr>
        <p:blipFill>
          <a:blip r:embed="rId3"/>
          <a:stretch>
            <a:fillRect/>
          </a:stretch>
        </p:blipFill>
        <p:spPr>
          <a:xfrm flipH="1">
            <a:off x="893265" y="1599126"/>
            <a:ext cx="65834" cy="318574"/>
          </a:xfrm>
          <a:prstGeom prst="rect">
            <a:avLst/>
          </a:prstGeom>
        </p:spPr>
      </p:pic>
      <p:graphicFrame>
        <p:nvGraphicFramePr>
          <p:cNvPr id="11" name="Table 10">
            <a:extLst>
              <a:ext uri="{FF2B5EF4-FFF2-40B4-BE49-F238E27FC236}">
                <a16:creationId xmlns:a16="http://schemas.microsoft.com/office/drawing/2014/main" id="{E5BA38F1-5DA6-B32C-B24C-1B35C808B094}"/>
              </a:ext>
            </a:extLst>
          </p:cNvPr>
          <p:cNvGraphicFramePr>
            <a:graphicFrameLocks noGrp="1"/>
          </p:cNvGraphicFramePr>
          <p:nvPr>
            <p:extLst>
              <p:ext uri="{D42A27DB-BD31-4B8C-83A1-F6EECF244321}">
                <p14:modId xmlns:p14="http://schemas.microsoft.com/office/powerpoint/2010/main" val="237098384"/>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Các bài báo nền tảng(2)</a:t>
                      </a:r>
                    </a:p>
                  </a:txBody>
                  <a:tcPr/>
                </a:tc>
                <a:extLst>
                  <a:ext uri="{0D108BD9-81ED-4DB2-BD59-A6C34878D82A}">
                    <a16:rowId xmlns:a16="http://schemas.microsoft.com/office/drawing/2014/main" val="10000"/>
                  </a:ext>
                </a:extLst>
              </a:tr>
            </a:tbl>
          </a:graphicData>
        </a:graphic>
      </p:graphicFrame>
      <p:pic>
        <p:nvPicPr>
          <p:cNvPr id="13" name="Picture 12">
            <a:extLst>
              <a:ext uri="{FF2B5EF4-FFF2-40B4-BE49-F238E27FC236}">
                <a16:creationId xmlns:a16="http://schemas.microsoft.com/office/drawing/2014/main" id="{6668AF01-4148-D38D-A29B-936B800BA822}"/>
              </a:ext>
            </a:extLst>
          </p:cNvPr>
          <p:cNvPicPr/>
          <p:nvPr/>
        </p:nvPicPr>
        <p:blipFill>
          <a:blip r:embed="rId4"/>
          <a:stretch>
            <a:fillRect/>
          </a:stretch>
        </p:blipFill>
        <p:spPr>
          <a:xfrm>
            <a:off x="-118532" y="-145263"/>
            <a:ext cx="1371600" cy="1390223"/>
          </a:xfrm>
          <a:prstGeom prst="rect">
            <a:avLst/>
          </a:prstGeom>
        </p:spPr>
      </p:pic>
      <p:pic>
        <p:nvPicPr>
          <p:cNvPr id="15" name="Picture 14">
            <a:extLst>
              <a:ext uri="{FF2B5EF4-FFF2-40B4-BE49-F238E27FC236}">
                <a16:creationId xmlns:a16="http://schemas.microsoft.com/office/drawing/2014/main" id="{6E7EBEC1-87ED-FC2E-2F8B-A9D11BBE4865}"/>
              </a:ext>
            </a:extLst>
          </p:cNvPr>
          <p:cNvPicPr>
            <a:picLocks noChangeAspect="1"/>
          </p:cNvPicPr>
          <p:nvPr/>
        </p:nvPicPr>
        <p:blipFill>
          <a:blip r:embed="rId5"/>
          <a:stretch>
            <a:fillRect/>
          </a:stretch>
        </p:blipFill>
        <p:spPr>
          <a:xfrm>
            <a:off x="-118532" y="1111603"/>
            <a:ext cx="3073558" cy="133357"/>
          </a:xfrm>
          <a:prstGeom prst="rect">
            <a:avLst/>
          </a:prstGeom>
        </p:spPr>
      </p:pic>
      <p:pic>
        <p:nvPicPr>
          <p:cNvPr id="19" name="Picture 18">
            <a:extLst>
              <a:ext uri="{FF2B5EF4-FFF2-40B4-BE49-F238E27FC236}">
                <a16:creationId xmlns:a16="http://schemas.microsoft.com/office/drawing/2014/main" id="{23014FFF-179D-A0D5-5C28-04568B2B49FB}"/>
              </a:ext>
            </a:extLst>
          </p:cNvPr>
          <p:cNvPicPr>
            <a:picLocks noChangeAspect="1"/>
          </p:cNvPicPr>
          <p:nvPr/>
        </p:nvPicPr>
        <p:blipFill>
          <a:blip r:embed="rId6"/>
          <a:stretch>
            <a:fillRect/>
          </a:stretch>
        </p:blipFill>
        <p:spPr>
          <a:xfrm>
            <a:off x="345006" y="1519362"/>
            <a:ext cx="463574" cy="476274"/>
          </a:xfrm>
          <a:prstGeom prst="rect">
            <a:avLst/>
          </a:prstGeom>
        </p:spPr>
      </p:pic>
      <p:pic>
        <p:nvPicPr>
          <p:cNvPr id="21" name="Picture 20">
            <a:extLst>
              <a:ext uri="{FF2B5EF4-FFF2-40B4-BE49-F238E27FC236}">
                <a16:creationId xmlns:a16="http://schemas.microsoft.com/office/drawing/2014/main" id="{7DF4AFD1-B9DA-8A51-281B-B34D8A14B1A7}"/>
              </a:ext>
            </a:extLst>
          </p:cNvPr>
          <p:cNvPicPr>
            <a:picLocks noChangeAspect="1"/>
          </p:cNvPicPr>
          <p:nvPr/>
        </p:nvPicPr>
        <p:blipFill>
          <a:blip r:embed="rId7"/>
          <a:stretch>
            <a:fillRect/>
          </a:stretch>
        </p:blipFill>
        <p:spPr>
          <a:xfrm>
            <a:off x="4220053" y="1505674"/>
            <a:ext cx="482625" cy="463574"/>
          </a:xfrm>
          <a:prstGeom prst="rect">
            <a:avLst/>
          </a:prstGeom>
        </p:spPr>
      </p:pic>
      <p:sp>
        <p:nvSpPr>
          <p:cNvPr id="23" name="Shape 3">
            <a:extLst>
              <a:ext uri="{FF2B5EF4-FFF2-40B4-BE49-F238E27FC236}">
                <a16:creationId xmlns:a16="http://schemas.microsoft.com/office/drawing/2014/main" id="{B861096E-1619-C6D6-B065-DCC24C541B4E}"/>
              </a:ext>
            </a:extLst>
          </p:cNvPr>
          <p:cNvSpPr/>
          <p:nvPr/>
        </p:nvSpPr>
        <p:spPr>
          <a:xfrm>
            <a:off x="951958" y="1558924"/>
            <a:ext cx="2857607" cy="358776"/>
          </a:xfrm>
          <a:prstGeom prst="roundRect">
            <a:avLst>
              <a:gd name="adj" fmla="val 6235"/>
            </a:avLst>
          </a:prstGeom>
          <a:solidFill>
            <a:srgbClr val="FFFFFF"/>
          </a:solidFill>
          <a:ln w="22860">
            <a:solidFill>
              <a:srgbClr val="BACFDD"/>
            </a:solidFill>
            <a:prstDash val="solid"/>
          </a:ln>
        </p:spPr>
      </p:sp>
      <p:sp>
        <p:nvSpPr>
          <p:cNvPr id="25" name="Text 4">
            <a:extLst>
              <a:ext uri="{FF2B5EF4-FFF2-40B4-BE49-F238E27FC236}">
                <a16:creationId xmlns:a16="http://schemas.microsoft.com/office/drawing/2014/main" id="{29D4D1FC-177A-C69C-7C39-BF5F3FBFDC3D}"/>
              </a:ext>
            </a:extLst>
          </p:cNvPr>
          <p:cNvSpPr/>
          <p:nvPr/>
        </p:nvSpPr>
        <p:spPr>
          <a:xfrm>
            <a:off x="1017792" y="1558924"/>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Thông tin Lane </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27" name="Image 0" descr="preencoded.png">
            <a:extLst>
              <a:ext uri="{FF2B5EF4-FFF2-40B4-BE49-F238E27FC236}">
                <a16:creationId xmlns:a16="http://schemas.microsoft.com/office/drawing/2014/main" id="{2AD85F33-2C99-A17B-73B3-D0F1DBAB9F38}"/>
              </a:ext>
            </a:extLst>
          </p:cNvPr>
          <p:cNvPicPr>
            <a:picLocks noChangeAspect="1"/>
          </p:cNvPicPr>
          <p:nvPr/>
        </p:nvPicPr>
        <p:blipFill>
          <a:blip r:embed="rId3"/>
          <a:stretch>
            <a:fillRect/>
          </a:stretch>
        </p:blipFill>
        <p:spPr>
          <a:xfrm flipH="1">
            <a:off x="893265" y="2077940"/>
            <a:ext cx="65834" cy="318574"/>
          </a:xfrm>
          <a:prstGeom prst="rect">
            <a:avLst/>
          </a:prstGeom>
        </p:spPr>
      </p:pic>
      <p:pic>
        <p:nvPicPr>
          <p:cNvPr id="29" name="Picture 28">
            <a:extLst>
              <a:ext uri="{FF2B5EF4-FFF2-40B4-BE49-F238E27FC236}">
                <a16:creationId xmlns:a16="http://schemas.microsoft.com/office/drawing/2014/main" id="{4CA7CD29-D153-7861-6347-A97CA00DEE96}"/>
              </a:ext>
            </a:extLst>
          </p:cNvPr>
          <p:cNvPicPr>
            <a:picLocks noChangeAspect="1"/>
          </p:cNvPicPr>
          <p:nvPr/>
        </p:nvPicPr>
        <p:blipFill>
          <a:blip r:embed="rId6"/>
          <a:stretch>
            <a:fillRect/>
          </a:stretch>
        </p:blipFill>
        <p:spPr>
          <a:xfrm>
            <a:off x="345006" y="1998176"/>
            <a:ext cx="463574" cy="476274"/>
          </a:xfrm>
          <a:prstGeom prst="rect">
            <a:avLst/>
          </a:prstGeom>
        </p:spPr>
      </p:pic>
      <p:sp>
        <p:nvSpPr>
          <p:cNvPr id="31" name="Shape 3">
            <a:extLst>
              <a:ext uri="{FF2B5EF4-FFF2-40B4-BE49-F238E27FC236}">
                <a16:creationId xmlns:a16="http://schemas.microsoft.com/office/drawing/2014/main" id="{2D2FD4ED-343C-72B3-D2A8-596DDD7C5D72}"/>
              </a:ext>
            </a:extLst>
          </p:cNvPr>
          <p:cNvSpPr/>
          <p:nvPr/>
        </p:nvSpPr>
        <p:spPr>
          <a:xfrm>
            <a:off x="951958" y="2077939"/>
            <a:ext cx="2857608" cy="333266"/>
          </a:xfrm>
          <a:prstGeom prst="roundRect">
            <a:avLst>
              <a:gd name="adj" fmla="val 6235"/>
            </a:avLst>
          </a:prstGeom>
          <a:solidFill>
            <a:srgbClr val="FFFFFF"/>
          </a:solidFill>
          <a:ln w="22860">
            <a:solidFill>
              <a:srgbClr val="BACFDD"/>
            </a:solidFill>
            <a:prstDash val="solid"/>
          </a:ln>
        </p:spPr>
      </p:sp>
      <p:sp>
        <p:nvSpPr>
          <p:cNvPr id="33" name="Text 4">
            <a:extLst>
              <a:ext uri="{FF2B5EF4-FFF2-40B4-BE49-F238E27FC236}">
                <a16:creationId xmlns:a16="http://schemas.microsoft.com/office/drawing/2014/main" id="{1B871AE5-640A-48F4-010D-12BA54D4101F}"/>
              </a:ext>
            </a:extLst>
          </p:cNvPr>
          <p:cNvSpPr/>
          <p:nvPr/>
        </p:nvSpPr>
        <p:spPr>
          <a:xfrm>
            <a:off x="1017792" y="2037738"/>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Thông tin phương tiện</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35" name="Image 0" descr="preencoded.png">
            <a:extLst>
              <a:ext uri="{FF2B5EF4-FFF2-40B4-BE49-F238E27FC236}">
                <a16:creationId xmlns:a16="http://schemas.microsoft.com/office/drawing/2014/main" id="{E0A47C2F-6EE7-C78E-F27F-55B29F459633}"/>
              </a:ext>
            </a:extLst>
          </p:cNvPr>
          <p:cNvPicPr>
            <a:picLocks noChangeAspect="1"/>
          </p:cNvPicPr>
          <p:nvPr/>
        </p:nvPicPr>
        <p:blipFill>
          <a:blip r:embed="rId3"/>
          <a:stretch>
            <a:fillRect/>
          </a:stretch>
        </p:blipFill>
        <p:spPr>
          <a:xfrm flipH="1">
            <a:off x="4777837" y="1576190"/>
            <a:ext cx="65834" cy="318574"/>
          </a:xfrm>
          <a:prstGeom prst="rect">
            <a:avLst/>
          </a:prstGeom>
        </p:spPr>
      </p:pic>
      <p:sp>
        <p:nvSpPr>
          <p:cNvPr id="37" name="Shape 3">
            <a:extLst>
              <a:ext uri="{FF2B5EF4-FFF2-40B4-BE49-F238E27FC236}">
                <a16:creationId xmlns:a16="http://schemas.microsoft.com/office/drawing/2014/main" id="{CE65D2DD-CCA4-76B3-B300-B3C4970E9488}"/>
              </a:ext>
            </a:extLst>
          </p:cNvPr>
          <p:cNvSpPr/>
          <p:nvPr/>
        </p:nvSpPr>
        <p:spPr>
          <a:xfrm>
            <a:off x="4836530" y="1558925"/>
            <a:ext cx="2410757" cy="335840"/>
          </a:xfrm>
          <a:prstGeom prst="roundRect">
            <a:avLst>
              <a:gd name="adj" fmla="val 6235"/>
            </a:avLst>
          </a:prstGeom>
          <a:solidFill>
            <a:srgbClr val="FFFFFF"/>
          </a:solidFill>
          <a:ln w="22860">
            <a:solidFill>
              <a:srgbClr val="BACFDD"/>
            </a:solidFill>
            <a:prstDash val="solid"/>
          </a:ln>
        </p:spPr>
      </p:sp>
      <p:sp>
        <p:nvSpPr>
          <p:cNvPr id="39" name="Text 4">
            <a:extLst>
              <a:ext uri="{FF2B5EF4-FFF2-40B4-BE49-F238E27FC236}">
                <a16:creationId xmlns:a16="http://schemas.microsoft.com/office/drawing/2014/main" id="{3A6ADFBA-91C3-447D-597F-23CE57273C0A}"/>
              </a:ext>
            </a:extLst>
          </p:cNvPr>
          <p:cNvSpPr/>
          <p:nvPr/>
        </p:nvSpPr>
        <p:spPr>
          <a:xfrm>
            <a:off x="4902364" y="1535988"/>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Hệ thống phức tạp</a:t>
            </a:r>
            <a:endParaRPr lang="en-US" sz="2400" dirty="0">
              <a:latin typeface="Times New Roman" panose="02020603050405020304" pitchFamily="18" charset="0"/>
              <a:cs typeface="Times New Roman" panose="02020603050405020304" pitchFamily="18" charset="0"/>
            </a:endParaRPr>
          </a:p>
        </p:txBody>
      </p:sp>
      <p:pic>
        <p:nvPicPr>
          <p:cNvPr id="41" name="Picture 40">
            <a:extLst>
              <a:ext uri="{FF2B5EF4-FFF2-40B4-BE49-F238E27FC236}">
                <a16:creationId xmlns:a16="http://schemas.microsoft.com/office/drawing/2014/main" id="{17FC5F67-7FAE-469D-700C-69C5975518FE}"/>
              </a:ext>
            </a:extLst>
          </p:cNvPr>
          <p:cNvPicPr>
            <a:picLocks noChangeAspect="1"/>
          </p:cNvPicPr>
          <p:nvPr/>
        </p:nvPicPr>
        <p:blipFill>
          <a:blip r:embed="rId7"/>
          <a:stretch>
            <a:fillRect/>
          </a:stretch>
        </p:blipFill>
        <p:spPr>
          <a:xfrm>
            <a:off x="4229579" y="2019127"/>
            <a:ext cx="482625" cy="463574"/>
          </a:xfrm>
          <a:prstGeom prst="rect">
            <a:avLst/>
          </a:prstGeom>
        </p:spPr>
      </p:pic>
      <p:pic>
        <p:nvPicPr>
          <p:cNvPr id="43" name="Image 0" descr="preencoded.png">
            <a:extLst>
              <a:ext uri="{FF2B5EF4-FFF2-40B4-BE49-F238E27FC236}">
                <a16:creationId xmlns:a16="http://schemas.microsoft.com/office/drawing/2014/main" id="{5BF752C9-4E4A-4390-BCF4-549EC04D12F8}"/>
              </a:ext>
            </a:extLst>
          </p:cNvPr>
          <p:cNvPicPr>
            <a:picLocks noChangeAspect="1"/>
          </p:cNvPicPr>
          <p:nvPr/>
        </p:nvPicPr>
        <p:blipFill>
          <a:blip r:embed="rId3"/>
          <a:stretch>
            <a:fillRect/>
          </a:stretch>
        </p:blipFill>
        <p:spPr>
          <a:xfrm flipH="1">
            <a:off x="4787363" y="2089643"/>
            <a:ext cx="65834" cy="318574"/>
          </a:xfrm>
          <a:prstGeom prst="rect">
            <a:avLst/>
          </a:prstGeom>
        </p:spPr>
      </p:pic>
      <p:sp>
        <p:nvSpPr>
          <p:cNvPr id="45" name="Shape 3">
            <a:extLst>
              <a:ext uri="{FF2B5EF4-FFF2-40B4-BE49-F238E27FC236}">
                <a16:creationId xmlns:a16="http://schemas.microsoft.com/office/drawing/2014/main" id="{6619CB3B-FB8D-2E53-6C3C-B6971A797270}"/>
              </a:ext>
            </a:extLst>
          </p:cNvPr>
          <p:cNvSpPr/>
          <p:nvPr/>
        </p:nvSpPr>
        <p:spPr>
          <a:xfrm>
            <a:off x="4846056" y="2072378"/>
            <a:ext cx="2384509" cy="335840"/>
          </a:xfrm>
          <a:prstGeom prst="roundRect">
            <a:avLst>
              <a:gd name="adj" fmla="val 6235"/>
            </a:avLst>
          </a:prstGeom>
          <a:solidFill>
            <a:srgbClr val="FFFFFF"/>
          </a:solidFill>
          <a:ln w="22860">
            <a:solidFill>
              <a:srgbClr val="BACFDD"/>
            </a:solidFill>
            <a:prstDash val="solid"/>
          </a:ln>
        </p:spPr>
      </p:sp>
      <p:sp>
        <p:nvSpPr>
          <p:cNvPr id="47" name="Text 4">
            <a:extLst>
              <a:ext uri="{FF2B5EF4-FFF2-40B4-BE49-F238E27FC236}">
                <a16:creationId xmlns:a16="http://schemas.microsoft.com/office/drawing/2014/main" id="{076D16BE-00CC-EDFA-C04C-7F83B8F0F981}"/>
              </a:ext>
            </a:extLst>
          </p:cNvPr>
          <p:cNvSpPr/>
          <p:nvPr/>
        </p:nvSpPr>
        <p:spPr>
          <a:xfrm>
            <a:off x="4911890" y="2049441"/>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Yêu cầu thiết bị</a:t>
            </a:r>
            <a:endParaRPr lang="en-US" sz="2400" dirty="0">
              <a:solidFill>
                <a:srgbClr val="EE0000"/>
              </a:solidFill>
              <a:latin typeface="Times New Roman" panose="02020603050405020304" pitchFamily="18" charset="0"/>
              <a:cs typeface="Times New Roman" panose="02020603050405020304" pitchFamily="18" charset="0"/>
            </a:endParaRPr>
          </a:p>
        </p:txBody>
      </p:sp>
      <p:sp>
        <p:nvSpPr>
          <p:cNvPr id="51" name="Shape 2">
            <a:extLst>
              <a:ext uri="{FF2B5EF4-FFF2-40B4-BE49-F238E27FC236}">
                <a16:creationId xmlns:a16="http://schemas.microsoft.com/office/drawing/2014/main" id="{5F09B27A-041D-E65D-A182-386064445093}"/>
              </a:ext>
            </a:extLst>
          </p:cNvPr>
          <p:cNvSpPr/>
          <p:nvPr/>
        </p:nvSpPr>
        <p:spPr>
          <a:xfrm>
            <a:off x="171589" y="2521096"/>
            <a:ext cx="7682599" cy="5575146"/>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53" name="Text 3">
            <a:extLst>
              <a:ext uri="{FF2B5EF4-FFF2-40B4-BE49-F238E27FC236}">
                <a16:creationId xmlns:a16="http://schemas.microsoft.com/office/drawing/2014/main" id="{F93A98FB-0CFC-131D-8775-962770246C54}"/>
              </a:ext>
            </a:extLst>
          </p:cNvPr>
          <p:cNvSpPr/>
          <p:nvPr/>
        </p:nvSpPr>
        <p:spPr>
          <a:xfrm>
            <a:off x="396345" y="2696955"/>
            <a:ext cx="4920721" cy="604361"/>
          </a:xfrm>
          <a:prstGeom prst="rect">
            <a:avLst/>
          </a:prstGeom>
          <a:noFill/>
        </p:spPr>
        <p:txBody>
          <a:bodyPr wrap="square" lIns="0" tIns="0" rIns="0" bIns="0" rtlCol="0" anchor="t"/>
          <a:lstStyle/>
          <a:p>
            <a:pPr marL="0" indent="0" algn="l">
              <a:lnSpc>
                <a:spcPct val="10000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Vấn đề giải quyết  (</a:t>
            </a:r>
            <a:r>
              <a:rPr lang="vi-VN" sz="1900" b="1" dirty="0">
                <a:solidFill>
                  <a:srgbClr val="00B050"/>
                </a:solidFill>
                <a:latin typeface="Barlow Bold" panose="00000800000000000000" pitchFamily="34" charset="0"/>
                <a:ea typeface="Barlow Bold" panose="00000800000000000000" pitchFamily="34" charset="-122"/>
                <a:cs typeface="Barlow Bold" panose="00000800000000000000" pitchFamily="34" charset="-120"/>
              </a:rPr>
              <a:t>thời điểm đó có hai hướng</a:t>
            </a: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a:t>
            </a:r>
            <a:b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br>
            <a:endParaRPr lang="en-US" sz="1900" dirty="0"/>
          </a:p>
        </p:txBody>
      </p:sp>
      <p:sp>
        <p:nvSpPr>
          <p:cNvPr id="57" name="Text 3">
            <a:extLst>
              <a:ext uri="{FF2B5EF4-FFF2-40B4-BE49-F238E27FC236}">
                <a16:creationId xmlns:a16="http://schemas.microsoft.com/office/drawing/2014/main" id="{3FAE340C-08F7-B2C8-E1B2-2FF3F035BFD7}"/>
              </a:ext>
            </a:extLst>
          </p:cNvPr>
          <p:cNvSpPr/>
          <p:nvPr/>
        </p:nvSpPr>
        <p:spPr>
          <a:xfrm>
            <a:off x="396345" y="6830580"/>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Output thực tế</a:t>
            </a:r>
            <a:endParaRPr lang="en-US" sz="1900" dirty="0"/>
          </a:p>
        </p:txBody>
      </p:sp>
      <p:sp>
        <p:nvSpPr>
          <p:cNvPr id="59" name="Text 4">
            <a:extLst>
              <a:ext uri="{FF2B5EF4-FFF2-40B4-BE49-F238E27FC236}">
                <a16:creationId xmlns:a16="http://schemas.microsoft.com/office/drawing/2014/main" id="{B68EEAF4-5ECD-DC14-7094-E87D6B8253EF}"/>
              </a:ext>
            </a:extLst>
          </p:cNvPr>
          <p:cNvSpPr/>
          <p:nvPr/>
        </p:nvSpPr>
        <p:spPr>
          <a:xfrm>
            <a:off x="752159" y="3354798"/>
            <a:ext cx="4191970" cy="1158240"/>
          </a:xfrm>
          <a:prstGeom prst="rect">
            <a:avLst/>
          </a:prstGeom>
          <a:noFill/>
        </p:spPr>
        <p:txBody>
          <a:bodyPr wrap="square" lIns="0" tIns="0" rIns="0" bIns="0" rtlCol="0" anchor="t"/>
          <a:lstStyle/>
          <a:p>
            <a:pPr marL="0" indent="0" algn="l">
              <a:lnSpc>
                <a:spcPts val="225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Camera xử lý phát hiện: + lane</a:t>
            </a:r>
            <a:b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b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biển báo</a:t>
            </a:r>
            <a:b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b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đèn giao thông</a:t>
            </a:r>
            <a:b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b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phương tiện,….</a:t>
            </a:r>
            <a:endParaRPr lang="en-US" sz="1400" dirty="0"/>
          </a:p>
        </p:txBody>
      </p:sp>
      <p:pic>
        <p:nvPicPr>
          <p:cNvPr id="63" name="Picture 62">
            <a:extLst>
              <a:ext uri="{FF2B5EF4-FFF2-40B4-BE49-F238E27FC236}">
                <a16:creationId xmlns:a16="http://schemas.microsoft.com/office/drawing/2014/main" id="{25E18820-C9F0-305D-7810-E517AC46C970}"/>
              </a:ext>
            </a:extLst>
          </p:cNvPr>
          <p:cNvPicPr>
            <a:picLocks noChangeAspect="1"/>
          </p:cNvPicPr>
          <p:nvPr/>
        </p:nvPicPr>
        <p:blipFill>
          <a:blip r:embed="rId8"/>
          <a:stretch>
            <a:fillRect/>
          </a:stretch>
        </p:blipFill>
        <p:spPr>
          <a:xfrm>
            <a:off x="8636682" y="1292277"/>
            <a:ext cx="5969307" cy="5035809"/>
          </a:xfrm>
          <a:prstGeom prst="rect">
            <a:avLst/>
          </a:prstGeom>
        </p:spPr>
      </p:pic>
      <p:sp>
        <p:nvSpPr>
          <p:cNvPr id="65" name="Text 3">
            <a:extLst>
              <a:ext uri="{FF2B5EF4-FFF2-40B4-BE49-F238E27FC236}">
                <a16:creationId xmlns:a16="http://schemas.microsoft.com/office/drawing/2014/main" id="{A8F36D5D-61DD-92A3-B964-F48F6CE46020}"/>
              </a:ext>
            </a:extLst>
          </p:cNvPr>
          <p:cNvSpPr/>
          <p:nvPr/>
        </p:nvSpPr>
        <p:spPr>
          <a:xfrm>
            <a:off x="729091" y="3045535"/>
            <a:ext cx="4788320" cy="604361"/>
          </a:xfrm>
          <a:prstGeom prst="rect">
            <a:avLst/>
          </a:prstGeom>
          <a:noFill/>
        </p:spPr>
        <p:txBody>
          <a:bodyPr wrap="square" lIns="0" tIns="0" rIns="0" bIns="0" rtlCol="0" anchor="t"/>
          <a:lstStyle/>
          <a:p>
            <a:pPr marL="0" indent="0" algn="l">
              <a:lnSpc>
                <a:spcPct val="100000"/>
              </a:lnSpc>
              <a:buNone/>
            </a:pPr>
            <a:r>
              <a:rPr lang="vi-VN" sz="1900" b="1" dirty="0">
                <a:solidFill>
                  <a:srgbClr val="00B050"/>
                </a:solidFill>
                <a:latin typeface="Barlow Bold" panose="00000800000000000000" pitchFamily="34" charset="0"/>
                <a:ea typeface="Barlow Bold" panose="00000800000000000000" pitchFamily="34" charset="-122"/>
                <a:cs typeface="Barlow Bold" panose="00000800000000000000" pitchFamily="34" charset="-120"/>
              </a:rPr>
              <a:t>+  Mediated Perception ( nhận thức gián tiếp)</a:t>
            </a:r>
            <a:endParaRPr lang="en-US" sz="1900" dirty="0">
              <a:solidFill>
                <a:srgbClr val="00B050"/>
              </a:solidFill>
            </a:endParaRPr>
          </a:p>
        </p:txBody>
      </p:sp>
      <p:sp>
        <p:nvSpPr>
          <p:cNvPr id="67" name="Text 3">
            <a:extLst>
              <a:ext uri="{FF2B5EF4-FFF2-40B4-BE49-F238E27FC236}">
                <a16:creationId xmlns:a16="http://schemas.microsoft.com/office/drawing/2014/main" id="{8946920B-08DA-5A13-15E2-01016090E614}"/>
              </a:ext>
            </a:extLst>
          </p:cNvPr>
          <p:cNvSpPr/>
          <p:nvPr/>
        </p:nvSpPr>
        <p:spPr>
          <a:xfrm>
            <a:off x="752159" y="5370755"/>
            <a:ext cx="4084371" cy="604361"/>
          </a:xfrm>
          <a:prstGeom prst="rect">
            <a:avLst/>
          </a:prstGeom>
          <a:noFill/>
        </p:spPr>
        <p:txBody>
          <a:bodyPr wrap="square" lIns="0" tIns="0" rIns="0" bIns="0" rtlCol="0" anchor="t"/>
          <a:lstStyle/>
          <a:p>
            <a:pPr marL="0" indent="0" algn="l">
              <a:lnSpc>
                <a:spcPct val="100000"/>
              </a:lnSpc>
              <a:buNone/>
            </a:pPr>
            <a:r>
              <a:rPr lang="vi-VN" sz="1900" b="1" dirty="0">
                <a:solidFill>
                  <a:srgbClr val="00B050"/>
                </a:solidFill>
                <a:latin typeface="Barlow Bold" panose="00000800000000000000" pitchFamily="34" charset="0"/>
                <a:ea typeface="Barlow Bold" panose="00000800000000000000" pitchFamily="34" charset="-122"/>
                <a:cs typeface="Barlow Bold" panose="00000800000000000000" pitchFamily="34" charset="-120"/>
              </a:rPr>
              <a:t>+  Behavior Reflex (behavior reflex) </a:t>
            </a:r>
            <a:endParaRPr lang="en-US" sz="1900" dirty="0">
              <a:solidFill>
                <a:srgbClr val="00B050"/>
              </a:solidFill>
            </a:endParaRPr>
          </a:p>
        </p:txBody>
      </p:sp>
      <p:sp>
        <p:nvSpPr>
          <p:cNvPr id="69" name="Text 4">
            <a:extLst>
              <a:ext uri="{FF2B5EF4-FFF2-40B4-BE49-F238E27FC236}">
                <a16:creationId xmlns:a16="http://schemas.microsoft.com/office/drawing/2014/main" id="{3E88F38C-822C-6643-0A0B-83AED62D93B9}"/>
              </a:ext>
            </a:extLst>
          </p:cNvPr>
          <p:cNvSpPr/>
          <p:nvPr/>
        </p:nvSpPr>
        <p:spPr>
          <a:xfrm>
            <a:off x="427857" y="7268653"/>
            <a:ext cx="7153551" cy="1158240"/>
          </a:xfrm>
          <a:prstGeom prst="rect">
            <a:avLst/>
          </a:prstGeom>
          <a:noFill/>
        </p:spPr>
        <p:txBody>
          <a:bodyPr wrap="square" lIns="0" tIns="0" rIns="0" bIns="0" rtlCol="0" anchor="t"/>
          <a:lstStyle/>
          <a:p>
            <a:pPr marL="0" indent="0" algn="l">
              <a:lnSpc>
                <a:spcPts val="2250"/>
              </a:lnSpc>
              <a:buNone/>
            </a:pPr>
            <a:r>
              <a:rPr 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Chuyển</a:t>
            </a:r>
            <a:r>
              <a:rPr lang="en-US"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a:t>
            </a:r>
            <a:r>
              <a:rPr 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thông</a:t>
            </a:r>
            <a:r>
              <a:rPr lang="en-US"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tin perception </a:t>
            </a:r>
            <a:r>
              <a:rPr 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thành</a:t>
            </a:r>
            <a:r>
              <a:rPr lang="en-US"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a:t>
            </a:r>
            <a:r>
              <a:rPr 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các</a:t>
            </a:r>
            <a:r>
              <a:rPr lang="en-US"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driving affordances </a:t>
            </a:r>
            <a:r>
              <a:rPr 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để</a:t>
            </a:r>
            <a:r>
              <a:rPr lang="en-US"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controller </a:t>
            </a:r>
            <a:r>
              <a:rPr 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quyết</a:t>
            </a:r>
            <a:r>
              <a:rPr lang="en-US"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a:t>
            </a:r>
            <a:r>
              <a:rPr 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định</a:t>
            </a:r>
            <a:r>
              <a:rPr lang="en-US"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a:t>
            </a:r>
            <a:r>
              <a:rPr 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lái</a:t>
            </a:r>
            <a:r>
              <a:rPr lang="en-US"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xe.</a:t>
            </a:r>
            <a:endParaRPr lang="en-US" sz="1400" dirty="0"/>
          </a:p>
        </p:txBody>
      </p:sp>
      <p:sp>
        <p:nvSpPr>
          <p:cNvPr id="71" name="Text 4">
            <a:extLst>
              <a:ext uri="{FF2B5EF4-FFF2-40B4-BE49-F238E27FC236}">
                <a16:creationId xmlns:a16="http://schemas.microsoft.com/office/drawing/2014/main" id="{52833884-FA42-55FC-6200-C2A4AC9FB218}"/>
              </a:ext>
            </a:extLst>
          </p:cNvPr>
          <p:cNvSpPr/>
          <p:nvPr/>
        </p:nvSpPr>
        <p:spPr>
          <a:xfrm>
            <a:off x="752158" y="4642249"/>
            <a:ext cx="6852317" cy="1158240"/>
          </a:xfrm>
          <a:prstGeom prst="rect">
            <a:avLst/>
          </a:prstGeom>
          <a:noFill/>
        </p:spPr>
        <p:txBody>
          <a:bodyPr wrap="square" lIns="0" tIns="0" rIns="0" bIns="0" rtlCol="0" anchor="t"/>
          <a:lstStyle/>
          <a:p>
            <a:pPr marL="0" indent="0" algn="l">
              <a:lnSpc>
                <a:spcPts val="2250"/>
              </a:lnSpc>
              <a:buNone/>
            </a:pPr>
            <a:r>
              <a:rPr lang="vi-VN" sz="1400" b="1"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Vấn đề: </a:t>
            </a:r>
            <a:r>
              <a:rPr lang="vi-VN" sz="1400"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quá nhiều thông tin, hệ thống phức tạp và tốn chi phí</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cần laser range finder, GPS, radar và bản đồ chính xác.</a:t>
            </a:r>
            <a:endParaRPr lang="en-US" sz="1400" dirty="0"/>
          </a:p>
        </p:txBody>
      </p:sp>
      <p:sp>
        <p:nvSpPr>
          <p:cNvPr id="73" name="Text 4">
            <a:extLst>
              <a:ext uri="{FF2B5EF4-FFF2-40B4-BE49-F238E27FC236}">
                <a16:creationId xmlns:a16="http://schemas.microsoft.com/office/drawing/2014/main" id="{E847F7CB-7333-66B6-5729-A166FD1C9512}"/>
              </a:ext>
            </a:extLst>
          </p:cNvPr>
          <p:cNvSpPr/>
          <p:nvPr/>
        </p:nvSpPr>
        <p:spPr>
          <a:xfrm>
            <a:off x="750258" y="5713843"/>
            <a:ext cx="4191970" cy="364404"/>
          </a:xfrm>
          <a:prstGeom prst="rect">
            <a:avLst/>
          </a:prstGeom>
          <a:noFill/>
        </p:spPr>
        <p:txBody>
          <a:bodyPr wrap="square" lIns="0" tIns="0" rIns="0" bIns="0" rtlCol="0" anchor="t"/>
          <a:lstStyle/>
          <a:p>
            <a:pPr marL="0" indent="0" algn="l">
              <a:lnSpc>
                <a:spcPts val="225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Camera → AI → Góc lái</a:t>
            </a:r>
            <a:endParaRPr lang="en-US" sz="1400" dirty="0"/>
          </a:p>
        </p:txBody>
      </p:sp>
      <p:sp>
        <p:nvSpPr>
          <p:cNvPr id="79" name="Text 4">
            <a:extLst>
              <a:ext uri="{FF2B5EF4-FFF2-40B4-BE49-F238E27FC236}">
                <a16:creationId xmlns:a16="http://schemas.microsoft.com/office/drawing/2014/main" id="{3BEC9D1D-29BF-2FBD-9E36-4721E869DF93}"/>
              </a:ext>
            </a:extLst>
          </p:cNvPr>
          <p:cNvSpPr/>
          <p:nvPr/>
        </p:nvSpPr>
        <p:spPr>
          <a:xfrm>
            <a:off x="729091" y="6089323"/>
            <a:ext cx="6852317" cy="1158240"/>
          </a:xfrm>
          <a:prstGeom prst="rect">
            <a:avLst/>
          </a:prstGeom>
          <a:noFill/>
        </p:spPr>
        <p:txBody>
          <a:bodyPr wrap="square" lIns="0" tIns="0" rIns="0" bIns="0" rtlCol="0" anchor="t"/>
          <a:lstStyle/>
          <a:p>
            <a:pPr marL="0" indent="0" algn="l">
              <a:lnSpc>
                <a:spcPct val="100000"/>
              </a:lnSpc>
              <a:buNone/>
            </a:pPr>
            <a:r>
              <a:rPr lang="vi-VN" sz="1400" b="1"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Vấn đề: </a:t>
            </a:r>
            <a:r>
              <a:rPr lang="vi-VN" sz="1400"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steering có thể trở nên mơ hồ </a:t>
            </a:r>
            <a:r>
              <a:rPr lang="vi-VN" sz="1400" dirty="0">
                <a:latin typeface="Montserrat" panose="00000500000000000000" pitchFamily="34" charset="0"/>
                <a:ea typeface="Montserrat" panose="00000500000000000000" pitchFamily="34" charset="-122"/>
                <a:cs typeface="Montserrat" panose="00000500000000000000" pitchFamily="34" charset="-120"/>
              </a:rPr>
              <a:t>(có xe phía trước theo, vượt trái hoặc vượt phải)</a:t>
            </a:r>
            <a:endParaRPr lang="en-US" sz="1400" dirty="0"/>
          </a:p>
        </p:txBody>
      </p:sp>
    </p:spTree>
    <p:extLst>
      <p:ext uri="{BB962C8B-B14F-4D97-AF65-F5344CB8AC3E}">
        <p14:creationId xmlns:p14="http://schemas.microsoft.com/office/powerpoint/2010/main" val="36040642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F77A52-67E0-E05F-7130-69FCDA1D36F9}"/>
              </a:ext>
            </a:extLst>
          </p:cNvPr>
          <p:cNvPicPr>
            <a:picLocks noChangeAspect="1"/>
          </p:cNvPicPr>
          <p:nvPr/>
        </p:nvPicPr>
        <p:blipFill>
          <a:blip r:embed="rId2"/>
          <a:stretch>
            <a:fillRect/>
          </a:stretch>
        </p:blipFill>
        <p:spPr>
          <a:xfrm>
            <a:off x="10106181" y="6376129"/>
            <a:ext cx="4524219" cy="1853471"/>
          </a:xfrm>
          <a:prstGeom prst="rect">
            <a:avLst/>
          </a:prstGeom>
          <a:noFill/>
        </p:spPr>
      </p:pic>
      <p:pic>
        <p:nvPicPr>
          <p:cNvPr id="27" name="Picture 26">
            <a:extLst>
              <a:ext uri="{FF2B5EF4-FFF2-40B4-BE49-F238E27FC236}">
                <a16:creationId xmlns:a16="http://schemas.microsoft.com/office/drawing/2014/main" id="{7CB82E64-2CA7-F111-706C-5C5CFE4B232C}"/>
              </a:ext>
            </a:extLst>
          </p:cNvPr>
          <p:cNvPicPr>
            <a:picLocks noChangeAspect="1"/>
          </p:cNvPicPr>
          <p:nvPr/>
        </p:nvPicPr>
        <p:blipFill>
          <a:blip r:embed="rId3"/>
          <a:stretch>
            <a:fillRect/>
          </a:stretch>
        </p:blipFill>
        <p:spPr>
          <a:xfrm>
            <a:off x="8805331" y="6133907"/>
            <a:ext cx="5832267" cy="2095693"/>
          </a:xfrm>
          <a:prstGeom prst="rect">
            <a:avLst/>
          </a:prstGeom>
        </p:spPr>
      </p:pic>
      <p:sp>
        <p:nvSpPr>
          <p:cNvPr id="3" name="Shape 2">
            <a:extLst>
              <a:ext uri="{FF2B5EF4-FFF2-40B4-BE49-F238E27FC236}">
                <a16:creationId xmlns:a16="http://schemas.microsoft.com/office/drawing/2014/main" id="{73674D36-E816-CB26-977A-16039A0E80D0}"/>
              </a:ext>
            </a:extLst>
          </p:cNvPr>
          <p:cNvSpPr>
            <a:spLocks/>
          </p:cNvSpPr>
          <p:nvPr/>
        </p:nvSpPr>
        <p:spPr>
          <a:xfrm>
            <a:off x="118534" y="1229683"/>
            <a:ext cx="8153400" cy="3702547"/>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7" name="Shape 2">
            <a:extLst>
              <a:ext uri="{FF2B5EF4-FFF2-40B4-BE49-F238E27FC236}">
                <a16:creationId xmlns:a16="http://schemas.microsoft.com/office/drawing/2014/main" id="{CBE414DB-DC53-21AE-7591-5994FF3B581F}"/>
              </a:ext>
            </a:extLst>
          </p:cNvPr>
          <p:cNvSpPr/>
          <p:nvPr/>
        </p:nvSpPr>
        <p:spPr>
          <a:xfrm>
            <a:off x="8805332" y="1099698"/>
            <a:ext cx="6570133" cy="5072502"/>
          </a:xfrm>
          <a:prstGeom prst="roundRect">
            <a:avLst>
              <a:gd name="adj" fmla="val 11303"/>
            </a:avLst>
          </a:prstGeom>
          <a:solidFill>
            <a:srgbClr val="D4E9F7"/>
          </a:solidFill>
          <a:ln w="7620">
            <a:solidFill>
              <a:srgbClr val="BACFDD"/>
            </a:solidFill>
            <a:prstDash val="solid"/>
          </a:ln>
        </p:spPr>
        <p:txBody>
          <a:bodyPr/>
          <a:lstStyle/>
          <a:p>
            <a:endParaRPr lang="en-US" dirty="0"/>
          </a:p>
        </p:txBody>
      </p:sp>
      <p:graphicFrame>
        <p:nvGraphicFramePr>
          <p:cNvPr id="9" name="Table 8">
            <a:extLst>
              <a:ext uri="{FF2B5EF4-FFF2-40B4-BE49-F238E27FC236}">
                <a16:creationId xmlns:a16="http://schemas.microsoft.com/office/drawing/2014/main" id="{A3CE6507-6EB4-587E-6055-1B919C2A8B75}"/>
              </a:ext>
            </a:extLst>
          </p:cNvPr>
          <p:cNvGraphicFramePr>
            <a:graphicFrameLocks noGrp="1"/>
          </p:cNvGraphicFramePr>
          <p:nvPr>
            <p:extLst>
              <p:ext uri="{D42A27DB-BD31-4B8C-83A1-F6EECF244321}">
                <p14:modId xmlns:p14="http://schemas.microsoft.com/office/powerpoint/2010/main" val="3819256853"/>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Các bài báo nền tảng(2)</a:t>
                      </a:r>
                    </a:p>
                  </a:txBody>
                  <a:tcPr/>
                </a:tc>
                <a:extLst>
                  <a:ext uri="{0D108BD9-81ED-4DB2-BD59-A6C34878D82A}">
                    <a16:rowId xmlns:a16="http://schemas.microsoft.com/office/drawing/2014/main" val="10000"/>
                  </a:ext>
                </a:extLst>
              </a:tr>
            </a:tbl>
          </a:graphicData>
        </a:graphic>
      </p:graphicFrame>
      <p:pic>
        <p:nvPicPr>
          <p:cNvPr id="11" name="Picture 10">
            <a:extLst>
              <a:ext uri="{FF2B5EF4-FFF2-40B4-BE49-F238E27FC236}">
                <a16:creationId xmlns:a16="http://schemas.microsoft.com/office/drawing/2014/main" id="{3059CDB3-4253-F339-BC4A-544F45A75C9B}"/>
              </a:ext>
            </a:extLst>
          </p:cNvPr>
          <p:cNvPicPr/>
          <p:nvPr/>
        </p:nvPicPr>
        <p:blipFill>
          <a:blip r:embed="rId4"/>
          <a:stretch>
            <a:fillRect/>
          </a:stretch>
        </p:blipFill>
        <p:spPr>
          <a:xfrm>
            <a:off x="-118532" y="-145263"/>
            <a:ext cx="1371600" cy="1390223"/>
          </a:xfrm>
          <a:prstGeom prst="rect">
            <a:avLst/>
          </a:prstGeom>
        </p:spPr>
      </p:pic>
      <p:pic>
        <p:nvPicPr>
          <p:cNvPr id="13" name="Picture 12">
            <a:extLst>
              <a:ext uri="{FF2B5EF4-FFF2-40B4-BE49-F238E27FC236}">
                <a16:creationId xmlns:a16="http://schemas.microsoft.com/office/drawing/2014/main" id="{3217BA5A-32AF-1170-0AB9-4D65CBA58076}"/>
              </a:ext>
            </a:extLst>
          </p:cNvPr>
          <p:cNvPicPr>
            <a:picLocks noChangeAspect="1"/>
          </p:cNvPicPr>
          <p:nvPr/>
        </p:nvPicPr>
        <p:blipFill>
          <a:blip r:embed="rId5"/>
          <a:stretch>
            <a:fillRect/>
          </a:stretch>
        </p:blipFill>
        <p:spPr>
          <a:xfrm>
            <a:off x="-118532" y="1111603"/>
            <a:ext cx="3073558" cy="133357"/>
          </a:xfrm>
          <a:prstGeom prst="rect">
            <a:avLst/>
          </a:prstGeom>
        </p:spPr>
      </p:pic>
      <p:sp>
        <p:nvSpPr>
          <p:cNvPr id="19" name="Text 3">
            <a:extLst>
              <a:ext uri="{FF2B5EF4-FFF2-40B4-BE49-F238E27FC236}">
                <a16:creationId xmlns:a16="http://schemas.microsoft.com/office/drawing/2014/main" id="{FFFA3990-EC2A-5B62-0D99-4229F50CCC5A}"/>
              </a:ext>
            </a:extLst>
          </p:cNvPr>
          <p:cNvSpPr/>
          <p:nvPr/>
        </p:nvSpPr>
        <p:spPr>
          <a:xfrm>
            <a:off x="422153" y="5160754"/>
            <a:ext cx="8153400" cy="604361"/>
          </a:xfrm>
          <a:prstGeom prst="rect">
            <a:avLst/>
          </a:prstGeom>
          <a:noFill/>
        </p:spPr>
        <p:txBody>
          <a:bodyPr wrap="square" lIns="0" tIns="0" rIns="0" bIns="0" rtlCol="0" anchor="t"/>
          <a:lstStyle/>
          <a:p>
            <a:pPr marL="0" indent="0" algn="l">
              <a:lnSpc>
                <a:spcPct val="150000"/>
              </a:lnSpc>
              <a:buNone/>
            </a:pPr>
            <a:r>
              <a:rPr lang="vi-VN" sz="1900"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AI xử lý thông tin : </a:t>
            </a:r>
            <a:r>
              <a:rPr lang="vi-VN" sz="1900" dirty="0">
                <a:solidFill>
                  <a:srgbClr val="FF5353"/>
                </a:solidFill>
                <a:latin typeface="Barlow Bold" panose="00000800000000000000" pitchFamily="34" charset="0"/>
                <a:ea typeface="Barlow Bold" panose="00000800000000000000" pitchFamily="34" charset="-122"/>
                <a:cs typeface="Barlow Bold" panose="00000800000000000000" pitchFamily="34" charset="-120"/>
              </a:rPr>
              <a:t>góc</a:t>
            </a:r>
            <a:r>
              <a:rPr lang="vi-VN" sz="1900"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của xe so với hướng đường</a:t>
            </a:r>
          </a:p>
          <a:p>
            <a:pPr marL="0" indent="0" algn="l">
              <a:lnSpc>
                <a:spcPct val="150000"/>
              </a:lnSpc>
              <a:buNone/>
            </a:pPr>
            <a:r>
              <a:rPr lang="vi-VN" sz="1900"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a:t>
            </a:r>
            <a:r>
              <a:rPr lang="vi-VN" sz="1900" dirty="0">
                <a:solidFill>
                  <a:srgbClr val="FF5353"/>
                </a:solidFill>
                <a:latin typeface="Barlow Bold" panose="00000800000000000000" pitchFamily="34" charset="0"/>
                <a:ea typeface="Barlow Bold" panose="00000800000000000000" pitchFamily="34" charset="-122"/>
                <a:cs typeface="Barlow Bold" panose="00000800000000000000" pitchFamily="34" charset="-120"/>
              </a:rPr>
              <a:t>khoảng cách </a:t>
            </a:r>
            <a:r>
              <a:rPr lang="vi-VN" sz="1900"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từ xe đến lane markings</a:t>
            </a:r>
          </a:p>
          <a:p>
            <a:pPr marL="0" indent="0" algn="l">
              <a:lnSpc>
                <a:spcPct val="150000"/>
              </a:lnSpc>
              <a:buNone/>
            </a:pPr>
            <a:r>
              <a:rPr lang="vi-VN" sz="1900"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a:t>
            </a:r>
            <a:r>
              <a:rPr lang="vi-VN" sz="1900" dirty="0">
                <a:solidFill>
                  <a:srgbClr val="FF5353"/>
                </a:solidFill>
                <a:latin typeface="Barlow Bold" panose="00000800000000000000" pitchFamily="34" charset="0"/>
                <a:ea typeface="Barlow Bold" panose="00000800000000000000" pitchFamily="34" charset="-122"/>
                <a:cs typeface="Barlow Bold" panose="00000800000000000000" pitchFamily="34" charset="-120"/>
              </a:rPr>
              <a:t>khoảng cách </a:t>
            </a:r>
            <a:r>
              <a:rPr lang="vi-VN" sz="1900"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đến xe phía trước</a:t>
            </a:r>
          </a:p>
          <a:p>
            <a:pPr marL="0" indent="0" algn="l">
              <a:lnSpc>
                <a:spcPct val="150000"/>
              </a:lnSpc>
              <a:buNone/>
            </a:pPr>
            <a:r>
              <a:rPr lang="vi-VN" sz="1900"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a:t>
            </a:r>
            <a:r>
              <a:rPr lang="vi-VN" sz="1900" dirty="0">
                <a:solidFill>
                  <a:srgbClr val="FF5353"/>
                </a:solidFill>
                <a:latin typeface="Barlow Bold" panose="00000800000000000000" pitchFamily="34" charset="0"/>
                <a:ea typeface="Barlow Bold" panose="00000800000000000000" pitchFamily="34" charset="-122"/>
                <a:cs typeface="Barlow Bold" panose="00000800000000000000" pitchFamily="34" charset="-120"/>
              </a:rPr>
              <a:t>khoảng cách </a:t>
            </a:r>
            <a:r>
              <a:rPr lang="vi-VN" sz="1900"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đến xe trong lane hiện tại và lane bên cạnh.</a:t>
            </a:r>
          </a:p>
          <a:p>
            <a:pPr marL="0" indent="0" algn="l">
              <a:lnSpc>
                <a:spcPct val="150000"/>
              </a:lnSpc>
              <a:buNone/>
            </a:pPr>
            <a:r>
              <a:rPr lang="vi-VN" sz="1900"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=&gt; xe lịch trái, phải nhiêu , khoảng cách xe phía trước, tình trạng lane bên cạnh.</a:t>
            </a:r>
            <a:endParaRPr lang="en-US" sz="1900" dirty="0"/>
          </a:p>
        </p:txBody>
      </p:sp>
      <p:pic>
        <p:nvPicPr>
          <p:cNvPr id="21" name="Picture 20">
            <a:extLst>
              <a:ext uri="{FF2B5EF4-FFF2-40B4-BE49-F238E27FC236}">
                <a16:creationId xmlns:a16="http://schemas.microsoft.com/office/drawing/2014/main" id="{F329EC69-D086-111C-AD77-9BBB9110C7D1}"/>
              </a:ext>
            </a:extLst>
          </p:cNvPr>
          <p:cNvPicPr>
            <a:picLocks noChangeAspect="1"/>
          </p:cNvPicPr>
          <p:nvPr/>
        </p:nvPicPr>
        <p:blipFill>
          <a:blip r:embed="rId6"/>
          <a:stretch>
            <a:fillRect/>
          </a:stretch>
        </p:blipFill>
        <p:spPr>
          <a:xfrm>
            <a:off x="252051" y="1390223"/>
            <a:ext cx="7886366" cy="1724653"/>
          </a:xfrm>
          <a:prstGeom prst="rect">
            <a:avLst/>
          </a:prstGeom>
        </p:spPr>
      </p:pic>
      <p:pic>
        <p:nvPicPr>
          <p:cNvPr id="23" name="Picture 22">
            <a:extLst>
              <a:ext uri="{FF2B5EF4-FFF2-40B4-BE49-F238E27FC236}">
                <a16:creationId xmlns:a16="http://schemas.microsoft.com/office/drawing/2014/main" id="{0E4FEA7D-B8C0-E47C-CDE6-5D33ACBCE09E}"/>
              </a:ext>
            </a:extLst>
          </p:cNvPr>
          <p:cNvPicPr>
            <a:picLocks noChangeAspect="1"/>
          </p:cNvPicPr>
          <p:nvPr/>
        </p:nvPicPr>
        <p:blipFill>
          <a:blip r:embed="rId7"/>
          <a:stretch>
            <a:fillRect/>
          </a:stretch>
        </p:blipFill>
        <p:spPr>
          <a:xfrm>
            <a:off x="9050867" y="1292277"/>
            <a:ext cx="5555122" cy="4686395"/>
          </a:xfrm>
          <a:prstGeom prst="rect">
            <a:avLst/>
          </a:prstGeom>
        </p:spPr>
      </p:pic>
      <p:pic>
        <p:nvPicPr>
          <p:cNvPr id="25" name="Picture 24">
            <a:extLst>
              <a:ext uri="{FF2B5EF4-FFF2-40B4-BE49-F238E27FC236}">
                <a16:creationId xmlns:a16="http://schemas.microsoft.com/office/drawing/2014/main" id="{E2D6621A-5AED-B7C9-7F91-FE227435C03E}"/>
              </a:ext>
            </a:extLst>
          </p:cNvPr>
          <p:cNvPicPr>
            <a:picLocks noChangeAspect="1"/>
          </p:cNvPicPr>
          <p:nvPr/>
        </p:nvPicPr>
        <p:blipFill>
          <a:blip r:embed="rId8"/>
          <a:stretch>
            <a:fillRect/>
          </a:stretch>
        </p:blipFill>
        <p:spPr>
          <a:xfrm>
            <a:off x="1398997" y="3232956"/>
            <a:ext cx="5592474" cy="1670922"/>
          </a:xfrm>
          <a:prstGeom prst="rect">
            <a:avLst/>
          </a:prstGeom>
        </p:spPr>
      </p:pic>
    </p:spTree>
    <p:extLst>
      <p:ext uri="{BB962C8B-B14F-4D97-AF65-F5344CB8AC3E}">
        <p14:creationId xmlns:p14="http://schemas.microsoft.com/office/powerpoint/2010/main" val="96770389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A29EE1-8946-4977-7A49-98A34F62ECAF}"/>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7" name="Shape 2">
            <a:extLst>
              <a:ext uri="{FF2B5EF4-FFF2-40B4-BE49-F238E27FC236}">
                <a16:creationId xmlns:a16="http://schemas.microsoft.com/office/drawing/2014/main" id="{224EA37A-0913-333D-CF6D-1396A6C4CF48}"/>
              </a:ext>
            </a:extLst>
          </p:cNvPr>
          <p:cNvSpPr/>
          <p:nvPr/>
        </p:nvSpPr>
        <p:spPr>
          <a:xfrm>
            <a:off x="8075827" y="1111603"/>
            <a:ext cx="7286844" cy="5001330"/>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9" name="Image 0" descr="preencoded.png">
            <a:extLst>
              <a:ext uri="{FF2B5EF4-FFF2-40B4-BE49-F238E27FC236}">
                <a16:creationId xmlns:a16="http://schemas.microsoft.com/office/drawing/2014/main" id="{1E968F70-4B55-BB39-2972-E6FBD795A2DA}"/>
              </a:ext>
            </a:extLst>
          </p:cNvPr>
          <p:cNvPicPr>
            <a:picLocks noChangeAspect="1"/>
          </p:cNvPicPr>
          <p:nvPr/>
        </p:nvPicPr>
        <p:blipFill>
          <a:blip r:embed="rId3"/>
          <a:stretch>
            <a:fillRect/>
          </a:stretch>
        </p:blipFill>
        <p:spPr>
          <a:xfrm flipH="1">
            <a:off x="893265" y="1599126"/>
            <a:ext cx="65834" cy="318574"/>
          </a:xfrm>
          <a:prstGeom prst="rect">
            <a:avLst/>
          </a:prstGeom>
        </p:spPr>
      </p:pic>
      <p:graphicFrame>
        <p:nvGraphicFramePr>
          <p:cNvPr id="11" name="Table 10">
            <a:extLst>
              <a:ext uri="{FF2B5EF4-FFF2-40B4-BE49-F238E27FC236}">
                <a16:creationId xmlns:a16="http://schemas.microsoft.com/office/drawing/2014/main" id="{EB6876A4-61CC-1650-81EE-6CA71BEF0FFB}"/>
              </a:ext>
            </a:extLst>
          </p:cNvPr>
          <p:cNvGraphicFramePr>
            <a:graphicFrameLocks noGrp="1"/>
          </p:cNvGraphicFramePr>
          <p:nvPr>
            <p:extLst>
              <p:ext uri="{D42A27DB-BD31-4B8C-83A1-F6EECF244321}">
                <p14:modId xmlns:p14="http://schemas.microsoft.com/office/powerpoint/2010/main" val="828144861"/>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Các bài báo nền tảng(3)</a:t>
                      </a:r>
                    </a:p>
                  </a:txBody>
                  <a:tcPr/>
                </a:tc>
                <a:extLst>
                  <a:ext uri="{0D108BD9-81ED-4DB2-BD59-A6C34878D82A}">
                    <a16:rowId xmlns:a16="http://schemas.microsoft.com/office/drawing/2014/main" val="10000"/>
                  </a:ext>
                </a:extLst>
              </a:tr>
            </a:tbl>
          </a:graphicData>
        </a:graphic>
      </p:graphicFrame>
      <p:pic>
        <p:nvPicPr>
          <p:cNvPr id="13" name="Picture 12">
            <a:extLst>
              <a:ext uri="{FF2B5EF4-FFF2-40B4-BE49-F238E27FC236}">
                <a16:creationId xmlns:a16="http://schemas.microsoft.com/office/drawing/2014/main" id="{3E180EF8-397A-E714-28CF-0C7627EEDE90}"/>
              </a:ext>
            </a:extLst>
          </p:cNvPr>
          <p:cNvPicPr/>
          <p:nvPr/>
        </p:nvPicPr>
        <p:blipFill>
          <a:blip r:embed="rId4"/>
          <a:stretch>
            <a:fillRect/>
          </a:stretch>
        </p:blipFill>
        <p:spPr>
          <a:xfrm>
            <a:off x="-118532" y="-145263"/>
            <a:ext cx="1371600" cy="1390223"/>
          </a:xfrm>
          <a:prstGeom prst="rect">
            <a:avLst/>
          </a:prstGeom>
        </p:spPr>
      </p:pic>
      <p:pic>
        <p:nvPicPr>
          <p:cNvPr id="15" name="Picture 14">
            <a:extLst>
              <a:ext uri="{FF2B5EF4-FFF2-40B4-BE49-F238E27FC236}">
                <a16:creationId xmlns:a16="http://schemas.microsoft.com/office/drawing/2014/main" id="{AC4788DF-C35A-C604-AE06-FE6A4694B3E3}"/>
              </a:ext>
            </a:extLst>
          </p:cNvPr>
          <p:cNvPicPr>
            <a:picLocks noChangeAspect="1"/>
          </p:cNvPicPr>
          <p:nvPr/>
        </p:nvPicPr>
        <p:blipFill>
          <a:blip r:embed="rId5"/>
          <a:stretch>
            <a:fillRect/>
          </a:stretch>
        </p:blipFill>
        <p:spPr>
          <a:xfrm>
            <a:off x="-118532" y="1111603"/>
            <a:ext cx="3073558" cy="133357"/>
          </a:xfrm>
          <a:prstGeom prst="rect">
            <a:avLst/>
          </a:prstGeom>
        </p:spPr>
      </p:pic>
      <p:pic>
        <p:nvPicPr>
          <p:cNvPr id="19" name="Picture 18">
            <a:extLst>
              <a:ext uri="{FF2B5EF4-FFF2-40B4-BE49-F238E27FC236}">
                <a16:creationId xmlns:a16="http://schemas.microsoft.com/office/drawing/2014/main" id="{596608C2-3326-E131-B609-DB3B842A6967}"/>
              </a:ext>
            </a:extLst>
          </p:cNvPr>
          <p:cNvPicPr>
            <a:picLocks noChangeAspect="1"/>
          </p:cNvPicPr>
          <p:nvPr/>
        </p:nvPicPr>
        <p:blipFill>
          <a:blip r:embed="rId6"/>
          <a:stretch>
            <a:fillRect/>
          </a:stretch>
        </p:blipFill>
        <p:spPr>
          <a:xfrm>
            <a:off x="345006" y="1519362"/>
            <a:ext cx="463574" cy="476274"/>
          </a:xfrm>
          <a:prstGeom prst="rect">
            <a:avLst/>
          </a:prstGeom>
        </p:spPr>
      </p:pic>
      <p:sp>
        <p:nvSpPr>
          <p:cNvPr id="23" name="Shape 3">
            <a:extLst>
              <a:ext uri="{FF2B5EF4-FFF2-40B4-BE49-F238E27FC236}">
                <a16:creationId xmlns:a16="http://schemas.microsoft.com/office/drawing/2014/main" id="{1DE6575A-F758-813B-C012-85BB833FDBA6}"/>
              </a:ext>
            </a:extLst>
          </p:cNvPr>
          <p:cNvSpPr/>
          <p:nvPr/>
        </p:nvSpPr>
        <p:spPr>
          <a:xfrm>
            <a:off x="951959" y="1609418"/>
            <a:ext cx="2910712" cy="308282"/>
          </a:xfrm>
          <a:prstGeom prst="roundRect">
            <a:avLst>
              <a:gd name="adj" fmla="val 6235"/>
            </a:avLst>
          </a:prstGeom>
          <a:solidFill>
            <a:srgbClr val="FFFFFF"/>
          </a:solidFill>
          <a:ln w="22860">
            <a:solidFill>
              <a:srgbClr val="BACFDD"/>
            </a:solidFill>
            <a:prstDash val="solid"/>
          </a:ln>
        </p:spPr>
      </p:sp>
      <p:sp>
        <p:nvSpPr>
          <p:cNvPr id="25" name="Text 4">
            <a:extLst>
              <a:ext uri="{FF2B5EF4-FFF2-40B4-BE49-F238E27FC236}">
                <a16:creationId xmlns:a16="http://schemas.microsoft.com/office/drawing/2014/main" id="{ED6207A6-8142-DF38-61B8-1F031DA3288B}"/>
              </a:ext>
            </a:extLst>
          </p:cNvPr>
          <p:cNvSpPr/>
          <p:nvPr/>
        </p:nvSpPr>
        <p:spPr>
          <a:xfrm>
            <a:off x="1017792" y="1558924"/>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Phát hiện Lane</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27" name="Image 0" descr="preencoded.png">
            <a:extLst>
              <a:ext uri="{FF2B5EF4-FFF2-40B4-BE49-F238E27FC236}">
                <a16:creationId xmlns:a16="http://schemas.microsoft.com/office/drawing/2014/main" id="{2E2C9212-3785-D987-BBCB-82533E665911}"/>
              </a:ext>
            </a:extLst>
          </p:cNvPr>
          <p:cNvPicPr>
            <a:picLocks noChangeAspect="1"/>
          </p:cNvPicPr>
          <p:nvPr/>
        </p:nvPicPr>
        <p:blipFill>
          <a:blip r:embed="rId3"/>
          <a:stretch>
            <a:fillRect/>
          </a:stretch>
        </p:blipFill>
        <p:spPr>
          <a:xfrm flipH="1">
            <a:off x="893265" y="2077940"/>
            <a:ext cx="65834" cy="318574"/>
          </a:xfrm>
          <a:prstGeom prst="rect">
            <a:avLst/>
          </a:prstGeom>
        </p:spPr>
      </p:pic>
      <p:pic>
        <p:nvPicPr>
          <p:cNvPr id="29" name="Picture 28">
            <a:extLst>
              <a:ext uri="{FF2B5EF4-FFF2-40B4-BE49-F238E27FC236}">
                <a16:creationId xmlns:a16="http://schemas.microsoft.com/office/drawing/2014/main" id="{52038C2A-766B-D098-A379-CA9E42620862}"/>
              </a:ext>
            </a:extLst>
          </p:cNvPr>
          <p:cNvPicPr>
            <a:picLocks noChangeAspect="1"/>
          </p:cNvPicPr>
          <p:nvPr/>
        </p:nvPicPr>
        <p:blipFill>
          <a:blip r:embed="rId6"/>
          <a:stretch>
            <a:fillRect/>
          </a:stretch>
        </p:blipFill>
        <p:spPr>
          <a:xfrm>
            <a:off x="345006" y="1998176"/>
            <a:ext cx="463574" cy="476274"/>
          </a:xfrm>
          <a:prstGeom prst="rect">
            <a:avLst/>
          </a:prstGeom>
        </p:spPr>
      </p:pic>
      <p:sp>
        <p:nvSpPr>
          <p:cNvPr id="31" name="Shape 3">
            <a:extLst>
              <a:ext uri="{FF2B5EF4-FFF2-40B4-BE49-F238E27FC236}">
                <a16:creationId xmlns:a16="http://schemas.microsoft.com/office/drawing/2014/main" id="{A5276A6D-D7A4-C067-E326-4318845A1D22}"/>
              </a:ext>
            </a:extLst>
          </p:cNvPr>
          <p:cNvSpPr/>
          <p:nvPr/>
        </p:nvSpPr>
        <p:spPr>
          <a:xfrm>
            <a:off x="951958" y="2088232"/>
            <a:ext cx="2899410" cy="308282"/>
          </a:xfrm>
          <a:prstGeom prst="roundRect">
            <a:avLst>
              <a:gd name="adj" fmla="val 6235"/>
            </a:avLst>
          </a:prstGeom>
          <a:solidFill>
            <a:srgbClr val="FFFFFF"/>
          </a:solidFill>
          <a:ln w="22860">
            <a:solidFill>
              <a:srgbClr val="BACFDD"/>
            </a:solidFill>
            <a:prstDash val="solid"/>
          </a:ln>
        </p:spPr>
      </p:sp>
      <p:sp>
        <p:nvSpPr>
          <p:cNvPr id="33" name="Text 4">
            <a:extLst>
              <a:ext uri="{FF2B5EF4-FFF2-40B4-BE49-F238E27FC236}">
                <a16:creationId xmlns:a16="http://schemas.microsoft.com/office/drawing/2014/main" id="{8B09932C-2938-9076-CB67-F9E1F9275814}"/>
              </a:ext>
            </a:extLst>
          </p:cNvPr>
          <p:cNvSpPr/>
          <p:nvPr/>
        </p:nvSpPr>
        <p:spPr>
          <a:xfrm>
            <a:off x="1017792" y="2037738"/>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Phát hiện phương tiện</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41" name="Picture 40">
            <a:extLst>
              <a:ext uri="{FF2B5EF4-FFF2-40B4-BE49-F238E27FC236}">
                <a16:creationId xmlns:a16="http://schemas.microsoft.com/office/drawing/2014/main" id="{9AA59334-8A2E-E50C-CF34-C4DCC7430BB6}"/>
              </a:ext>
            </a:extLst>
          </p:cNvPr>
          <p:cNvPicPr>
            <a:picLocks noChangeAspect="1"/>
          </p:cNvPicPr>
          <p:nvPr/>
        </p:nvPicPr>
        <p:blipFill>
          <a:blip r:embed="rId7"/>
          <a:stretch>
            <a:fillRect/>
          </a:stretch>
        </p:blipFill>
        <p:spPr>
          <a:xfrm>
            <a:off x="4471754" y="1567574"/>
            <a:ext cx="482625" cy="463574"/>
          </a:xfrm>
          <a:prstGeom prst="rect">
            <a:avLst/>
          </a:prstGeom>
        </p:spPr>
      </p:pic>
      <p:pic>
        <p:nvPicPr>
          <p:cNvPr id="43" name="Image 0" descr="preencoded.png">
            <a:extLst>
              <a:ext uri="{FF2B5EF4-FFF2-40B4-BE49-F238E27FC236}">
                <a16:creationId xmlns:a16="http://schemas.microsoft.com/office/drawing/2014/main" id="{CC3CFE6F-DB5F-6E13-6E00-79868A048EB9}"/>
              </a:ext>
            </a:extLst>
          </p:cNvPr>
          <p:cNvPicPr>
            <a:picLocks noChangeAspect="1"/>
          </p:cNvPicPr>
          <p:nvPr/>
        </p:nvPicPr>
        <p:blipFill>
          <a:blip r:embed="rId3"/>
          <a:stretch>
            <a:fillRect/>
          </a:stretch>
        </p:blipFill>
        <p:spPr>
          <a:xfrm flipH="1">
            <a:off x="4992826" y="1639328"/>
            <a:ext cx="65834" cy="318574"/>
          </a:xfrm>
          <a:prstGeom prst="rect">
            <a:avLst/>
          </a:prstGeom>
        </p:spPr>
      </p:pic>
      <p:sp>
        <p:nvSpPr>
          <p:cNvPr id="45" name="Shape 3">
            <a:extLst>
              <a:ext uri="{FF2B5EF4-FFF2-40B4-BE49-F238E27FC236}">
                <a16:creationId xmlns:a16="http://schemas.microsoft.com/office/drawing/2014/main" id="{2A9087A8-021A-03B3-E2D5-9E49C3554F82}"/>
              </a:ext>
            </a:extLst>
          </p:cNvPr>
          <p:cNvSpPr/>
          <p:nvPr/>
        </p:nvSpPr>
        <p:spPr>
          <a:xfrm>
            <a:off x="5051519" y="1639327"/>
            <a:ext cx="2263681" cy="318575"/>
          </a:xfrm>
          <a:prstGeom prst="roundRect">
            <a:avLst>
              <a:gd name="adj" fmla="val 6235"/>
            </a:avLst>
          </a:prstGeom>
          <a:solidFill>
            <a:srgbClr val="FFFFFF"/>
          </a:solidFill>
          <a:ln w="22860">
            <a:solidFill>
              <a:srgbClr val="BACFDD"/>
            </a:solidFill>
            <a:prstDash val="solid"/>
          </a:ln>
        </p:spPr>
      </p:sp>
      <p:sp>
        <p:nvSpPr>
          <p:cNvPr id="47" name="Text 4">
            <a:extLst>
              <a:ext uri="{FF2B5EF4-FFF2-40B4-BE49-F238E27FC236}">
                <a16:creationId xmlns:a16="http://schemas.microsoft.com/office/drawing/2014/main" id="{6ECAEE9E-ADAA-4557-322D-FD01C4F5C7F5}"/>
              </a:ext>
            </a:extLst>
          </p:cNvPr>
          <p:cNvSpPr/>
          <p:nvPr/>
        </p:nvSpPr>
        <p:spPr>
          <a:xfrm>
            <a:off x="5117353" y="1599126"/>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Yêu cầu thiết bị</a:t>
            </a:r>
            <a:endParaRPr lang="en-US" sz="2400" dirty="0">
              <a:solidFill>
                <a:srgbClr val="EE0000"/>
              </a:solidFill>
              <a:latin typeface="Times New Roman" panose="02020603050405020304" pitchFamily="18" charset="0"/>
              <a:cs typeface="Times New Roman" panose="02020603050405020304" pitchFamily="18" charset="0"/>
            </a:endParaRPr>
          </a:p>
        </p:txBody>
      </p:sp>
      <p:sp>
        <p:nvSpPr>
          <p:cNvPr id="51" name="Shape 2">
            <a:extLst>
              <a:ext uri="{FF2B5EF4-FFF2-40B4-BE49-F238E27FC236}">
                <a16:creationId xmlns:a16="http://schemas.microsoft.com/office/drawing/2014/main" id="{9112227C-4D52-4B35-46D2-0FF8B355B2B5}"/>
              </a:ext>
            </a:extLst>
          </p:cNvPr>
          <p:cNvSpPr/>
          <p:nvPr/>
        </p:nvSpPr>
        <p:spPr>
          <a:xfrm>
            <a:off x="345006" y="3024706"/>
            <a:ext cx="5685988" cy="3167156"/>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53" name="Text 3">
            <a:extLst>
              <a:ext uri="{FF2B5EF4-FFF2-40B4-BE49-F238E27FC236}">
                <a16:creationId xmlns:a16="http://schemas.microsoft.com/office/drawing/2014/main" id="{055EDAB1-96EB-216C-BCCB-3FB382C7EA0A}"/>
              </a:ext>
            </a:extLst>
          </p:cNvPr>
          <p:cNvSpPr/>
          <p:nvPr/>
        </p:nvSpPr>
        <p:spPr>
          <a:xfrm>
            <a:off x="569762" y="3102708"/>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Vấn đề giải quyết</a:t>
            </a:r>
            <a:endParaRPr lang="en-US" sz="1900" dirty="0"/>
          </a:p>
        </p:txBody>
      </p:sp>
      <p:sp>
        <p:nvSpPr>
          <p:cNvPr id="55" name="Text 4">
            <a:extLst>
              <a:ext uri="{FF2B5EF4-FFF2-40B4-BE49-F238E27FC236}">
                <a16:creationId xmlns:a16="http://schemas.microsoft.com/office/drawing/2014/main" id="{FCB157E3-BBE9-2DCD-E659-361BFBC1A375}"/>
              </a:ext>
            </a:extLst>
          </p:cNvPr>
          <p:cNvSpPr/>
          <p:nvPr/>
        </p:nvSpPr>
        <p:spPr>
          <a:xfrm>
            <a:off x="617295" y="3435320"/>
            <a:ext cx="5341598" cy="1158240"/>
          </a:xfrm>
          <a:prstGeom prst="rect">
            <a:avLst/>
          </a:prstGeom>
          <a:noFill/>
        </p:spPr>
        <p:txBody>
          <a:bodyPr wrap="square" lIns="0" tIns="0" rIns="0" bIns="0" rtlCol="0" anchor="t"/>
          <a:lstStyle/>
          <a:p>
            <a:pPr marL="0" indent="0" algn="l">
              <a:lnSpc>
                <a:spcPct val="150000"/>
              </a:lnSpc>
              <a:buNone/>
            </a:pPr>
            <a:r>
              <a:rPr lang="en-US" sz="1400" b="1"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Computation, inference time, </a:t>
            </a:r>
            <a:r>
              <a:rPr lang="vi-VN" sz="1400" b="1"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tài</a:t>
            </a:r>
            <a:r>
              <a:rPr lang="en-US" sz="1400" b="1"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 </a:t>
            </a:r>
            <a:r>
              <a:rPr lang="vi-VN" sz="1400" b="1"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nguyên phần cứng.</a:t>
            </a:r>
            <a:b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b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Vì YOLOP gom ba bài toán thành </a:t>
            </a:r>
            <a:r>
              <a:rPr lang="vi-VN" sz="1400"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1 mạng </a:t>
            </a:r>
            <a:r>
              <a:rPr lang="vi-VN" sz="1400" b="1"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multi-task</a:t>
            </a:r>
            <a:r>
              <a:rPr lang="vi-VN" sz="1400"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 </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thay vì chạy </a:t>
            </a:r>
            <a:r>
              <a:rPr lang="vi-VN" sz="1400"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ba model riêng :  </a:t>
            </a:r>
            <a:r>
              <a:rPr lang="vi-VN" sz="1400" dirty="0">
                <a:solidFill>
                  <a:schemeClr val="accent6">
                    <a:lumMod val="75000"/>
                  </a:schemeClr>
                </a:solidFill>
                <a:latin typeface="Montserrat" panose="00000500000000000000" pitchFamily="34" charset="0"/>
                <a:ea typeface="Montserrat" panose="00000500000000000000" pitchFamily="34" charset="-122"/>
                <a:cs typeface="Montserrat" panose="00000500000000000000" pitchFamily="34" charset="-120"/>
              </a:rPr>
              <a:t>+ Object Detection model</a:t>
            </a:r>
            <a:br>
              <a:rPr lang="vi-VN" sz="1400" dirty="0">
                <a:solidFill>
                  <a:schemeClr val="accent6">
                    <a:lumMod val="75000"/>
                  </a:schemeClr>
                </a:solidFill>
                <a:latin typeface="Montserrat" panose="00000500000000000000" pitchFamily="34" charset="0"/>
                <a:ea typeface="Montserrat" panose="00000500000000000000" pitchFamily="34" charset="-122"/>
                <a:cs typeface="Montserrat" panose="00000500000000000000" pitchFamily="34" charset="-120"/>
              </a:rPr>
            </a:br>
            <a:r>
              <a:rPr lang="vi-VN" sz="1400" dirty="0">
                <a:solidFill>
                  <a:schemeClr val="accent6">
                    <a:lumMod val="75000"/>
                  </a:schemeClr>
                </a:solidFill>
                <a:latin typeface="Montserrat" panose="00000500000000000000" pitchFamily="34" charset="0"/>
                <a:ea typeface="Montserrat" panose="00000500000000000000" pitchFamily="34" charset="-122"/>
                <a:cs typeface="Montserrat" panose="00000500000000000000" pitchFamily="34" charset="-120"/>
              </a:rPr>
              <a:t>		    + Drivable Area model</a:t>
            </a:r>
            <a:br>
              <a:rPr lang="vi-VN" sz="1400" dirty="0">
                <a:solidFill>
                  <a:schemeClr val="accent6">
                    <a:lumMod val="75000"/>
                  </a:schemeClr>
                </a:solidFill>
                <a:latin typeface="Montserrat" panose="00000500000000000000" pitchFamily="34" charset="0"/>
                <a:ea typeface="Montserrat" panose="00000500000000000000" pitchFamily="34" charset="-122"/>
                <a:cs typeface="Montserrat" panose="00000500000000000000" pitchFamily="34" charset="-120"/>
              </a:rPr>
            </a:br>
            <a:r>
              <a:rPr lang="vi-VN" sz="1400" dirty="0">
                <a:solidFill>
                  <a:schemeClr val="accent6">
                    <a:lumMod val="75000"/>
                  </a:schemeClr>
                </a:solidFill>
                <a:latin typeface="Montserrat" panose="00000500000000000000" pitchFamily="34" charset="0"/>
                <a:ea typeface="Montserrat" panose="00000500000000000000" pitchFamily="34" charset="-122"/>
                <a:cs typeface="Montserrat" panose="00000500000000000000" pitchFamily="34" charset="-120"/>
              </a:rPr>
              <a:t>		    + Lane Detection model</a:t>
            </a:r>
            <a:endParaRPr lang="en-US" sz="1400" dirty="0">
              <a:solidFill>
                <a:schemeClr val="accent6">
                  <a:lumMod val="75000"/>
                </a:schemeClr>
              </a:solidFill>
            </a:endParaRPr>
          </a:p>
        </p:txBody>
      </p:sp>
      <p:sp>
        <p:nvSpPr>
          <p:cNvPr id="57" name="Text 3">
            <a:extLst>
              <a:ext uri="{FF2B5EF4-FFF2-40B4-BE49-F238E27FC236}">
                <a16:creationId xmlns:a16="http://schemas.microsoft.com/office/drawing/2014/main" id="{FC2CD69D-91EA-07A9-B104-591C434FFA4E}"/>
              </a:ext>
            </a:extLst>
          </p:cNvPr>
          <p:cNvSpPr/>
          <p:nvPr/>
        </p:nvSpPr>
        <p:spPr>
          <a:xfrm>
            <a:off x="617295" y="5284936"/>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Output thực tế</a:t>
            </a:r>
            <a:endParaRPr lang="en-US" sz="1900" dirty="0"/>
          </a:p>
        </p:txBody>
      </p:sp>
      <p:sp>
        <p:nvSpPr>
          <p:cNvPr id="59" name="Text 4">
            <a:extLst>
              <a:ext uri="{FF2B5EF4-FFF2-40B4-BE49-F238E27FC236}">
                <a16:creationId xmlns:a16="http://schemas.microsoft.com/office/drawing/2014/main" id="{449901DB-6FE0-4044-D774-607F28E369E7}"/>
              </a:ext>
            </a:extLst>
          </p:cNvPr>
          <p:cNvSpPr/>
          <p:nvPr/>
        </p:nvSpPr>
        <p:spPr>
          <a:xfrm>
            <a:off x="617295" y="5631798"/>
            <a:ext cx="4191970" cy="1158240"/>
          </a:xfrm>
          <a:prstGeom prst="rect">
            <a:avLst/>
          </a:prstGeom>
          <a:noFill/>
        </p:spPr>
        <p:txBody>
          <a:bodyPr wrap="square" lIns="0" tIns="0" rIns="0" bIns="0" rtlCol="0" anchor="t"/>
          <a:lstStyle/>
          <a:p>
            <a:pPr marL="0" indent="0" algn="l">
              <a:lnSpc>
                <a:spcPct val="10000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Tạo perception tổng hợp để xe biết xe ở đâu, vùng nào chạy được và lane ở đâu.</a:t>
            </a:r>
            <a:endParaRPr lang="en-US" sz="1400" dirty="0"/>
          </a:p>
        </p:txBody>
      </p:sp>
      <p:pic>
        <p:nvPicPr>
          <p:cNvPr id="63" name="Picture 62">
            <a:extLst>
              <a:ext uri="{FF2B5EF4-FFF2-40B4-BE49-F238E27FC236}">
                <a16:creationId xmlns:a16="http://schemas.microsoft.com/office/drawing/2014/main" id="{BA9069C5-3542-A0C2-CAEA-5FEA4D6561C9}"/>
              </a:ext>
            </a:extLst>
          </p:cNvPr>
          <p:cNvPicPr>
            <a:picLocks noChangeAspect="1"/>
          </p:cNvPicPr>
          <p:nvPr/>
        </p:nvPicPr>
        <p:blipFill>
          <a:blip r:embed="rId6"/>
          <a:stretch>
            <a:fillRect/>
          </a:stretch>
        </p:blipFill>
        <p:spPr>
          <a:xfrm>
            <a:off x="345006" y="2447745"/>
            <a:ext cx="463574" cy="476274"/>
          </a:xfrm>
          <a:prstGeom prst="rect">
            <a:avLst/>
          </a:prstGeom>
        </p:spPr>
      </p:pic>
      <p:pic>
        <p:nvPicPr>
          <p:cNvPr id="65" name="Image 0" descr="preencoded.png">
            <a:extLst>
              <a:ext uri="{FF2B5EF4-FFF2-40B4-BE49-F238E27FC236}">
                <a16:creationId xmlns:a16="http://schemas.microsoft.com/office/drawing/2014/main" id="{4253520D-015E-64B5-5FBB-008F439B91C8}"/>
              </a:ext>
            </a:extLst>
          </p:cNvPr>
          <p:cNvPicPr>
            <a:picLocks noChangeAspect="1"/>
          </p:cNvPicPr>
          <p:nvPr/>
        </p:nvPicPr>
        <p:blipFill>
          <a:blip r:embed="rId3"/>
          <a:stretch>
            <a:fillRect/>
          </a:stretch>
        </p:blipFill>
        <p:spPr>
          <a:xfrm flipH="1">
            <a:off x="904568" y="2560696"/>
            <a:ext cx="65834" cy="318574"/>
          </a:xfrm>
          <a:prstGeom prst="rect">
            <a:avLst/>
          </a:prstGeom>
        </p:spPr>
      </p:pic>
      <p:sp>
        <p:nvSpPr>
          <p:cNvPr id="67" name="Shape 3">
            <a:extLst>
              <a:ext uri="{FF2B5EF4-FFF2-40B4-BE49-F238E27FC236}">
                <a16:creationId xmlns:a16="http://schemas.microsoft.com/office/drawing/2014/main" id="{6EB77A90-BDFE-B70A-62DA-A70C0D12763E}"/>
              </a:ext>
            </a:extLst>
          </p:cNvPr>
          <p:cNvSpPr/>
          <p:nvPr/>
        </p:nvSpPr>
        <p:spPr>
          <a:xfrm>
            <a:off x="959099" y="2566183"/>
            <a:ext cx="2899410" cy="308282"/>
          </a:xfrm>
          <a:prstGeom prst="roundRect">
            <a:avLst>
              <a:gd name="adj" fmla="val 6235"/>
            </a:avLst>
          </a:prstGeom>
          <a:solidFill>
            <a:srgbClr val="FFFFFF"/>
          </a:solidFill>
          <a:ln w="22860">
            <a:solidFill>
              <a:srgbClr val="BACFDD"/>
            </a:solidFill>
            <a:prstDash val="solid"/>
          </a:ln>
        </p:spPr>
      </p:sp>
      <p:sp>
        <p:nvSpPr>
          <p:cNvPr id="69" name="Text 4">
            <a:extLst>
              <a:ext uri="{FF2B5EF4-FFF2-40B4-BE49-F238E27FC236}">
                <a16:creationId xmlns:a16="http://schemas.microsoft.com/office/drawing/2014/main" id="{1337D007-50B4-AD86-A627-58119DE956F2}"/>
              </a:ext>
            </a:extLst>
          </p:cNvPr>
          <p:cNvSpPr/>
          <p:nvPr/>
        </p:nvSpPr>
        <p:spPr>
          <a:xfrm>
            <a:off x="1029095" y="2520494"/>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Drivable Area</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71" name="Picture 70">
            <a:extLst>
              <a:ext uri="{FF2B5EF4-FFF2-40B4-BE49-F238E27FC236}">
                <a16:creationId xmlns:a16="http://schemas.microsoft.com/office/drawing/2014/main" id="{4D768AE0-A803-9FDC-4640-EFD44864A976}"/>
              </a:ext>
            </a:extLst>
          </p:cNvPr>
          <p:cNvPicPr>
            <a:picLocks noChangeAspect="1"/>
          </p:cNvPicPr>
          <p:nvPr/>
        </p:nvPicPr>
        <p:blipFill>
          <a:blip r:embed="rId8"/>
          <a:stretch>
            <a:fillRect/>
          </a:stretch>
        </p:blipFill>
        <p:spPr>
          <a:xfrm>
            <a:off x="8459517" y="1244960"/>
            <a:ext cx="6178081" cy="4758436"/>
          </a:xfrm>
          <a:prstGeom prst="rect">
            <a:avLst/>
          </a:prstGeom>
        </p:spPr>
      </p:pic>
      <p:pic>
        <p:nvPicPr>
          <p:cNvPr id="81" name="Picture 80">
            <a:extLst>
              <a:ext uri="{FF2B5EF4-FFF2-40B4-BE49-F238E27FC236}">
                <a16:creationId xmlns:a16="http://schemas.microsoft.com/office/drawing/2014/main" id="{B6E3F899-E312-CBB2-9EAE-266F45EBE79A}"/>
              </a:ext>
            </a:extLst>
          </p:cNvPr>
          <p:cNvPicPr>
            <a:picLocks noChangeAspect="1"/>
          </p:cNvPicPr>
          <p:nvPr/>
        </p:nvPicPr>
        <p:blipFill>
          <a:blip r:embed="rId9"/>
          <a:stretch>
            <a:fillRect/>
          </a:stretch>
        </p:blipFill>
        <p:spPr>
          <a:xfrm>
            <a:off x="345006" y="6229973"/>
            <a:ext cx="3479897" cy="1963320"/>
          </a:xfrm>
          <a:prstGeom prst="rect">
            <a:avLst/>
          </a:prstGeom>
        </p:spPr>
      </p:pic>
      <p:pic>
        <p:nvPicPr>
          <p:cNvPr id="85" name="Picture 84">
            <a:extLst>
              <a:ext uri="{FF2B5EF4-FFF2-40B4-BE49-F238E27FC236}">
                <a16:creationId xmlns:a16="http://schemas.microsoft.com/office/drawing/2014/main" id="{72ACC664-20EA-FF99-0ED4-A607B363F282}"/>
              </a:ext>
            </a:extLst>
          </p:cNvPr>
          <p:cNvPicPr>
            <a:picLocks noChangeAspect="1"/>
          </p:cNvPicPr>
          <p:nvPr/>
        </p:nvPicPr>
        <p:blipFill>
          <a:blip r:embed="rId10"/>
          <a:stretch>
            <a:fillRect/>
          </a:stretch>
        </p:blipFill>
        <p:spPr>
          <a:xfrm>
            <a:off x="5223933" y="6320047"/>
            <a:ext cx="3233436" cy="1877110"/>
          </a:xfrm>
          <a:prstGeom prst="rect">
            <a:avLst/>
          </a:prstGeom>
        </p:spPr>
      </p:pic>
      <p:pic>
        <p:nvPicPr>
          <p:cNvPr id="87" name="Picture 86">
            <a:extLst>
              <a:ext uri="{FF2B5EF4-FFF2-40B4-BE49-F238E27FC236}">
                <a16:creationId xmlns:a16="http://schemas.microsoft.com/office/drawing/2014/main" id="{6407C17D-023C-59E6-D369-E995D4A9E802}"/>
              </a:ext>
            </a:extLst>
          </p:cNvPr>
          <p:cNvPicPr>
            <a:picLocks noChangeAspect="1"/>
          </p:cNvPicPr>
          <p:nvPr/>
        </p:nvPicPr>
        <p:blipFill>
          <a:blip r:embed="rId11"/>
          <a:stretch>
            <a:fillRect/>
          </a:stretch>
        </p:blipFill>
        <p:spPr>
          <a:xfrm>
            <a:off x="10371667" y="6290813"/>
            <a:ext cx="3361266" cy="1938787"/>
          </a:xfrm>
          <a:prstGeom prst="rect">
            <a:avLst/>
          </a:prstGeom>
        </p:spPr>
      </p:pic>
    </p:spTree>
    <p:extLst>
      <p:ext uri="{BB962C8B-B14F-4D97-AF65-F5344CB8AC3E}">
        <p14:creationId xmlns:p14="http://schemas.microsoft.com/office/powerpoint/2010/main" val="33119118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a:extLst>
              <a:ext uri="{FF2B5EF4-FFF2-40B4-BE49-F238E27FC236}">
                <a16:creationId xmlns:a16="http://schemas.microsoft.com/office/drawing/2014/main" id="{6667EF3F-3933-74D0-EB23-9D94A3261894}"/>
              </a:ext>
            </a:extLst>
          </p:cNvPr>
          <p:cNvSpPr>
            <a:spLocks/>
          </p:cNvSpPr>
          <p:nvPr/>
        </p:nvSpPr>
        <p:spPr>
          <a:xfrm>
            <a:off x="67733" y="1256865"/>
            <a:ext cx="8127999" cy="3586068"/>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15" name="Picture 14">
            <a:extLst>
              <a:ext uri="{FF2B5EF4-FFF2-40B4-BE49-F238E27FC236}">
                <a16:creationId xmlns:a16="http://schemas.microsoft.com/office/drawing/2014/main" id="{90CC87B8-99F7-CD9A-BC08-375001804D4A}"/>
              </a:ext>
            </a:extLst>
          </p:cNvPr>
          <p:cNvPicPr>
            <a:picLocks noChangeAspect="1"/>
          </p:cNvPicPr>
          <p:nvPr/>
        </p:nvPicPr>
        <p:blipFill>
          <a:blip r:embed="rId2"/>
          <a:stretch>
            <a:fillRect/>
          </a:stretch>
        </p:blipFill>
        <p:spPr>
          <a:xfrm>
            <a:off x="-118532" y="1111603"/>
            <a:ext cx="3073558" cy="133357"/>
          </a:xfrm>
          <a:prstGeom prst="rect">
            <a:avLst/>
          </a:prstGeom>
        </p:spPr>
      </p:pic>
      <p:pic>
        <p:nvPicPr>
          <p:cNvPr id="3" name="Picture 2">
            <a:extLst>
              <a:ext uri="{FF2B5EF4-FFF2-40B4-BE49-F238E27FC236}">
                <a16:creationId xmlns:a16="http://schemas.microsoft.com/office/drawing/2014/main" id="{F007478C-BAE1-EBF7-27A4-26BA1368EEB6}"/>
              </a:ext>
            </a:extLst>
          </p:cNvPr>
          <p:cNvPicPr>
            <a:picLocks noChangeAspect="1"/>
          </p:cNvPicPr>
          <p:nvPr/>
        </p:nvPicPr>
        <p:blipFill>
          <a:blip r:embed="rId3"/>
          <a:stretch>
            <a:fillRect/>
          </a:stretch>
        </p:blipFill>
        <p:spPr>
          <a:xfrm>
            <a:off x="161226" y="1423061"/>
            <a:ext cx="7840800" cy="3208206"/>
          </a:xfrm>
          <a:prstGeom prst="rect">
            <a:avLst/>
          </a:prstGeom>
        </p:spPr>
      </p:pic>
      <p:pic>
        <p:nvPicPr>
          <p:cNvPr id="7" name="Picture 6">
            <a:extLst>
              <a:ext uri="{FF2B5EF4-FFF2-40B4-BE49-F238E27FC236}">
                <a16:creationId xmlns:a16="http://schemas.microsoft.com/office/drawing/2014/main" id="{C3D803DD-EB77-E935-1ECF-E527765F5CE7}"/>
              </a:ext>
            </a:extLst>
          </p:cNvPr>
          <p:cNvPicPr>
            <a:picLocks noChangeAspect="1"/>
          </p:cNvPicPr>
          <p:nvPr/>
        </p:nvPicPr>
        <p:blipFill>
          <a:blip r:embed="rId4"/>
          <a:stretch>
            <a:fillRect/>
          </a:stretch>
        </p:blipFill>
        <p:spPr>
          <a:xfrm>
            <a:off x="10106181" y="6376129"/>
            <a:ext cx="4524219" cy="1853471"/>
          </a:xfrm>
          <a:prstGeom prst="rect">
            <a:avLst/>
          </a:prstGeom>
          <a:noFill/>
        </p:spPr>
      </p:pic>
      <p:sp>
        <p:nvSpPr>
          <p:cNvPr id="9" name="Shape 2">
            <a:extLst>
              <a:ext uri="{FF2B5EF4-FFF2-40B4-BE49-F238E27FC236}">
                <a16:creationId xmlns:a16="http://schemas.microsoft.com/office/drawing/2014/main" id="{73D823CE-F708-CFFC-4E1A-55DAFF2917FD}"/>
              </a:ext>
            </a:extLst>
          </p:cNvPr>
          <p:cNvSpPr/>
          <p:nvPr/>
        </p:nvSpPr>
        <p:spPr>
          <a:xfrm>
            <a:off x="8290919" y="1099697"/>
            <a:ext cx="7084547" cy="5106369"/>
          </a:xfrm>
          <a:prstGeom prst="roundRect">
            <a:avLst>
              <a:gd name="adj" fmla="val 11303"/>
            </a:avLst>
          </a:prstGeom>
          <a:solidFill>
            <a:srgbClr val="D4E9F7"/>
          </a:solidFill>
          <a:ln w="7620">
            <a:solidFill>
              <a:srgbClr val="BACFDD"/>
            </a:solidFill>
            <a:prstDash val="solid"/>
          </a:ln>
        </p:spPr>
        <p:txBody>
          <a:bodyPr/>
          <a:lstStyle/>
          <a:p>
            <a:endParaRPr lang="en-US" dirty="0"/>
          </a:p>
        </p:txBody>
      </p:sp>
      <p:graphicFrame>
        <p:nvGraphicFramePr>
          <p:cNvPr id="11" name="Table 10">
            <a:extLst>
              <a:ext uri="{FF2B5EF4-FFF2-40B4-BE49-F238E27FC236}">
                <a16:creationId xmlns:a16="http://schemas.microsoft.com/office/drawing/2014/main" id="{7FBDABA0-1213-6BFB-5604-6EBC65BEDF78}"/>
              </a:ext>
            </a:extLst>
          </p:cNvPr>
          <p:cNvGraphicFramePr>
            <a:graphicFrameLocks noGrp="1"/>
          </p:cNvGraphicFramePr>
          <p:nvPr>
            <p:extLst>
              <p:ext uri="{D42A27DB-BD31-4B8C-83A1-F6EECF244321}">
                <p14:modId xmlns:p14="http://schemas.microsoft.com/office/powerpoint/2010/main" val="3785371691"/>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Các bài báo nền tảng(3)</a:t>
                      </a:r>
                    </a:p>
                  </a:txBody>
                  <a:tcPr/>
                </a:tc>
                <a:extLst>
                  <a:ext uri="{0D108BD9-81ED-4DB2-BD59-A6C34878D82A}">
                    <a16:rowId xmlns:a16="http://schemas.microsoft.com/office/drawing/2014/main" val="10000"/>
                  </a:ext>
                </a:extLst>
              </a:tr>
            </a:tbl>
          </a:graphicData>
        </a:graphic>
      </p:graphicFrame>
      <p:pic>
        <p:nvPicPr>
          <p:cNvPr id="13" name="Picture 12">
            <a:extLst>
              <a:ext uri="{FF2B5EF4-FFF2-40B4-BE49-F238E27FC236}">
                <a16:creationId xmlns:a16="http://schemas.microsoft.com/office/drawing/2014/main" id="{B1064CD4-893A-6354-5398-BA7151ADF609}"/>
              </a:ext>
            </a:extLst>
          </p:cNvPr>
          <p:cNvPicPr/>
          <p:nvPr/>
        </p:nvPicPr>
        <p:blipFill>
          <a:blip r:embed="rId5"/>
          <a:stretch>
            <a:fillRect/>
          </a:stretch>
        </p:blipFill>
        <p:spPr>
          <a:xfrm>
            <a:off x="-118532" y="-145263"/>
            <a:ext cx="1371600" cy="1390223"/>
          </a:xfrm>
          <a:prstGeom prst="rect">
            <a:avLst/>
          </a:prstGeom>
        </p:spPr>
      </p:pic>
      <p:sp>
        <p:nvSpPr>
          <p:cNvPr id="21" name="Text 3">
            <a:extLst>
              <a:ext uri="{FF2B5EF4-FFF2-40B4-BE49-F238E27FC236}">
                <a16:creationId xmlns:a16="http://schemas.microsoft.com/office/drawing/2014/main" id="{DF2DCA18-22E3-5142-B696-C75D9CB0DD7A}"/>
              </a:ext>
            </a:extLst>
          </p:cNvPr>
          <p:cNvSpPr/>
          <p:nvPr/>
        </p:nvSpPr>
        <p:spPr>
          <a:xfrm>
            <a:off x="422153" y="5160754"/>
            <a:ext cx="7290979" cy="604361"/>
          </a:xfrm>
          <a:prstGeom prst="rect">
            <a:avLst/>
          </a:prstGeom>
          <a:noFill/>
        </p:spPr>
        <p:txBody>
          <a:bodyPr wrap="square" lIns="0" tIns="0" rIns="0" bIns="0" rtlCol="0" anchor="t"/>
          <a:lstStyle/>
          <a:p>
            <a:pPr marL="0" indent="0" algn="l">
              <a:lnSpc>
                <a:spcPct val="15000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YOLOP sử dụng </a:t>
            </a:r>
            <a:r>
              <a:rPr lang="vi-VN" sz="1900" b="1" dirty="0">
                <a:solidFill>
                  <a:srgbClr val="EE0000"/>
                </a:solidFill>
                <a:latin typeface="Barlow Bold" panose="00000800000000000000" pitchFamily="34" charset="0"/>
                <a:ea typeface="Barlow Bold" panose="00000800000000000000" pitchFamily="34" charset="-122"/>
                <a:cs typeface="Barlow Bold" panose="00000800000000000000" pitchFamily="34" charset="-120"/>
              </a:rPr>
              <a:t>một encoder </a:t>
            </a: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chung để trích xuất đặc trưng từ ảnh. Sau đó đặc trưng được chia cho ba nhánh xử lý gồm phát hiện </a:t>
            </a:r>
            <a:r>
              <a:rPr lang="vi-VN" sz="1900" b="1" dirty="0">
                <a:solidFill>
                  <a:srgbClr val="00B050"/>
                </a:solidFill>
                <a:latin typeface="Barlow Bold" panose="00000800000000000000" pitchFamily="34" charset="0"/>
                <a:ea typeface="Barlow Bold" panose="00000800000000000000" pitchFamily="34" charset="-122"/>
                <a:cs typeface="Barlow Bold" panose="00000800000000000000" pitchFamily="34" charset="-120"/>
              </a:rPr>
              <a:t>phương tiện, phân đoạn vùng có thể di chuyển và phân đoạn vạch làn</a:t>
            </a: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Kiến trúc </a:t>
            </a:r>
            <a:r>
              <a:rPr lang="vi-VN" sz="1900" b="1" dirty="0">
                <a:solidFill>
                  <a:srgbClr val="FF9933"/>
                </a:solidFill>
                <a:latin typeface="Barlow Bold" panose="00000800000000000000" pitchFamily="34" charset="0"/>
                <a:ea typeface="Barlow Bold" panose="00000800000000000000" pitchFamily="34" charset="-122"/>
                <a:cs typeface="Barlow Bold" panose="00000800000000000000" pitchFamily="34" charset="-120"/>
              </a:rPr>
              <a:t>multi-task</a:t>
            </a: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 này giúp giảm việc sử dụng nhiều mô hình riêng biệt và cho phép xử lý cả ba nhiệm vụ đồng thời.</a:t>
            </a:r>
            <a:endParaRPr lang="en-US" sz="1900" dirty="0"/>
          </a:p>
        </p:txBody>
      </p:sp>
      <p:pic>
        <p:nvPicPr>
          <p:cNvPr id="23" name="Picture 22">
            <a:extLst>
              <a:ext uri="{FF2B5EF4-FFF2-40B4-BE49-F238E27FC236}">
                <a16:creationId xmlns:a16="http://schemas.microsoft.com/office/drawing/2014/main" id="{1D9640D0-3648-32F4-143E-F3D09977C03F}"/>
              </a:ext>
            </a:extLst>
          </p:cNvPr>
          <p:cNvPicPr>
            <a:picLocks noChangeAspect="1"/>
          </p:cNvPicPr>
          <p:nvPr/>
        </p:nvPicPr>
        <p:blipFill>
          <a:blip r:embed="rId6"/>
          <a:stretch>
            <a:fillRect/>
          </a:stretch>
        </p:blipFill>
        <p:spPr>
          <a:xfrm>
            <a:off x="8459517" y="1244960"/>
            <a:ext cx="6178081" cy="4758436"/>
          </a:xfrm>
          <a:prstGeom prst="rect">
            <a:avLst/>
          </a:prstGeom>
        </p:spPr>
      </p:pic>
    </p:spTree>
    <p:extLst>
      <p:ext uri="{BB962C8B-B14F-4D97-AF65-F5344CB8AC3E}">
        <p14:creationId xmlns:p14="http://schemas.microsoft.com/office/powerpoint/2010/main" val="117099933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Shape 2">
            <a:extLst>
              <a:ext uri="{FF2B5EF4-FFF2-40B4-BE49-F238E27FC236}">
                <a16:creationId xmlns:a16="http://schemas.microsoft.com/office/drawing/2014/main" id="{5C6E0AA5-AF6A-44A3-7938-6FCF6492BC8F}"/>
              </a:ext>
            </a:extLst>
          </p:cNvPr>
          <p:cNvSpPr/>
          <p:nvPr/>
        </p:nvSpPr>
        <p:spPr>
          <a:xfrm>
            <a:off x="186267" y="4223283"/>
            <a:ext cx="6644416" cy="3642249"/>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3" name="Picture 2">
            <a:extLst>
              <a:ext uri="{FF2B5EF4-FFF2-40B4-BE49-F238E27FC236}">
                <a16:creationId xmlns:a16="http://schemas.microsoft.com/office/drawing/2014/main" id="{35443E17-125C-C9FC-B228-10C54A312EEC}"/>
              </a:ext>
            </a:extLst>
          </p:cNvPr>
          <p:cNvPicPr>
            <a:picLocks noChangeAspect="1"/>
          </p:cNvPicPr>
          <p:nvPr/>
        </p:nvPicPr>
        <p:blipFill>
          <a:blip r:embed="rId2"/>
          <a:stretch>
            <a:fillRect/>
          </a:stretch>
        </p:blipFill>
        <p:spPr>
          <a:xfrm>
            <a:off x="10013048" y="6376129"/>
            <a:ext cx="4524219" cy="1853471"/>
          </a:xfrm>
          <a:prstGeom prst="rect">
            <a:avLst/>
          </a:prstGeom>
          <a:noFill/>
        </p:spPr>
      </p:pic>
      <p:sp>
        <p:nvSpPr>
          <p:cNvPr id="37" name="Shape 2">
            <a:extLst>
              <a:ext uri="{FF2B5EF4-FFF2-40B4-BE49-F238E27FC236}">
                <a16:creationId xmlns:a16="http://schemas.microsoft.com/office/drawing/2014/main" id="{422907FC-645F-D574-542B-A82C755D1AE7}"/>
              </a:ext>
            </a:extLst>
          </p:cNvPr>
          <p:cNvSpPr/>
          <p:nvPr/>
        </p:nvSpPr>
        <p:spPr>
          <a:xfrm>
            <a:off x="7078133" y="1005808"/>
            <a:ext cx="8297333" cy="6385593"/>
          </a:xfrm>
          <a:prstGeom prst="roundRect">
            <a:avLst>
              <a:gd name="adj" fmla="val 11303"/>
            </a:avLst>
          </a:prstGeom>
          <a:solidFill>
            <a:srgbClr val="D4E9F7"/>
          </a:solidFill>
          <a:ln w="7620">
            <a:solidFill>
              <a:srgbClr val="BACFDD"/>
            </a:solidFill>
            <a:prstDash val="solid"/>
          </a:ln>
        </p:spPr>
        <p:txBody>
          <a:bodyPr/>
          <a:lstStyle/>
          <a:p>
            <a:endParaRPr lang="en-US" dirty="0"/>
          </a:p>
        </p:txBody>
      </p:sp>
      <p:graphicFrame>
        <p:nvGraphicFramePr>
          <p:cNvPr id="11" name="Table 10">
            <a:extLst>
              <a:ext uri="{FF2B5EF4-FFF2-40B4-BE49-F238E27FC236}">
                <a16:creationId xmlns:a16="http://schemas.microsoft.com/office/drawing/2014/main" id="{C1A4257A-3441-3B90-A475-C119F7A89BCF}"/>
              </a:ext>
            </a:extLst>
          </p:cNvPr>
          <p:cNvGraphicFramePr>
            <a:graphicFrameLocks noGrp="1"/>
          </p:cNvGraphicFramePr>
          <p:nvPr>
            <p:extLst>
              <p:ext uri="{D42A27DB-BD31-4B8C-83A1-F6EECF244321}">
                <p14:modId xmlns:p14="http://schemas.microsoft.com/office/powerpoint/2010/main" val="2491275448"/>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(1)</a:t>
                      </a:r>
                    </a:p>
                  </a:txBody>
                  <a:tcPr/>
                </a:tc>
                <a:extLst>
                  <a:ext uri="{0D108BD9-81ED-4DB2-BD59-A6C34878D82A}">
                    <a16:rowId xmlns:a16="http://schemas.microsoft.com/office/drawing/2014/main" val="10000"/>
                  </a:ext>
                </a:extLst>
              </a:tr>
            </a:tbl>
          </a:graphicData>
        </a:graphic>
      </p:graphicFrame>
      <p:pic>
        <p:nvPicPr>
          <p:cNvPr id="13" name="Picture 12">
            <a:extLst>
              <a:ext uri="{FF2B5EF4-FFF2-40B4-BE49-F238E27FC236}">
                <a16:creationId xmlns:a16="http://schemas.microsoft.com/office/drawing/2014/main" id="{8552B2A9-7FED-2174-E842-89326816A0C9}"/>
              </a:ext>
            </a:extLst>
          </p:cNvPr>
          <p:cNvPicPr/>
          <p:nvPr/>
        </p:nvPicPr>
        <p:blipFill>
          <a:blip r:embed="rId3"/>
          <a:stretch>
            <a:fillRect/>
          </a:stretch>
        </p:blipFill>
        <p:spPr>
          <a:xfrm>
            <a:off x="-118532" y="-145263"/>
            <a:ext cx="1371600" cy="1390223"/>
          </a:xfrm>
          <a:prstGeom prst="rect">
            <a:avLst/>
          </a:prstGeom>
        </p:spPr>
      </p:pic>
      <p:pic>
        <p:nvPicPr>
          <p:cNvPr id="27" name="Picture 26">
            <a:extLst>
              <a:ext uri="{FF2B5EF4-FFF2-40B4-BE49-F238E27FC236}">
                <a16:creationId xmlns:a16="http://schemas.microsoft.com/office/drawing/2014/main" id="{7BFD69D7-2AB3-A234-C840-1067DBBBB75A}"/>
              </a:ext>
            </a:extLst>
          </p:cNvPr>
          <p:cNvPicPr>
            <a:picLocks noChangeAspect="1"/>
          </p:cNvPicPr>
          <p:nvPr/>
        </p:nvPicPr>
        <p:blipFill>
          <a:blip r:embed="rId4"/>
          <a:stretch>
            <a:fillRect/>
          </a:stretch>
        </p:blipFill>
        <p:spPr>
          <a:xfrm>
            <a:off x="-118532" y="1111603"/>
            <a:ext cx="3073558" cy="133357"/>
          </a:xfrm>
          <a:prstGeom prst="rect">
            <a:avLst/>
          </a:prstGeom>
        </p:spPr>
      </p:pic>
      <p:pic>
        <p:nvPicPr>
          <p:cNvPr id="35" name="Picture 34">
            <a:extLst>
              <a:ext uri="{FF2B5EF4-FFF2-40B4-BE49-F238E27FC236}">
                <a16:creationId xmlns:a16="http://schemas.microsoft.com/office/drawing/2014/main" id="{D1D0EF2C-82C9-2397-9BBB-94E5550C238E}"/>
              </a:ext>
            </a:extLst>
          </p:cNvPr>
          <p:cNvPicPr>
            <a:picLocks noChangeAspect="1"/>
          </p:cNvPicPr>
          <p:nvPr/>
        </p:nvPicPr>
        <p:blipFill>
          <a:blip r:embed="rId5"/>
          <a:stretch>
            <a:fillRect/>
          </a:stretch>
        </p:blipFill>
        <p:spPr>
          <a:xfrm>
            <a:off x="7393318" y="1178281"/>
            <a:ext cx="7734698" cy="6045511"/>
          </a:xfrm>
          <a:prstGeom prst="rect">
            <a:avLst/>
          </a:prstGeom>
        </p:spPr>
      </p:pic>
      <p:sp>
        <p:nvSpPr>
          <p:cNvPr id="41" name="Shape 2">
            <a:extLst>
              <a:ext uri="{FF2B5EF4-FFF2-40B4-BE49-F238E27FC236}">
                <a16:creationId xmlns:a16="http://schemas.microsoft.com/office/drawing/2014/main" id="{EFABA89C-51BC-5F72-1417-E7EF3795B34E}"/>
              </a:ext>
            </a:extLst>
          </p:cNvPr>
          <p:cNvSpPr/>
          <p:nvPr/>
        </p:nvSpPr>
        <p:spPr>
          <a:xfrm>
            <a:off x="78455" y="1359742"/>
            <a:ext cx="5873612" cy="2755058"/>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43" name="Text 3">
            <a:extLst>
              <a:ext uri="{FF2B5EF4-FFF2-40B4-BE49-F238E27FC236}">
                <a16:creationId xmlns:a16="http://schemas.microsoft.com/office/drawing/2014/main" id="{A558A090-78DF-4EA8-2015-F9D4B3E5C1E9}"/>
              </a:ext>
            </a:extLst>
          </p:cNvPr>
          <p:cNvSpPr/>
          <p:nvPr/>
        </p:nvSpPr>
        <p:spPr>
          <a:xfrm>
            <a:off x="303212" y="1468225"/>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Vấn đề giải quyết</a:t>
            </a:r>
            <a:endParaRPr lang="en-US" sz="1900" dirty="0"/>
          </a:p>
        </p:txBody>
      </p:sp>
      <p:sp>
        <p:nvSpPr>
          <p:cNvPr id="45" name="Text 3">
            <a:extLst>
              <a:ext uri="{FF2B5EF4-FFF2-40B4-BE49-F238E27FC236}">
                <a16:creationId xmlns:a16="http://schemas.microsoft.com/office/drawing/2014/main" id="{81F5A1EC-A18C-4152-2798-E43010F9F4DD}"/>
              </a:ext>
            </a:extLst>
          </p:cNvPr>
          <p:cNvSpPr/>
          <p:nvPr/>
        </p:nvSpPr>
        <p:spPr>
          <a:xfrm>
            <a:off x="303211" y="3484270"/>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Output thực tế</a:t>
            </a:r>
            <a:endParaRPr lang="en-US" sz="1900" dirty="0"/>
          </a:p>
        </p:txBody>
      </p:sp>
      <p:sp>
        <p:nvSpPr>
          <p:cNvPr id="47" name="Text 4">
            <a:extLst>
              <a:ext uri="{FF2B5EF4-FFF2-40B4-BE49-F238E27FC236}">
                <a16:creationId xmlns:a16="http://schemas.microsoft.com/office/drawing/2014/main" id="{345D6BE5-C236-78B7-D557-7B32AC8B01CC}"/>
              </a:ext>
            </a:extLst>
          </p:cNvPr>
          <p:cNvSpPr/>
          <p:nvPr/>
        </p:nvSpPr>
        <p:spPr>
          <a:xfrm>
            <a:off x="303211" y="1783991"/>
            <a:ext cx="5648855" cy="1158240"/>
          </a:xfrm>
          <a:prstGeom prst="rect">
            <a:avLst/>
          </a:prstGeom>
          <a:noFill/>
        </p:spPr>
        <p:txBody>
          <a:bodyPr wrap="square" lIns="0" tIns="0" rIns="0" bIns="0" rtlCol="0" anchor="t"/>
          <a:lstStyle/>
          <a:p>
            <a:pPr marL="0" indent="0" algn="l">
              <a:lnSpc>
                <a:spcPts val="2250"/>
              </a:lnSpc>
              <a:buNone/>
            </a:pPr>
            <a:r>
              <a:rPr lang="vi-VN" sz="1400" b="1"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A-YOLOM</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tập trung vào </a:t>
            </a:r>
            <a:r>
              <a:rPr lang="vi-VN" sz="1400" b="1" dirty="0">
                <a:solidFill>
                  <a:schemeClr val="accent6"/>
                </a:solidFill>
                <a:latin typeface="Montserrat" panose="00000500000000000000" pitchFamily="34" charset="0"/>
                <a:ea typeface="Montserrat" panose="00000500000000000000" pitchFamily="34" charset="-122"/>
                <a:cs typeface="Montserrat" panose="00000500000000000000" pitchFamily="34" charset="-120"/>
              </a:rPr>
              <a:t>ba yêu cầu </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quan trọng của </a:t>
            </a:r>
            <a:r>
              <a:rPr lang="vi-VN" sz="1400" b="1" dirty="0">
                <a:solidFill>
                  <a:srgbClr val="FF5353"/>
                </a:solidFill>
                <a:latin typeface="Montserrat" panose="00000500000000000000" pitchFamily="34" charset="0"/>
                <a:ea typeface="Montserrat" panose="00000500000000000000" pitchFamily="34" charset="-122"/>
                <a:cs typeface="Montserrat" panose="00000500000000000000" pitchFamily="34" charset="-120"/>
              </a:rPr>
              <a:t>hệ thống lái tự động:</a:t>
            </a:r>
          </a:p>
          <a:p>
            <a:pPr marL="0" indent="0" algn="l">
              <a:lnSpc>
                <a:spcPts val="225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Độ chính xác cao (high precision) </a:t>
            </a:r>
          </a:p>
          <a:p>
            <a:pPr marL="0" indent="0" algn="l">
              <a:lnSpc>
                <a:spcPts val="225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Mô hình nhẹ (lightweight) </a:t>
            </a:r>
          </a:p>
          <a:p>
            <a:pPr marL="0" indent="0" algn="l">
              <a:lnSpc>
                <a:spcPts val="225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Xử lý thời gian thực (real-time)</a:t>
            </a:r>
          </a:p>
        </p:txBody>
      </p:sp>
      <p:sp>
        <p:nvSpPr>
          <p:cNvPr id="49" name="Text 4">
            <a:extLst>
              <a:ext uri="{FF2B5EF4-FFF2-40B4-BE49-F238E27FC236}">
                <a16:creationId xmlns:a16="http://schemas.microsoft.com/office/drawing/2014/main" id="{FA696AEF-DA0B-2BB3-5801-645751AC3C76}"/>
              </a:ext>
            </a:extLst>
          </p:cNvPr>
          <p:cNvSpPr/>
          <p:nvPr/>
        </p:nvSpPr>
        <p:spPr>
          <a:xfrm>
            <a:off x="2072744" y="3542844"/>
            <a:ext cx="3760790" cy="1158240"/>
          </a:xfrm>
          <a:prstGeom prst="rect">
            <a:avLst/>
          </a:prstGeom>
          <a:noFill/>
        </p:spPr>
        <p:txBody>
          <a:bodyPr wrap="square" lIns="0" tIns="0" rIns="0" bIns="0" rtlCol="0" anchor="t"/>
          <a:lstStyle/>
          <a:p>
            <a:pPr marL="0" indent="0" algn="l">
              <a:lnSpc>
                <a:spcPct val="10000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Object Detection, Drivable Area Segmentation, Lane Line Segmentation</a:t>
            </a:r>
          </a:p>
        </p:txBody>
      </p:sp>
      <p:pic>
        <p:nvPicPr>
          <p:cNvPr id="51" name="Picture 50">
            <a:extLst>
              <a:ext uri="{FF2B5EF4-FFF2-40B4-BE49-F238E27FC236}">
                <a16:creationId xmlns:a16="http://schemas.microsoft.com/office/drawing/2014/main" id="{21961120-B01D-D697-B58E-B5CBAB6A1458}"/>
              </a:ext>
            </a:extLst>
          </p:cNvPr>
          <p:cNvPicPr>
            <a:picLocks noChangeAspect="1"/>
          </p:cNvPicPr>
          <p:nvPr/>
        </p:nvPicPr>
        <p:blipFill>
          <a:blip r:embed="rId6"/>
          <a:stretch>
            <a:fillRect/>
          </a:stretch>
        </p:blipFill>
        <p:spPr>
          <a:xfrm>
            <a:off x="285605" y="4394047"/>
            <a:ext cx="6436928" cy="3327744"/>
          </a:xfrm>
          <a:prstGeom prst="rect">
            <a:avLst/>
          </a:prstGeom>
        </p:spPr>
      </p:pic>
    </p:spTree>
    <p:extLst>
      <p:ext uri="{BB962C8B-B14F-4D97-AF65-F5344CB8AC3E}">
        <p14:creationId xmlns:p14="http://schemas.microsoft.com/office/powerpoint/2010/main" val="5209832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630AAC8A-69B5-2FE3-8E1D-CA83282AB8F1}"/>
              </a:ext>
            </a:extLst>
          </p:cNvPr>
          <p:cNvPicPr>
            <a:picLocks noChangeAspect="1"/>
          </p:cNvPicPr>
          <p:nvPr/>
        </p:nvPicPr>
        <p:blipFill>
          <a:blip r:embed="rId2"/>
          <a:stretch>
            <a:fillRect/>
          </a:stretch>
        </p:blipFill>
        <p:spPr>
          <a:xfrm>
            <a:off x="10013048" y="6376129"/>
            <a:ext cx="4524219" cy="1853471"/>
          </a:xfrm>
          <a:prstGeom prst="rect">
            <a:avLst/>
          </a:prstGeom>
          <a:noFill/>
        </p:spPr>
      </p:pic>
      <p:sp>
        <p:nvSpPr>
          <p:cNvPr id="53" name="Shape 2">
            <a:extLst>
              <a:ext uri="{FF2B5EF4-FFF2-40B4-BE49-F238E27FC236}">
                <a16:creationId xmlns:a16="http://schemas.microsoft.com/office/drawing/2014/main" id="{C9B4CDC1-9F46-75A1-A766-22DEBCFDEDDA}"/>
              </a:ext>
            </a:extLst>
          </p:cNvPr>
          <p:cNvSpPr/>
          <p:nvPr/>
        </p:nvSpPr>
        <p:spPr>
          <a:xfrm>
            <a:off x="6968068" y="5329331"/>
            <a:ext cx="3395132" cy="1367802"/>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51" name="Shape 2">
            <a:extLst>
              <a:ext uri="{FF2B5EF4-FFF2-40B4-BE49-F238E27FC236}">
                <a16:creationId xmlns:a16="http://schemas.microsoft.com/office/drawing/2014/main" id="{C58A94DD-B05A-6103-DABE-726DB81E1133}"/>
              </a:ext>
            </a:extLst>
          </p:cNvPr>
          <p:cNvSpPr/>
          <p:nvPr/>
        </p:nvSpPr>
        <p:spPr>
          <a:xfrm>
            <a:off x="6968067" y="1178281"/>
            <a:ext cx="7569200" cy="4072467"/>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3" name="Picture 2">
            <a:extLst>
              <a:ext uri="{FF2B5EF4-FFF2-40B4-BE49-F238E27FC236}">
                <a16:creationId xmlns:a16="http://schemas.microsoft.com/office/drawing/2014/main" id="{CB065552-85AC-4F88-BDFF-0B197E4A126D}"/>
              </a:ext>
            </a:extLst>
          </p:cNvPr>
          <p:cNvPicPr>
            <a:picLocks noChangeAspect="1"/>
          </p:cNvPicPr>
          <p:nvPr/>
        </p:nvPicPr>
        <p:blipFill>
          <a:blip r:embed="rId3"/>
          <a:stretch>
            <a:fillRect/>
          </a:stretch>
        </p:blipFill>
        <p:spPr>
          <a:xfrm>
            <a:off x="7098822" y="1352027"/>
            <a:ext cx="7316156" cy="3724973"/>
          </a:xfrm>
          <a:prstGeom prst="rect">
            <a:avLst/>
          </a:prstGeom>
        </p:spPr>
      </p:pic>
      <p:graphicFrame>
        <p:nvGraphicFramePr>
          <p:cNvPr id="31" name="Table 30">
            <a:extLst>
              <a:ext uri="{FF2B5EF4-FFF2-40B4-BE49-F238E27FC236}">
                <a16:creationId xmlns:a16="http://schemas.microsoft.com/office/drawing/2014/main" id="{31946BEC-A5FA-C2D6-DAEC-DF9AA45DC68B}"/>
              </a:ext>
            </a:extLst>
          </p:cNvPr>
          <p:cNvGraphicFramePr>
            <a:graphicFrameLocks noGrp="1"/>
          </p:cNvGraphicFramePr>
          <p:nvPr>
            <p:extLst>
              <p:ext uri="{D42A27DB-BD31-4B8C-83A1-F6EECF244321}">
                <p14:modId xmlns:p14="http://schemas.microsoft.com/office/powerpoint/2010/main" val="2303121984"/>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(1)</a:t>
                      </a:r>
                    </a:p>
                  </a:txBody>
                  <a:tcPr/>
                </a:tc>
                <a:extLst>
                  <a:ext uri="{0D108BD9-81ED-4DB2-BD59-A6C34878D82A}">
                    <a16:rowId xmlns:a16="http://schemas.microsoft.com/office/drawing/2014/main" val="10000"/>
                  </a:ext>
                </a:extLst>
              </a:tr>
            </a:tbl>
          </a:graphicData>
        </a:graphic>
      </p:graphicFrame>
      <p:pic>
        <p:nvPicPr>
          <p:cNvPr id="33" name="Picture 32">
            <a:extLst>
              <a:ext uri="{FF2B5EF4-FFF2-40B4-BE49-F238E27FC236}">
                <a16:creationId xmlns:a16="http://schemas.microsoft.com/office/drawing/2014/main" id="{18EBEAE9-095A-4350-A6B2-12762251F907}"/>
              </a:ext>
            </a:extLst>
          </p:cNvPr>
          <p:cNvPicPr/>
          <p:nvPr/>
        </p:nvPicPr>
        <p:blipFill>
          <a:blip r:embed="rId4"/>
          <a:stretch>
            <a:fillRect/>
          </a:stretch>
        </p:blipFill>
        <p:spPr>
          <a:xfrm>
            <a:off x="-118532" y="-145263"/>
            <a:ext cx="1371600" cy="1390223"/>
          </a:xfrm>
          <a:prstGeom prst="rect">
            <a:avLst/>
          </a:prstGeom>
        </p:spPr>
      </p:pic>
      <p:pic>
        <p:nvPicPr>
          <p:cNvPr id="35" name="Picture 34">
            <a:extLst>
              <a:ext uri="{FF2B5EF4-FFF2-40B4-BE49-F238E27FC236}">
                <a16:creationId xmlns:a16="http://schemas.microsoft.com/office/drawing/2014/main" id="{77803AEB-B584-7DF6-3159-26250CED5C37}"/>
              </a:ext>
            </a:extLst>
          </p:cNvPr>
          <p:cNvPicPr>
            <a:picLocks noChangeAspect="1"/>
          </p:cNvPicPr>
          <p:nvPr/>
        </p:nvPicPr>
        <p:blipFill>
          <a:blip r:embed="rId5"/>
          <a:stretch>
            <a:fillRect/>
          </a:stretch>
        </p:blipFill>
        <p:spPr>
          <a:xfrm>
            <a:off x="-118532" y="1111603"/>
            <a:ext cx="3073558" cy="133357"/>
          </a:xfrm>
          <a:prstGeom prst="rect">
            <a:avLst/>
          </a:prstGeom>
        </p:spPr>
      </p:pic>
      <p:sp>
        <p:nvSpPr>
          <p:cNvPr id="39" name="Shape 2">
            <a:extLst>
              <a:ext uri="{FF2B5EF4-FFF2-40B4-BE49-F238E27FC236}">
                <a16:creationId xmlns:a16="http://schemas.microsoft.com/office/drawing/2014/main" id="{F5D0CF87-6B25-C503-53AA-F0403E50E791}"/>
              </a:ext>
            </a:extLst>
          </p:cNvPr>
          <p:cNvSpPr/>
          <p:nvPr/>
        </p:nvSpPr>
        <p:spPr>
          <a:xfrm>
            <a:off x="215422" y="1464734"/>
            <a:ext cx="6599258" cy="5782734"/>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41" name="Text 3">
            <a:extLst>
              <a:ext uri="{FF2B5EF4-FFF2-40B4-BE49-F238E27FC236}">
                <a16:creationId xmlns:a16="http://schemas.microsoft.com/office/drawing/2014/main" id="{12AE9374-CBDA-41E5-0649-C928AA8ECBCE}"/>
              </a:ext>
            </a:extLst>
          </p:cNvPr>
          <p:cNvSpPr/>
          <p:nvPr/>
        </p:nvSpPr>
        <p:spPr>
          <a:xfrm>
            <a:off x="471277" y="1681349"/>
            <a:ext cx="4755816"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highlight>
                  <a:srgbClr val="00FFFF"/>
                </a:highlight>
                <a:latin typeface="Barlow Bold" panose="00000800000000000000" pitchFamily="34" charset="0"/>
                <a:ea typeface="Barlow Bold" panose="00000800000000000000" pitchFamily="34" charset="-122"/>
                <a:cs typeface="Barlow Bold" panose="00000800000000000000" pitchFamily="34" charset="-120"/>
              </a:rPr>
              <a:t>Backbone – trích xuất đặc trưng chung</a:t>
            </a:r>
            <a:endParaRPr lang="en-US" sz="1900" dirty="0">
              <a:highlight>
                <a:srgbClr val="00FFFF"/>
              </a:highlight>
            </a:endParaRPr>
          </a:p>
        </p:txBody>
      </p:sp>
      <p:sp>
        <p:nvSpPr>
          <p:cNvPr id="43" name="Text 3">
            <a:extLst>
              <a:ext uri="{FF2B5EF4-FFF2-40B4-BE49-F238E27FC236}">
                <a16:creationId xmlns:a16="http://schemas.microsoft.com/office/drawing/2014/main" id="{3D2E1EB5-6D53-5F6A-8F8D-A96A06969F24}"/>
              </a:ext>
            </a:extLst>
          </p:cNvPr>
          <p:cNvSpPr/>
          <p:nvPr/>
        </p:nvSpPr>
        <p:spPr>
          <a:xfrm>
            <a:off x="471277" y="3904647"/>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highlight>
                  <a:srgbClr val="00FFFF"/>
                </a:highlight>
                <a:latin typeface="Barlow Bold" panose="00000800000000000000" pitchFamily="34" charset="0"/>
                <a:ea typeface="Barlow Bold" panose="00000800000000000000" pitchFamily="34" charset="-122"/>
                <a:cs typeface="Barlow Bold" panose="00000800000000000000" pitchFamily="34" charset="-120"/>
              </a:rPr>
              <a:t>Detect Neck</a:t>
            </a:r>
            <a:endParaRPr lang="en-US" sz="1900" dirty="0">
              <a:highlight>
                <a:srgbClr val="00FFFF"/>
              </a:highlight>
            </a:endParaRPr>
          </a:p>
        </p:txBody>
      </p:sp>
      <p:sp>
        <p:nvSpPr>
          <p:cNvPr id="45" name="Text 4">
            <a:extLst>
              <a:ext uri="{FF2B5EF4-FFF2-40B4-BE49-F238E27FC236}">
                <a16:creationId xmlns:a16="http://schemas.microsoft.com/office/drawing/2014/main" id="{428E227A-58A0-D169-E805-B7BF3163921C}"/>
              </a:ext>
            </a:extLst>
          </p:cNvPr>
          <p:cNvSpPr/>
          <p:nvPr/>
        </p:nvSpPr>
        <p:spPr>
          <a:xfrm>
            <a:off x="471276" y="1997115"/>
            <a:ext cx="5648855" cy="1158240"/>
          </a:xfrm>
          <a:prstGeom prst="rect">
            <a:avLst/>
          </a:prstGeom>
          <a:noFill/>
        </p:spPr>
        <p:txBody>
          <a:bodyPr wrap="square" lIns="0" tIns="0" rIns="0" bIns="0" rtlCol="0" anchor="t"/>
          <a:lstStyle/>
          <a:p>
            <a:pPr marL="0" indent="0" algn="l">
              <a:buNone/>
            </a:pPr>
            <a:r>
              <a:rPr lang="vi-VN" sz="1400" b="1"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Nhiệm vụ </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nhận ảnh đầu vào</a:t>
            </a:r>
          </a:p>
          <a:p>
            <a:pPr marL="0" indent="0" algn="l">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trích xuất </a:t>
            </a:r>
            <a:r>
              <a:rPr lang="vi-VN" sz="1400" b="1"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feature</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ở nhiều mức; </a:t>
            </a:r>
          </a:p>
          <a:p>
            <a:pPr marL="0" indent="0" algn="l">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các </a:t>
            </a:r>
            <a:r>
              <a:rPr lang="vi-VN" sz="1400" b="1"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feature</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này được dùng chung cho cả: </a:t>
            </a:r>
          </a:p>
          <a:p>
            <a:pPr marL="0" indent="0" algn="l">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Object Detection, Drivable Area Segmentation, Lane Line Segmentation.</a:t>
            </a:r>
            <a:b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br>
            <a:r>
              <a:rPr lang="vi-VN" sz="1400" dirty="0">
                <a:solidFill>
                  <a:schemeClr val="accent6"/>
                </a:solidFill>
                <a:latin typeface="Montserrat" panose="00000500000000000000" pitchFamily="34" charset="0"/>
                <a:ea typeface="Montserrat" panose="00000500000000000000" pitchFamily="34" charset="-122"/>
                <a:cs typeface="Montserrat" panose="00000500000000000000" pitchFamily="34" charset="-120"/>
              </a:rPr>
              <a:t>Backbone dùng chung để trích xuất đặc trưng đa mức từ ảnh đầu vào, giúp giảm việc tính toán lặp lại giữa các nhiệm vụ.</a:t>
            </a:r>
          </a:p>
        </p:txBody>
      </p:sp>
      <p:sp>
        <p:nvSpPr>
          <p:cNvPr id="47" name="Text 4">
            <a:extLst>
              <a:ext uri="{FF2B5EF4-FFF2-40B4-BE49-F238E27FC236}">
                <a16:creationId xmlns:a16="http://schemas.microsoft.com/office/drawing/2014/main" id="{9A954380-AA7A-891E-35A3-20623294F8CF}"/>
              </a:ext>
            </a:extLst>
          </p:cNvPr>
          <p:cNvSpPr/>
          <p:nvPr/>
        </p:nvSpPr>
        <p:spPr>
          <a:xfrm>
            <a:off x="471277" y="4257794"/>
            <a:ext cx="6242790" cy="1158240"/>
          </a:xfrm>
          <a:prstGeom prst="rect">
            <a:avLst/>
          </a:prstGeom>
          <a:noFill/>
        </p:spPr>
        <p:txBody>
          <a:bodyPr wrap="square" lIns="0" tIns="0" rIns="0" bIns="0" rtlCol="0" anchor="t"/>
          <a:lstStyle/>
          <a:p>
            <a:pPr marL="0" indent="0" algn="l">
              <a:lnSpc>
                <a:spcPct val="10000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lấy feature từ nhiều mức của Backbone, sau đó dùng:</a:t>
            </a:r>
          </a:p>
          <a:p>
            <a:pPr marL="0" indent="0" algn="l">
              <a:lnSpc>
                <a:spcPct val="10000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a:t>
            </a:r>
            <a:r>
              <a:rPr lang="vi-VN" sz="1400" b="1" dirty="0">
                <a:solidFill>
                  <a:srgbClr val="FF4F4F"/>
                </a:solidFill>
                <a:latin typeface="Montserrat" panose="00000500000000000000" pitchFamily="34" charset="0"/>
                <a:ea typeface="Montserrat" panose="00000500000000000000" pitchFamily="34" charset="-122"/>
                <a:cs typeface="Montserrat" panose="00000500000000000000" pitchFamily="34" charset="-120"/>
              </a:rPr>
              <a:t>US</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Upsampling: tăng kích thước feature map; </a:t>
            </a:r>
          </a:p>
          <a:p>
            <a:pPr marL="0" indent="0" algn="l">
              <a:lnSpc>
                <a:spcPct val="10000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a:t>
            </a:r>
            <a:r>
              <a:rPr lang="vi-VN" sz="1400" b="1" dirty="0">
                <a:solidFill>
                  <a:srgbClr val="FF4F4F"/>
                </a:solidFill>
                <a:latin typeface="Montserrat" panose="00000500000000000000" pitchFamily="34" charset="0"/>
                <a:ea typeface="Montserrat" panose="00000500000000000000" pitchFamily="34" charset="-122"/>
                <a:cs typeface="Montserrat" panose="00000500000000000000" pitchFamily="34" charset="-120"/>
              </a:rPr>
              <a:t>C</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Concatenate: nối các feature từ nhiều tầng; </a:t>
            </a:r>
          </a:p>
          <a:p>
            <a:pPr marL="0" indent="0" algn="l">
              <a:lnSpc>
                <a:spcPct val="10000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a:t>
            </a:r>
            <a:r>
              <a:rPr lang="vi-VN" sz="1400" b="1" dirty="0">
                <a:solidFill>
                  <a:srgbClr val="FF4F4F"/>
                </a:solidFill>
                <a:latin typeface="Montserrat" panose="00000500000000000000" pitchFamily="34" charset="0"/>
                <a:ea typeface="Montserrat" panose="00000500000000000000" pitchFamily="34" charset="-122"/>
                <a:cs typeface="Montserrat" panose="00000500000000000000" pitchFamily="34" charset="-120"/>
              </a:rPr>
              <a:t>C2f</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xử lý và tinh chỉnh feature; </a:t>
            </a:r>
          </a:p>
          <a:p>
            <a:pPr marL="0" indent="0" algn="l">
              <a:lnSpc>
                <a:spcPct val="100000"/>
              </a:lnSpc>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a:t>
            </a:r>
            <a:r>
              <a:rPr lang="vi-VN" sz="1400" b="1" dirty="0">
                <a:solidFill>
                  <a:srgbClr val="FF4F4F"/>
                </a:solidFill>
                <a:latin typeface="Montserrat" panose="00000500000000000000" pitchFamily="34" charset="0"/>
                <a:ea typeface="Montserrat" panose="00000500000000000000" pitchFamily="34" charset="-122"/>
                <a:cs typeface="Montserrat" panose="00000500000000000000" pitchFamily="34" charset="-120"/>
              </a:rPr>
              <a:t>CBS</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Convolution + Batch Normalization + SiLU.</a:t>
            </a:r>
            <a:b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br>
            <a:b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br>
            <a:r>
              <a:rPr lang="vi-VN" sz="1400" b="1"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Feature nông (shallow feature</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 đặc trưng lấy ở những tầng gần ảnh đầu vào. Nó còn giữ nhiều thông tin về vị trí, cạnh, đường viền, chi tiết nhỏ.  ( VD cạnh xe nằm ?, kích thước ?)</a:t>
            </a:r>
          </a:p>
          <a:p>
            <a:pPr marL="0" indent="0" algn="l">
              <a:lnSpc>
                <a:spcPct val="100000"/>
              </a:lnSpc>
              <a:buNone/>
            </a:pPr>
            <a:r>
              <a:rPr lang="vi-VN" sz="1400" b="1"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Feature sâu (deep feature) </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đặc trưng lấy ở những tầng sâu hơn của backbone. Nó đã qua nhiều lớp xử lý nên hiểu tốt hơn “đây là xe”, “đây là đường”, “đây là lane”, nhưng thông tin vị trí chi tiết có thể bị giảm đi. (VD là xe?)</a:t>
            </a:r>
          </a:p>
          <a:p>
            <a:pPr marL="0" indent="0" algn="l">
              <a:lnSpc>
                <a:spcPct val="100000"/>
              </a:lnSpc>
              <a:buNone/>
            </a:pPr>
            <a:endPar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endParaRPr>
          </a:p>
        </p:txBody>
      </p:sp>
      <p:sp>
        <p:nvSpPr>
          <p:cNvPr id="55" name="Text 3">
            <a:extLst>
              <a:ext uri="{FF2B5EF4-FFF2-40B4-BE49-F238E27FC236}">
                <a16:creationId xmlns:a16="http://schemas.microsoft.com/office/drawing/2014/main" id="{C24450F5-E3F9-E9B3-23C4-8512AC257EA6}"/>
              </a:ext>
            </a:extLst>
          </p:cNvPr>
          <p:cNvSpPr/>
          <p:nvPr/>
        </p:nvSpPr>
        <p:spPr>
          <a:xfrm>
            <a:off x="7159944" y="5530247"/>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highlight>
                  <a:srgbClr val="00FFFF"/>
                </a:highlight>
                <a:latin typeface="Barlow Bold" panose="00000800000000000000" pitchFamily="34" charset="0"/>
                <a:ea typeface="Barlow Bold" panose="00000800000000000000" pitchFamily="34" charset="-122"/>
                <a:cs typeface="Barlow Bold" panose="00000800000000000000" pitchFamily="34" charset="-120"/>
              </a:rPr>
              <a:t>Detect Head</a:t>
            </a:r>
            <a:endParaRPr lang="en-US" sz="1900" dirty="0">
              <a:highlight>
                <a:srgbClr val="00FFFF"/>
              </a:highlight>
            </a:endParaRPr>
          </a:p>
        </p:txBody>
      </p:sp>
      <p:sp>
        <p:nvSpPr>
          <p:cNvPr id="59" name="Text 4">
            <a:extLst>
              <a:ext uri="{FF2B5EF4-FFF2-40B4-BE49-F238E27FC236}">
                <a16:creationId xmlns:a16="http://schemas.microsoft.com/office/drawing/2014/main" id="{B7F1F544-3B48-404F-0147-72EC3F0CD529}"/>
              </a:ext>
            </a:extLst>
          </p:cNvPr>
          <p:cNvSpPr/>
          <p:nvPr/>
        </p:nvSpPr>
        <p:spPr>
          <a:xfrm>
            <a:off x="7188619" y="5964597"/>
            <a:ext cx="7348649" cy="1158240"/>
          </a:xfrm>
          <a:prstGeom prst="rect">
            <a:avLst/>
          </a:prstGeom>
          <a:noFill/>
        </p:spPr>
        <p:txBody>
          <a:bodyPr wrap="square" lIns="0" tIns="0" rIns="0" bIns="0" rtlCol="0" anchor="t"/>
          <a:lstStyle/>
          <a:p>
            <a:r>
              <a:rPr lang="vi-VN" sz="1400" b="1" dirty="0">
                <a:solidFill>
                  <a:srgbClr val="FF4F4F"/>
                </a:solidFill>
                <a:latin typeface="Montserrat" panose="00000500000000000000" pitchFamily="34" charset="0"/>
                <a:ea typeface="Montserrat" panose="00000500000000000000" pitchFamily="34" charset="-122"/>
                <a:cs typeface="Montserrat" panose="00000500000000000000" pitchFamily="34" charset="-120"/>
              </a:rPr>
              <a:t>Bbox</a:t>
            </a:r>
            <a:r>
              <a:rPr lang="vi-VN" sz="1400" b="1"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vị trí của phương tiện.</a:t>
            </a:r>
            <a:br>
              <a:rPr lang="vi-VN" sz="1400" dirty="0">
                <a:solidFill>
                  <a:schemeClr val="accent6"/>
                </a:solidFill>
                <a:latin typeface="Montserrat" panose="00000500000000000000" pitchFamily="34" charset="0"/>
                <a:ea typeface="Montserrat" panose="00000500000000000000" pitchFamily="34" charset="-122"/>
                <a:cs typeface="Montserrat" panose="00000500000000000000" pitchFamily="34" charset="-120"/>
              </a:rPr>
            </a:br>
            <a:r>
              <a:rPr lang="vi-VN" sz="1400" b="1" dirty="0">
                <a:solidFill>
                  <a:srgbClr val="FF4F4F"/>
                </a:solidFill>
                <a:latin typeface="Montserrat" panose="00000500000000000000" pitchFamily="34" charset="0"/>
                <a:ea typeface="Montserrat" panose="00000500000000000000" pitchFamily="34" charset="-122"/>
                <a:cs typeface="Montserrat" panose="00000500000000000000" pitchFamily="34" charset="-120"/>
              </a:rPr>
              <a:t>Cls</a:t>
            </a:r>
            <a:r>
              <a:rPr lang="vi-VN" sz="1400" b="1"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loại đối tượng</a:t>
            </a:r>
            <a:endParaRPr lang="vi-VN" sz="1400" dirty="0">
              <a:solidFill>
                <a:schemeClr val="accent6"/>
              </a:solidFill>
              <a:latin typeface="Montserrat" panose="00000500000000000000" pitchFamily="34" charset="0"/>
              <a:ea typeface="Montserrat" panose="00000500000000000000" pitchFamily="34" charset="-122"/>
              <a:cs typeface="Montserrat" panose="00000500000000000000" pitchFamily="34" charset="-120"/>
            </a:endParaRPr>
          </a:p>
        </p:txBody>
      </p:sp>
    </p:spTree>
    <p:extLst>
      <p:ext uri="{BB962C8B-B14F-4D97-AF65-F5344CB8AC3E}">
        <p14:creationId xmlns:p14="http://schemas.microsoft.com/office/powerpoint/2010/main" val="310985040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9FDC72F1-CA87-448D-3A34-BBD456C8E458}"/>
              </a:ext>
            </a:extLst>
          </p:cNvPr>
          <p:cNvSpPr/>
          <p:nvPr/>
        </p:nvSpPr>
        <p:spPr>
          <a:xfrm>
            <a:off x="6968067" y="1178281"/>
            <a:ext cx="7569200" cy="4072467"/>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5" name="Picture 4">
            <a:extLst>
              <a:ext uri="{FF2B5EF4-FFF2-40B4-BE49-F238E27FC236}">
                <a16:creationId xmlns:a16="http://schemas.microsoft.com/office/drawing/2014/main" id="{15F854DF-F68D-EADA-09E3-527C186A628D}"/>
              </a:ext>
            </a:extLst>
          </p:cNvPr>
          <p:cNvPicPr>
            <a:picLocks noChangeAspect="1"/>
          </p:cNvPicPr>
          <p:nvPr/>
        </p:nvPicPr>
        <p:blipFill>
          <a:blip r:embed="rId2"/>
          <a:stretch>
            <a:fillRect/>
          </a:stretch>
        </p:blipFill>
        <p:spPr>
          <a:xfrm>
            <a:off x="7098822" y="1352027"/>
            <a:ext cx="7316156" cy="3724973"/>
          </a:xfrm>
          <a:prstGeom prst="rect">
            <a:avLst/>
          </a:prstGeom>
        </p:spPr>
      </p:pic>
      <p:pic>
        <p:nvPicPr>
          <p:cNvPr id="7" name="Picture 6">
            <a:extLst>
              <a:ext uri="{FF2B5EF4-FFF2-40B4-BE49-F238E27FC236}">
                <a16:creationId xmlns:a16="http://schemas.microsoft.com/office/drawing/2014/main" id="{74ABDF17-BFC3-3E39-3095-66AF931E8E1B}"/>
              </a:ext>
            </a:extLst>
          </p:cNvPr>
          <p:cNvPicPr>
            <a:picLocks noChangeAspect="1"/>
          </p:cNvPicPr>
          <p:nvPr/>
        </p:nvPicPr>
        <p:blipFill>
          <a:blip r:embed="rId3"/>
          <a:stretch>
            <a:fillRect/>
          </a:stretch>
        </p:blipFill>
        <p:spPr>
          <a:xfrm>
            <a:off x="10013048" y="6376129"/>
            <a:ext cx="4524219" cy="1853471"/>
          </a:xfrm>
          <a:prstGeom prst="rect">
            <a:avLst/>
          </a:prstGeom>
          <a:noFill/>
        </p:spPr>
      </p:pic>
      <p:graphicFrame>
        <p:nvGraphicFramePr>
          <p:cNvPr id="9" name="Table 8">
            <a:extLst>
              <a:ext uri="{FF2B5EF4-FFF2-40B4-BE49-F238E27FC236}">
                <a16:creationId xmlns:a16="http://schemas.microsoft.com/office/drawing/2014/main" id="{639F71FA-B76B-C802-2292-2F1B1E0681D8}"/>
              </a:ext>
            </a:extLst>
          </p:cNvPr>
          <p:cNvGraphicFramePr>
            <a:graphicFrameLocks noGrp="1"/>
          </p:cNvGraphicFramePr>
          <p:nvPr>
            <p:extLst>
              <p:ext uri="{D42A27DB-BD31-4B8C-83A1-F6EECF244321}">
                <p14:modId xmlns:p14="http://schemas.microsoft.com/office/powerpoint/2010/main" val="1121799679"/>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(1)</a:t>
                      </a:r>
                    </a:p>
                  </a:txBody>
                  <a:tcPr/>
                </a:tc>
                <a:extLst>
                  <a:ext uri="{0D108BD9-81ED-4DB2-BD59-A6C34878D82A}">
                    <a16:rowId xmlns:a16="http://schemas.microsoft.com/office/drawing/2014/main" val="10000"/>
                  </a:ext>
                </a:extLst>
              </a:tr>
            </a:tbl>
          </a:graphicData>
        </a:graphic>
      </p:graphicFrame>
      <p:pic>
        <p:nvPicPr>
          <p:cNvPr id="11" name="Picture 10">
            <a:extLst>
              <a:ext uri="{FF2B5EF4-FFF2-40B4-BE49-F238E27FC236}">
                <a16:creationId xmlns:a16="http://schemas.microsoft.com/office/drawing/2014/main" id="{36655BFC-E33E-E73D-DDF4-8E29DFC4923E}"/>
              </a:ext>
            </a:extLst>
          </p:cNvPr>
          <p:cNvPicPr/>
          <p:nvPr/>
        </p:nvPicPr>
        <p:blipFill>
          <a:blip r:embed="rId4"/>
          <a:stretch>
            <a:fillRect/>
          </a:stretch>
        </p:blipFill>
        <p:spPr>
          <a:xfrm>
            <a:off x="-118532" y="-145263"/>
            <a:ext cx="1371600" cy="1390223"/>
          </a:xfrm>
          <a:prstGeom prst="rect">
            <a:avLst/>
          </a:prstGeom>
        </p:spPr>
      </p:pic>
      <p:pic>
        <p:nvPicPr>
          <p:cNvPr id="13" name="Picture 12">
            <a:extLst>
              <a:ext uri="{FF2B5EF4-FFF2-40B4-BE49-F238E27FC236}">
                <a16:creationId xmlns:a16="http://schemas.microsoft.com/office/drawing/2014/main" id="{316D3CBF-09D1-AC35-E457-776C536AF3F0}"/>
              </a:ext>
            </a:extLst>
          </p:cNvPr>
          <p:cNvPicPr>
            <a:picLocks noChangeAspect="1"/>
          </p:cNvPicPr>
          <p:nvPr/>
        </p:nvPicPr>
        <p:blipFill>
          <a:blip r:embed="rId5"/>
          <a:stretch>
            <a:fillRect/>
          </a:stretch>
        </p:blipFill>
        <p:spPr>
          <a:xfrm>
            <a:off x="-118532" y="1111603"/>
            <a:ext cx="3073558" cy="133357"/>
          </a:xfrm>
          <a:prstGeom prst="rect">
            <a:avLst/>
          </a:prstGeom>
        </p:spPr>
      </p:pic>
      <p:sp>
        <p:nvSpPr>
          <p:cNvPr id="15" name="Shape 2">
            <a:extLst>
              <a:ext uri="{FF2B5EF4-FFF2-40B4-BE49-F238E27FC236}">
                <a16:creationId xmlns:a16="http://schemas.microsoft.com/office/drawing/2014/main" id="{5BAA7CFB-46C8-D872-0606-6CA48993F89A}"/>
              </a:ext>
            </a:extLst>
          </p:cNvPr>
          <p:cNvSpPr/>
          <p:nvPr/>
        </p:nvSpPr>
        <p:spPr>
          <a:xfrm>
            <a:off x="215422" y="1390224"/>
            <a:ext cx="6599258" cy="2724576"/>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17" name="Text 3">
            <a:extLst>
              <a:ext uri="{FF2B5EF4-FFF2-40B4-BE49-F238E27FC236}">
                <a16:creationId xmlns:a16="http://schemas.microsoft.com/office/drawing/2014/main" id="{90D3A312-C5FF-B376-ADB6-2DE15E43A2AE}"/>
              </a:ext>
            </a:extLst>
          </p:cNvPr>
          <p:cNvSpPr/>
          <p:nvPr/>
        </p:nvSpPr>
        <p:spPr>
          <a:xfrm>
            <a:off x="471277" y="1681349"/>
            <a:ext cx="4295456" cy="604361"/>
          </a:xfrm>
          <a:prstGeom prst="rect">
            <a:avLst/>
          </a:prstGeom>
          <a:noFill/>
        </p:spPr>
        <p:txBody>
          <a:bodyPr wrap="square" lIns="0" tIns="0" rIns="0" bIns="0" rtlCol="0" anchor="t"/>
          <a:lstStyle/>
          <a:p>
            <a:pPr marL="0" indent="0" algn="l">
              <a:lnSpc>
                <a:spcPct val="100000"/>
              </a:lnSpc>
              <a:buNone/>
            </a:pPr>
            <a:r>
              <a:rPr lang="vi-VN" sz="1900" b="1" dirty="0">
                <a:solidFill>
                  <a:srgbClr val="384653"/>
                </a:solidFill>
                <a:highlight>
                  <a:srgbClr val="00FFFF"/>
                </a:highlight>
                <a:latin typeface="Barlow Bold" panose="00000800000000000000" pitchFamily="34" charset="0"/>
                <a:ea typeface="Barlow Bold" panose="00000800000000000000" pitchFamily="34" charset="-122"/>
                <a:cs typeface="Barlow Bold" panose="00000800000000000000" pitchFamily="34" charset="-120"/>
              </a:rPr>
              <a:t>Segment Neck × N </a:t>
            </a:r>
            <a:endParaRPr lang="en-US" sz="1900" dirty="0">
              <a:highlight>
                <a:srgbClr val="00FFFF"/>
              </a:highlight>
            </a:endParaRPr>
          </a:p>
        </p:txBody>
      </p:sp>
      <p:sp>
        <p:nvSpPr>
          <p:cNvPr id="21" name="Text 4">
            <a:extLst>
              <a:ext uri="{FF2B5EF4-FFF2-40B4-BE49-F238E27FC236}">
                <a16:creationId xmlns:a16="http://schemas.microsoft.com/office/drawing/2014/main" id="{14D71AB1-BE6C-9E28-1B0B-959DC55A9E19}"/>
              </a:ext>
            </a:extLst>
          </p:cNvPr>
          <p:cNvSpPr/>
          <p:nvPr/>
        </p:nvSpPr>
        <p:spPr>
          <a:xfrm>
            <a:off x="717062" y="2056273"/>
            <a:ext cx="5648855" cy="1158240"/>
          </a:xfrm>
          <a:prstGeom prst="rect">
            <a:avLst/>
          </a:prstGeom>
          <a:noFill/>
        </p:spPr>
        <p:txBody>
          <a:bodyPr wrap="square" lIns="0" tIns="0" rIns="0" bIns="0" rtlCol="0" anchor="t"/>
          <a:lstStyle/>
          <a:p>
            <a:pPr marL="0" indent="0" algn="l">
              <a:buNone/>
            </a:pPr>
            <a:r>
              <a:rPr lang="vi-VN" sz="1400" b="1" dirty="0">
                <a:solidFill>
                  <a:srgbClr val="FF4F4F"/>
                </a:solidFill>
                <a:latin typeface="Montserrat" panose="00000500000000000000" pitchFamily="34" charset="0"/>
                <a:ea typeface="Montserrat" panose="00000500000000000000" pitchFamily="34" charset="-122"/>
                <a:cs typeface="Montserrat" panose="00000500000000000000" pitchFamily="34" charset="-120"/>
              </a:rPr>
              <a:t>× N </a:t>
            </a:r>
            <a:r>
              <a:rPr lang="vi-VN" sz="1400" dirty="0">
                <a:latin typeface="Montserrat" panose="00000500000000000000" pitchFamily="34" charset="0"/>
                <a:ea typeface="Montserrat" panose="00000500000000000000" pitchFamily="34" charset="-122"/>
                <a:cs typeface="Montserrat" panose="00000500000000000000" pitchFamily="34" charset="-120"/>
              </a:rPr>
              <a:t>có nghĩa là kiến trúc segmentation có thể được </a:t>
            </a:r>
            <a:r>
              <a:rPr lang="vi-VN" sz="1400" b="1" dirty="0">
                <a:solidFill>
                  <a:srgbClr val="FF4F4F"/>
                </a:solidFill>
                <a:latin typeface="Montserrat" panose="00000500000000000000" pitchFamily="34" charset="0"/>
                <a:ea typeface="Montserrat" panose="00000500000000000000" pitchFamily="34" charset="-122"/>
                <a:cs typeface="Montserrat" panose="00000500000000000000" pitchFamily="34" charset="-120"/>
              </a:rPr>
              <a:t>lặp lại cho nhiều segmentation task.</a:t>
            </a:r>
          </a:p>
          <a:p>
            <a:pPr marL="0" indent="0" algn="l">
              <a:buNone/>
            </a:pP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Trong bài toán hiện tại:</a:t>
            </a:r>
          </a:p>
          <a:p>
            <a:pPr marL="0" indent="0" algn="l">
              <a:buNone/>
            </a:pPr>
            <a:r>
              <a:rPr lang="vi-VN" sz="1400" dirty="0">
                <a:latin typeface="Montserrat" panose="00000500000000000000" pitchFamily="34" charset="0"/>
                <a:ea typeface="Montserrat" panose="00000500000000000000" pitchFamily="34" charset="-122"/>
                <a:cs typeface="Montserrat" panose="00000500000000000000" pitchFamily="34" charset="-120"/>
              </a:rPr>
              <a:t>một branch → </a:t>
            </a:r>
            <a:r>
              <a:rPr lang="vi-VN" sz="1400" dirty="0">
                <a:solidFill>
                  <a:schemeClr val="accent6"/>
                </a:solidFill>
                <a:latin typeface="Montserrat" panose="00000500000000000000" pitchFamily="34" charset="0"/>
                <a:ea typeface="Montserrat" panose="00000500000000000000" pitchFamily="34" charset="-122"/>
                <a:cs typeface="Montserrat" panose="00000500000000000000" pitchFamily="34" charset="-120"/>
              </a:rPr>
              <a:t>Drivable Area </a:t>
            </a:r>
          </a:p>
          <a:p>
            <a:pPr marL="0" indent="0" algn="l">
              <a:buNone/>
            </a:pPr>
            <a:r>
              <a:rPr lang="vi-VN" sz="1400" dirty="0">
                <a:latin typeface="Montserrat" panose="00000500000000000000" pitchFamily="34" charset="0"/>
                <a:ea typeface="Montserrat" panose="00000500000000000000" pitchFamily="34" charset="-122"/>
                <a:cs typeface="Montserrat" panose="00000500000000000000" pitchFamily="34" charset="-120"/>
              </a:rPr>
              <a:t>một branch </a:t>
            </a:r>
            <a:r>
              <a:rPr lang="vi-VN" sz="1400" dirty="0">
                <a:solidFill>
                  <a:srgbClr val="384653"/>
                </a:solidFill>
                <a:latin typeface="Montserrat" panose="00000500000000000000" pitchFamily="34" charset="0"/>
                <a:ea typeface="Montserrat" panose="00000500000000000000" pitchFamily="34" charset="-122"/>
                <a:cs typeface="Montserrat" panose="00000500000000000000" pitchFamily="34" charset="-120"/>
              </a:rPr>
              <a:t>→ </a:t>
            </a:r>
            <a:r>
              <a:rPr lang="vi-VN" sz="1400" dirty="0">
                <a:solidFill>
                  <a:schemeClr val="accent6"/>
                </a:solidFill>
                <a:latin typeface="Montserrat" panose="00000500000000000000" pitchFamily="34" charset="0"/>
                <a:ea typeface="Montserrat" panose="00000500000000000000" pitchFamily="34" charset="-122"/>
                <a:cs typeface="Montserrat" panose="00000500000000000000" pitchFamily="34" charset="-120"/>
              </a:rPr>
              <a:t>Lane Line</a:t>
            </a:r>
            <a:br>
              <a:rPr lang="vi-VN" sz="1400" dirty="0">
                <a:solidFill>
                  <a:schemeClr val="accent6"/>
                </a:solidFill>
                <a:latin typeface="Montserrat" panose="00000500000000000000" pitchFamily="34" charset="0"/>
                <a:ea typeface="Montserrat" panose="00000500000000000000" pitchFamily="34" charset="-122"/>
                <a:cs typeface="Montserrat" panose="00000500000000000000" pitchFamily="34" charset="-120"/>
              </a:rPr>
            </a:br>
            <a:br>
              <a:rPr lang="vi-VN" sz="1400" dirty="0">
                <a:solidFill>
                  <a:schemeClr val="accent6"/>
                </a:solidFill>
                <a:latin typeface="Montserrat" panose="00000500000000000000" pitchFamily="34" charset="0"/>
                <a:ea typeface="Montserrat" panose="00000500000000000000" pitchFamily="34" charset="-122"/>
                <a:cs typeface="Montserrat" panose="00000500000000000000" pitchFamily="34" charset="-120"/>
              </a:rPr>
            </a:br>
            <a:r>
              <a:rPr lang="vi-VN" sz="1400" b="1" dirty="0">
                <a:latin typeface="Montserrat" panose="00000500000000000000" pitchFamily="34" charset="0"/>
                <a:ea typeface="Montserrat" panose="00000500000000000000" pitchFamily="34" charset="-122"/>
                <a:cs typeface="Montserrat" panose="00000500000000000000" pitchFamily="34" charset="-120"/>
              </a:rPr>
              <a:t>A-YOLOM có tính generic multi-task: nếu sau này muốn thêm một segmentation task khác, về nguyên tắc có thể bổ sung một branch tương tự.</a:t>
            </a:r>
          </a:p>
        </p:txBody>
      </p:sp>
      <p:sp>
        <p:nvSpPr>
          <p:cNvPr id="25" name="Shape 2">
            <a:extLst>
              <a:ext uri="{FF2B5EF4-FFF2-40B4-BE49-F238E27FC236}">
                <a16:creationId xmlns:a16="http://schemas.microsoft.com/office/drawing/2014/main" id="{308864D4-65DA-55E1-FD6A-BB29E05857B6}"/>
              </a:ext>
            </a:extLst>
          </p:cNvPr>
          <p:cNvSpPr/>
          <p:nvPr/>
        </p:nvSpPr>
        <p:spPr>
          <a:xfrm>
            <a:off x="215422" y="4260064"/>
            <a:ext cx="6599258" cy="2724576"/>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27" name="Text 3">
            <a:extLst>
              <a:ext uri="{FF2B5EF4-FFF2-40B4-BE49-F238E27FC236}">
                <a16:creationId xmlns:a16="http://schemas.microsoft.com/office/drawing/2014/main" id="{3A52289B-79B9-A5C7-40B5-98791D185DB4}"/>
              </a:ext>
            </a:extLst>
          </p:cNvPr>
          <p:cNvSpPr/>
          <p:nvPr/>
        </p:nvSpPr>
        <p:spPr>
          <a:xfrm>
            <a:off x="471277" y="4472639"/>
            <a:ext cx="4295456" cy="604361"/>
          </a:xfrm>
          <a:prstGeom prst="rect">
            <a:avLst/>
          </a:prstGeom>
          <a:noFill/>
        </p:spPr>
        <p:txBody>
          <a:bodyPr wrap="square" lIns="0" tIns="0" rIns="0" bIns="0" rtlCol="0" anchor="t"/>
          <a:lstStyle/>
          <a:p>
            <a:pPr marL="0" indent="0" algn="l">
              <a:lnSpc>
                <a:spcPct val="100000"/>
              </a:lnSpc>
              <a:buNone/>
            </a:pPr>
            <a:r>
              <a:rPr lang="vi-VN" sz="1900" b="1" dirty="0">
                <a:solidFill>
                  <a:srgbClr val="384653"/>
                </a:solidFill>
                <a:highlight>
                  <a:srgbClr val="00FFFF"/>
                </a:highlight>
                <a:latin typeface="Barlow Bold" panose="00000800000000000000" pitchFamily="34" charset="0"/>
                <a:ea typeface="Barlow Bold" panose="00000800000000000000" pitchFamily="34" charset="-122"/>
                <a:cs typeface="Barlow Bold" panose="00000800000000000000" pitchFamily="34" charset="-120"/>
              </a:rPr>
              <a:t>AC – Adaptive Concatenate</a:t>
            </a:r>
            <a:endParaRPr lang="en-US" sz="1900" dirty="0">
              <a:highlight>
                <a:srgbClr val="00FFFF"/>
              </a:highlight>
            </a:endParaRPr>
          </a:p>
        </p:txBody>
      </p:sp>
      <p:sp>
        <p:nvSpPr>
          <p:cNvPr id="29" name="Text 4">
            <a:extLst>
              <a:ext uri="{FF2B5EF4-FFF2-40B4-BE49-F238E27FC236}">
                <a16:creationId xmlns:a16="http://schemas.microsoft.com/office/drawing/2014/main" id="{B48C4887-B00A-2760-50BA-6D9E1AA424A4}"/>
              </a:ext>
            </a:extLst>
          </p:cNvPr>
          <p:cNvSpPr/>
          <p:nvPr/>
        </p:nvSpPr>
        <p:spPr>
          <a:xfrm>
            <a:off x="717062" y="4872580"/>
            <a:ext cx="5963138" cy="1158240"/>
          </a:xfrm>
          <a:prstGeom prst="rect">
            <a:avLst/>
          </a:prstGeom>
          <a:noFill/>
        </p:spPr>
        <p:txBody>
          <a:bodyPr wrap="square" lIns="0" tIns="0" rIns="0" bIns="0" rtlCol="0" anchor="t"/>
          <a:lstStyle/>
          <a:p>
            <a:pPr marL="0" indent="0" algn="l">
              <a:buNone/>
            </a:pPr>
            <a:r>
              <a:rPr lang="vi-VN" sz="1400"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Phần </a:t>
            </a:r>
            <a:r>
              <a:rPr lang="vi-VN" sz="1400" b="1"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quan trọng </a:t>
            </a:r>
            <a:r>
              <a:rPr lang="vi-VN" sz="1400"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nhất để </a:t>
            </a:r>
            <a:r>
              <a:rPr lang="vi-VN" sz="1400" b="1"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phân biệt </a:t>
            </a:r>
            <a:r>
              <a:rPr lang="vi-VN" sz="1400"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A-YOLOM</a:t>
            </a:r>
            <a:br>
              <a:rPr lang="vi-VN" sz="1400"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br>
            <a:r>
              <a:rPr lang="vi-VN" sz="1400" b="1" dirty="0">
                <a:latin typeface="Montserrat" panose="00000500000000000000" pitchFamily="34" charset="0"/>
                <a:ea typeface="Montserrat" panose="00000500000000000000" pitchFamily="34" charset="-122"/>
                <a:cs typeface="Montserrat" panose="00000500000000000000" pitchFamily="34" charset="-120"/>
              </a:rPr>
              <a:t>Mục tiêu:</a:t>
            </a:r>
          </a:p>
          <a:p>
            <a:pPr marL="0" indent="0" algn="l">
              <a:buNone/>
            </a:pPr>
            <a:r>
              <a:rPr lang="vi-VN" sz="1400" dirty="0">
                <a:latin typeface="Montserrat" panose="00000500000000000000" pitchFamily="34" charset="0"/>
                <a:ea typeface="Montserrat" panose="00000500000000000000" pitchFamily="34" charset="-122"/>
                <a:cs typeface="Montserrat" panose="00000500000000000000" pitchFamily="34" charset="-120"/>
              </a:rPr>
              <a:t>                    + giảm việc thiết kế thủ công</a:t>
            </a:r>
          </a:p>
          <a:p>
            <a:pPr marL="0" indent="0" algn="l">
              <a:buNone/>
            </a:pPr>
            <a:r>
              <a:rPr lang="vi-VN" sz="1400" dirty="0">
                <a:latin typeface="Montserrat" panose="00000500000000000000" pitchFamily="34" charset="0"/>
                <a:ea typeface="Montserrat" panose="00000500000000000000" pitchFamily="34" charset="-122"/>
                <a:cs typeface="Montserrat" panose="00000500000000000000" pitchFamily="34" charset="-120"/>
              </a:rPr>
              <a:t>                    + tăng tính tổng quát; </a:t>
            </a:r>
          </a:p>
          <a:p>
            <a:pPr marL="0" indent="0" algn="l">
              <a:buNone/>
            </a:pPr>
            <a:r>
              <a:rPr lang="vi-VN" sz="1400" dirty="0">
                <a:latin typeface="Montserrat" panose="00000500000000000000" pitchFamily="34" charset="0"/>
                <a:ea typeface="Montserrat" panose="00000500000000000000" pitchFamily="34" charset="-122"/>
                <a:cs typeface="Montserrat" panose="00000500000000000000" pitchFamily="34" charset="-120"/>
              </a:rPr>
              <a:t>                    + cho phép </a:t>
            </a:r>
            <a:r>
              <a:rPr lang="vi-VN" sz="1400" dirty="0">
                <a:latin typeface="Montserrat" panose="00000500000000000000" pitchFamily="34" charset="0"/>
              </a:rPr>
              <a:t>cùng</a:t>
            </a:r>
            <a:r>
              <a:rPr lang="vi-VN" sz="1400" dirty="0">
                <a:latin typeface="Montserrat" panose="00000500000000000000" pitchFamily="34" charset="0"/>
                <a:ea typeface="Montserrat" panose="00000500000000000000" pitchFamily="34" charset="-122"/>
                <a:cs typeface="Montserrat" panose="00000500000000000000" pitchFamily="34" charset="-120"/>
              </a:rPr>
              <a:t> một kiến trúc segmentation áp dụng cho nhiều task khác nhau. </a:t>
            </a:r>
            <a:br>
              <a:rPr lang="vi-VN" sz="1400" dirty="0">
                <a:latin typeface="Montserrat" panose="00000500000000000000" pitchFamily="34" charset="0"/>
                <a:ea typeface="Montserrat" panose="00000500000000000000" pitchFamily="34" charset="-122"/>
                <a:cs typeface="Montserrat" panose="00000500000000000000" pitchFamily="34" charset="-120"/>
              </a:rPr>
            </a:br>
            <a:endParaRPr lang="vi-VN" sz="1400" dirty="0">
              <a:latin typeface="Montserrat" panose="00000500000000000000" pitchFamily="34" charset="0"/>
              <a:ea typeface="Montserrat" panose="00000500000000000000" pitchFamily="34" charset="-122"/>
              <a:cs typeface="Montserrat" panose="00000500000000000000" pitchFamily="34" charset="-120"/>
            </a:endParaRPr>
          </a:p>
          <a:p>
            <a:pPr marL="0" indent="0" algn="l">
              <a:buNone/>
            </a:pPr>
            <a:r>
              <a:rPr lang="vi-VN" sz="1400" b="1" dirty="0">
                <a:latin typeface="Montserrat" panose="00000500000000000000" pitchFamily="34" charset="0"/>
                <a:ea typeface="Montserrat" panose="00000500000000000000" pitchFamily="34" charset="-122"/>
                <a:cs typeface="Montserrat" panose="00000500000000000000" pitchFamily="34" charset="-120"/>
              </a:rPr>
              <a:t>Adaptive Concatenate tự động lựa chọn/kết hợp đặc trưng phù hợp từ Backbone cho từng nhiệm vụ segmentation.</a:t>
            </a:r>
          </a:p>
        </p:txBody>
      </p:sp>
      <p:sp>
        <p:nvSpPr>
          <p:cNvPr id="31" name="Shape 2">
            <a:extLst>
              <a:ext uri="{FF2B5EF4-FFF2-40B4-BE49-F238E27FC236}">
                <a16:creationId xmlns:a16="http://schemas.microsoft.com/office/drawing/2014/main" id="{3659003C-E75D-3407-1A2C-A51F1573DB8F}"/>
              </a:ext>
            </a:extLst>
          </p:cNvPr>
          <p:cNvSpPr/>
          <p:nvPr/>
        </p:nvSpPr>
        <p:spPr>
          <a:xfrm>
            <a:off x="6968067" y="5329331"/>
            <a:ext cx="3615265" cy="1721988"/>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33" name="Text 3">
            <a:extLst>
              <a:ext uri="{FF2B5EF4-FFF2-40B4-BE49-F238E27FC236}">
                <a16:creationId xmlns:a16="http://schemas.microsoft.com/office/drawing/2014/main" id="{BA22E08F-1532-E9DE-069D-5008838D9439}"/>
              </a:ext>
            </a:extLst>
          </p:cNvPr>
          <p:cNvSpPr/>
          <p:nvPr/>
        </p:nvSpPr>
        <p:spPr>
          <a:xfrm>
            <a:off x="7159944" y="5530247"/>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highlight>
                  <a:srgbClr val="00FFFF"/>
                </a:highlight>
                <a:latin typeface="Barlow Bold" panose="00000800000000000000" pitchFamily="34" charset="0"/>
                <a:ea typeface="Barlow Bold" panose="00000800000000000000" pitchFamily="34" charset="-122"/>
                <a:cs typeface="Barlow Bold" panose="00000800000000000000" pitchFamily="34" charset="-120"/>
              </a:rPr>
              <a:t>Segment Head</a:t>
            </a:r>
            <a:endParaRPr lang="en-US" sz="1900" dirty="0">
              <a:highlight>
                <a:srgbClr val="00FFFF"/>
              </a:highlight>
            </a:endParaRPr>
          </a:p>
        </p:txBody>
      </p:sp>
      <p:sp>
        <p:nvSpPr>
          <p:cNvPr id="35" name="Text 4">
            <a:extLst>
              <a:ext uri="{FF2B5EF4-FFF2-40B4-BE49-F238E27FC236}">
                <a16:creationId xmlns:a16="http://schemas.microsoft.com/office/drawing/2014/main" id="{B966A814-81B4-29B8-F9AF-0932B58B4245}"/>
              </a:ext>
            </a:extLst>
          </p:cNvPr>
          <p:cNvSpPr/>
          <p:nvPr/>
        </p:nvSpPr>
        <p:spPr>
          <a:xfrm>
            <a:off x="7188619" y="5964597"/>
            <a:ext cx="7348649" cy="1158240"/>
          </a:xfrm>
          <a:prstGeom prst="rect">
            <a:avLst/>
          </a:prstGeom>
          <a:noFill/>
        </p:spPr>
        <p:txBody>
          <a:bodyPr wrap="square" lIns="0" tIns="0" rIns="0" bIns="0" rtlCol="0" anchor="t"/>
          <a:lstStyle/>
          <a:p>
            <a:r>
              <a:rPr lang="vi-VN" sz="1400" b="1" dirty="0">
                <a:solidFill>
                  <a:srgbClr val="FF4F4F"/>
                </a:solidFill>
                <a:latin typeface="Montserrat" panose="00000500000000000000" pitchFamily="34" charset="0"/>
                <a:ea typeface="Montserrat" panose="00000500000000000000" pitchFamily="34" charset="-122"/>
                <a:cs typeface="Montserrat" panose="00000500000000000000" pitchFamily="34" charset="-120"/>
              </a:rPr>
              <a:t>Để giảm tài nguyên</a:t>
            </a:r>
            <a:br>
              <a:rPr lang="vi-VN" sz="1400" b="1" dirty="0">
                <a:solidFill>
                  <a:srgbClr val="FF4F4F"/>
                </a:solidFill>
                <a:latin typeface="Montserrat" panose="00000500000000000000" pitchFamily="34" charset="0"/>
                <a:ea typeface="Montserrat" panose="00000500000000000000" pitchFamily="34" charset="-122"/>
                <a:cs typeface="Montserrat" panose="00000500000000000000" pitchFamily="34" charset="-120"/>
              </a:rPr>
            </a:br>
            <a:r>
              <a:rPr lang="vi-VN" sz="1400" dirty="0">
                <a:latin typeface="Montserrat" panose="00000500000000000000" pitchFamily="34" charset="0"/>
                <a:ea typeface="Montserrat" panose="00000500000000000000" pitchFamily="34" charset="-122"/>
                <a:cs typeface="Montserrat" panose="00000500000000000000" pitchFamily="34" charset="-120"/>
              </a:rPr>
              <a:t>Output :</a:t>
            </a:r>
            <a:br>
              <a:rPr lang="vi-VN" sz="1400" dirty="0">
                <a:latin typeface="Montserrat" panose="00000500000000000000" pitchFamily="34" charset="0"/>
                <a:ea typeface="Montserrat" panose="00000500000000000000" pitchFamily="34" charset="-122"/>
                <a:cs typeface="Montserrat" panose="00000500000000000000" pitchFamily="34" charset="-120"/>
              </a:rPr>
            </a:br>
            <a:r>
              <a:rPr lang="vi-VN" sz="1400" dirty="0">
                <a:latin typeface="Montserrat" panose="00000500000000000000" pitchFamily="34" charset="0"/>
                <a:ea typeface="Montserrat" panose="00000500000000000000" pitchFamily="34" charset="-122"/>
                <a:cs typeface="Montserrat" panose="00000500000000000000" pitchFamily="34" charset="-120"/>
              </a:rPr>
              <a:t>                 + </a:t>
            </a:r>
            <a:r>
              <a:rPr lang="vi-VN" sz="1400" b="1" dirty="0">
                <a:latin typeface="Montserrat" panose="00000500000000000000" pitchFamily="34" charset="0"/>
                <a:ea typeface="Montserrat" panose="00000500000000000000" pitchFamily="34" charset="-122"/>
                <a:cs typeface="Montserrat" panose="00000500000000000000" pitchFamily="34" charset="-120"/>
              </a:rPr>
              <a:t>Mask</a:t>
            </a:r>
            <a:r>
              <a:rPr lang="vi-VN" sz="1400" dirty="0">
                <a:latin typeface="Montserrat" panose="00000500000000000000" pitchFamily="34" charset="0"/>
                <a:ea typeface="Montserrat" panose="00000500000000000000" pitchFamily="34" charset="-122"/>
                <a:cs typeface="Montserrat" panose="00000500000000000000" pitchFamily="34" charset="-120"/>
              </a:rPr>
              <a:t> 1 </a:t>
            </a:r>
            <a:r>
              <a:rPr lang="vi-VN" sz="1400"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Drivable Area Mask</a:t>
            </a:r>
            <a:br>
              <a:rPr lang="vi-VN" sz="1400" dirty="0">
                <a:latin typeface="Montserrat" panose="00000500000000000000" pitchFamily="34" charset="0"/>
                <a:ea typeface="Montserrat" panose="00000500000000000000" pitchFamily="34" charset="-122"/>
                <a:cs typeface="Montserrat" panose="00000500000000000000" pitchFamily="34" charset="-120"/>
              </a:rPr>
            </a:br>
            <a:r>
              <a:rPr lang="vi-VN" sz="1400" dirty="0">
                <a:latin typeface="Montserrat" panose="00000500000000000000" pitchFamily="34" charset="0"/>
                <a:ea typeface="Montserrat" panose="00000500000000000000" pitchFamily="34" charset="-122"/>
                <a:cs typeface="Montserrat" panose="00000500000000000000" pitchFamily="34" charset="-120"/>
              </a:rPr>
              <a:t>                 + </a:t>
            </a:r>
            <a:r>
              <a:rPr lang="vi-VN" sz="1400" b="1" dirty="0">
                <a:latin typeface="Montserrat" panose="00000500000000000000" pitchFamily="34" charset="0"/>
                <a:ea typeface="Montserrat" panose="00000500000000000000" pitchFamily="34" charset="-122"/>
                <a:cs typeface="Montserrat" panose="00000500000000000000" pitchFamily="34" charset="-120"/>
              </a:rPr>
              <a:t>Mask</a:t>
            </a:r>
            <a:r>
              <a:rPr lang="vi-VN" sz="1400" dirty="0">
                <a:latin typeface="Montserrat" panose="00000500000000000000" pitchFamily="34" charset="0"/>
                <a:ea typeface="Montserrat" panose="00000500000000000000" pitchFamily="34" charset="-122"/>
                <a:cs typeface="Montserrat" panose="00000500000000000000" pitchFamily="34" charset="-120"/>
              </a:rPr>
              <a:t> 2 </a:t>
            </a:r>
            <a:r>
              <a:rPr lang="vi-VN" sz="1400" dirty="0">
                <a:solidFill>
                  <a:srgbClr val="EE0000"/>
                </a:solidFill>
                <a:latin typeface="Montserrat" panose="00000500000000000000" pitchFamily="34" charset="0"/>
                <a:ea typeface="Montserrat" panose="00000500000000000000" pitchFamily="34" charset="-122"/>
                <a:cs typeface="Montserrat" panose="00000500000000000000" pitchFamily="34" charset="-120"/>
              </a:rPr>
              <a:t>Lane Line Mask</a:t>
            </a:r>
          </a:p>
        </p:txBody>
      </p:sp>
    </p:spTree>
    <p:extLst>
      <p:ext uri="{BB962C8B-B14F-4D97-AF65-F5344CB8AC3E}">
        <p14:creationId xmlns:p14="http://schemas.microsoft.com/office/powerpoint/2010/main" val="420629142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C2A83C-0437-37CE-83EF-8F681D33711B}"/>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5" name="Shape 2">
            <a:extLst>
              <a:ext uri="{FF2B5EF4-FFF2-40B4-BE49-F238E27FC236}">
                <a16:creationId xmlns:a16="http://schemas.microsoft.com/office/drawing/2014/main" id="{D99001D4-AEB8-0683-6E33-A3ECBAF7CEC9}"/>
              </a:ext>
            </a:extLst>
          </p:cNvPr>
          <p:cNvSpPr/>
          <p:nvPr/>
        </p:nvSpPr>
        <p:spPr>
          <a:xfrm>
            <a:off x="8290919" y="1099698"/>
            <a:ext cx="7084547" cy="6190102"/>
          </a:xfrm>
          <a:prstGeom prst="roundRect">
            <a:avLst>
              <a:gd name="adj" fmla="val 11303"/>
            </a:avLst>
          </a:prstGeom>
          <a:solidFill>
            <a:srgbClr val="D4E9F7"/>
          </a:solidFill>
          <a:ln w="7620">
            <a:solidFill>
              <a:srgbClr val="BACFDD"/>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5701778E-E785-9977-7B8F-DAAB900950EE}"/>
              </a:ext>
            </a:extLst>
          </p:cNvPr>
          <p:cNvGraphicFramePr>
            <a:graphicFrameLocks noGrp="1"/>
          </p:cNvGraphicFramePr>
          <p:nvPr>
            <p:extLst>
              <p:ext uri="{D42A27DB-BD31-4B8C-83A1-F6EECF244321}">
                <p14:modId xmlns:p14="http://schemas.microsoft.com/office/powerpoint/2010/main" val="3218977999"/>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kern="1200"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en-US" sz="3600" b="1" kern="1200"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2</a:t>
                      </a:r>
                      <a:r>
                        <a:rPr lang="vi-VN" sz="3600" b="1" kern="1200"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9" name="Picture 8">
            <a:extLst>
              <a:ext uri="{FF2B5EF4-FFF2-40B4-BE49-F238E27FC236}">
                <a16:creationId xmlns:a16="http://schemas.microsoft.com/office/drawing/2014/main" id="{573B4848-A097-2B67-94A2-CF329429E931}"/>
              </a:ext>
            </a:extLst>
          </p:cNvPr>
          <p:cNvPicPr/>
          <p:nvPr/>
        </p:nvPicPr>
        <p:blipFill>
          <a:blip r:embed="rId3"/>
          <a:stretch>
            <a:fillRect/>
          </a:stretch>
        </p:blipFill>
        <p:spPr>
          <a:xfrm>
            <a:off x="-118532" y="-145263"/>
            <a:ext cx="1371600" cy="1390223"/>
          </a:xfrm>
          <a:prstGeom prst="rect">
            <a:avLst/>
          </a:prstGeom>
        </p:spPr>
      </p:pic>
      <p:pic>
        <p:nvPicPr>
          <p:cNvPr id="11" name="Picture 10">
            <a:extLst>
              <a:ext uri="{FF2B5EF4-FFF2-40B4-BE49-F238E27FC236}">
                <a16:creationId xmlns:a16="http://schemas.microsoft.com/office/drawing/2014/main" id="{88B46673-C224-16E2-8662-7BB519849A0D}"/>
              </a:ext>
            </a:extLst>
          </p:cNvPr>
          <p:cNvPicPr>
            <a:picLocks noChangeAspect="1"/>
          </p:cNvPicPr>
          <p:nvPr/>
        </p:nvPicPr>
        <p:blipFill>
          <a:blip r:embed="rId4"/>
          <a:stretch>
            <a:fillRect/>
          </a:stretch>
        </p:blipFill>
        <p:spPr>
          <a:xfrm>
            <a:off x="-60587" y="1123573"/>
            <a:ext cx="3073558" cy="133357"/>
          </a:xfrm>
          <a:prstGeom prst="rect">
            <a:avLst/>
          </a:prstGeom>
        </p:spPr>
      </p:pic>
      <p:sp>
        <p:nvSpPr>
          <p:cNvPr id="13" name="Shape 2">
            <a:extLst>
              <a:ext uri="{FF2B5EF4-FFF2-40B4-BE49-F238E27FC236}">
                <a16:creationId xmlns:a16="http://schemas.microsoft.com/office/drawing/2014/main" id="{93D1F131-DD6E-BF60-AEE5-8560DEDD80F6}"/>
              </a:ext>
            </a:extLst>
          </p:cNvPr>
          <p:cNvSpPr/>
          <p:nvPr/>
        </p:nvSpPr>
        <p:spPr>
          <a:xfrm>
            <a:off x="0" y="4547806"/>
            <a:ext cx="8002268" cy="2755058"/>
          </a:xfrm>
          <a:prstGeom prst="roundRect">
            <a:avLst>
              <a:gd name="adj" fmla="val 11303"/>
            </a:avLst>
          </a:prstGeom>
          <a:solidFill>
            <a:srgbClr val="D4E9F7"/>
          </a:solidFill>
          <a:ln w="7620">
            <a:solidFill>
              <a:srgbClr val="BACFDD"/>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15" name="Text 3">
            <a:extLst>
              <a:ext uri="{FF2B5EF4-FFF2-40B4-BE49-F238E27FC236}">
                <a16:creationId xmlns:a16="http://schemas.microsoft.com/office/drawing/2014/main" id="{2798E063-7D65-BF0D-B6E3-0C847D735FE1}"/>
              </a:ext>
            </a:extLst>
          </p:cNvPr>
          <p:cNvSpPr/>
          <p:nvPr/>
        </p:nvSpPr>
        <p:spPr>
          <a:xfrm>
            <a:off x="249663" y="4729830"/>
            <a:ext cx="7752606" cy="2552234"/>
          </a:xfrm>
          <a:prstGeom prst="rect">
            <a:avLst/>
          </a:prstGeom>
          <a:noFill/>
        </p:spPr>
        <p:txBody>
          <a:bodyPr wrap="square" lIns="0" tIns="0" rIns="0" bIns="0" rtlCol="0" anchor="t"/>
          <a:lstStyle/>
          <a:p>
            <a:pPr marL="0" indent="0">
              <a:lnSpc>
                <a:spcPts val="2350"/>
              </a:lnSpc>
              <a:buNone/>
            </a:pPr>
            <a:r>
              <a:rPr lang="vi-VN" sz="1900" b="1" dirty="0">
                <a:solidFill>
                  <a:srgbClr val="384653"/>
                </a:solidFill>
                <a:latin typeface="+mj-lt"/>
                <a:ea typeface="Barlow Bold" panose="00000800000000000000" pitchFamily="34" charset="-122"/>
                <a:cs typeface="Times New Roman" panose="02020603050405020304" pitchFamily="18" charset="0"/>
              </a:rPr>
              <a:t>Vấn đề giải quyết</a:t>
            </a:r>
            <a:r>
              <a:rPr lang="en-US" sz="1900" b="1" dirty="0">
                <a:solidFill>
                  <a:srgbClr val="384653"/>
                </a:solidFill>
                <a:latin typeface="+mj-lt"/>
                <a:ea typeface="Barlow Bold" panose="00000800000000000000" pitchFamily="34" charset="-122"/>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Giảm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trễ</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nhiều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mạng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riêng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biệt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cho</a:t>
            </a:r>
            <a:r>
              <a:rPr lang="en-US" sz="2000" dirty="0">
                <a:latin typeface="Times New Roman" panose="02020603050405020304" pitchFamily="18" charset="0"/>
                <a:cs typeface="Times New Roman" panose="02020603050405020304" pitchFamily="18" charset="0"/>
              </a:rPr>
              <a:t>: Lane Line Segmentation, Drivable Area Segmentation, Object Detection.</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việc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hợp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đặc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trưng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tỉ</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lệ</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Tăng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năng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phương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nhỏ</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hoặc</a:t>
            </a:r>
            <a:r>
              <a:rPr lang="en-US" sz="2000" dirty="0">
                <a:latin typeface="Times New Roman" panose="02020603050405020304" pitchFamily="18" charset="0"/>
                <a:cs typeface="Times New Roman" panose="02020603050405020304" pitchFamily="18" charset="0"/>
              </a:rPr>
              <a:t> ở xa. </a:t>
            </a:r>
          </a:p>
          <a:p>
            <a:pPr lvl="0"/>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Tối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ưu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chi </a:t>
            </a:r>
            <a:r>
              <a:rPr lang="en-US" sz="2000" dirty="0" err="1">
                <a:latin typeface="Times New Roman" panose="02020603050405020304" pitchFamily="18" charset="0"/>
                <a:cs typeface="Times New Roman" panose="02020603050405020304" pitchFamily="18" charset="0"/>
              </a:rPr>
              <a:t>phí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mạng</a:t>
            </a:r>
            <a:r>
              <a:rPr lang="en-US" sz="2000" dirty="0">
                <a:latin typeface="Times New Roman" panose="02020603050405020304" pitchFamily="18" charset="0"/>
                <a:cs typeface="Times New Roman" panose="02020603050405020304" pitchFamily="18" charset="0"/>
              </a:rPr>
              <a:t> multi-task</a:t>
            </a:r>
            <a:r>
              <a:rPr lang="en-US" sz="2000" dirty="0">
                <a:latin typeface="+mj-lt"/>
              </a:rPr>
              <a:t>.</a:t>
            </a:r>
          </a:p>
          <a:p>
            <a:pPr lvl="0"/>
            <a:r>
              <a:rPr lang="en-US" sz="2000" b="1" dirty="0">
                <a:latin typeface="Times New Roman" panose="02020603050405020304" pitchFamily="18" charset="0"/>
                <a:cs typeface="Times New Roman" panose="02020603050405020304" pitchFamily="18" charset="0"/>
              </a:rPr>
              <a:t>Output </a:t>
            </a:r>
            <a:r>
              <a:rPr lang="en-US" sz="2000" b="1" dirty="0" err="1">
                <a:latin typeface="Times New Roman" panose="02020603050405020304" pitchFamily="18" charset="0"/>
                <a:cs typeface="Times New Roman" panose="02020603050405020304" pitchFamily="18" charset="0"/>
              </a:rPr>
              <a:t>thực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tế</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Lane Line Segmentation, Drivable Area Segmentation, Traffic Object Detection</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cs typeface="Times New Roman" panose="02020603050405020304" pitchFamily="18" charset="0"/>
            </a:endParaRPr>
          </a:p>
          <a:p>
            <a:pPr lvl="0"/>
            <a:endParaRPr lang="en-US" sz="2000" dirty="0">
              <a:latin typeface="+mj-lt"/>
            </a:endParaRPr>
          </a:p>
          <a:p>
            <a:pPr marL="342900" indent="-342900">
              <a:buFont typeface="Arial" panose="020B0604020202020204" pitchFamily="34" charset="0"/>
              <a:buChar char="•"/>
            </a:pPr>
            <a:endParaRPr lang="en-US" sz="1900" dirty="0">
              <a:latin typeface="+mj-lt"/>
              <a:cs typeface="Times New Roman" panose="02020603050405020304" pitchFamily="18" charset="0"/>
            </a:endParaRPr>
          </a:p>
        </p:txBody>
      </p:sp>
      <p:pic>
        <p:nvPicPr>
          <p:cNvPr id="17" name="Picture 16">
            <a:extLst>
              <a:ext uri="{FF2B5EF4-FFF2-40B4-BE49-F238E27FC236}">
                <a16:creationId xmlns:a16="http://schemas.microsoft.com/office/drawing/2014/main" id="{F088A6FD-E0DF-307D-F050-7325504B27C0}"/>
              </a:ext>
            </a:extLst>
          </p:cNvPr>
          <p:cNvPicPr>
            <a:picLocks noChangeAspect="1"/>
          </p:cNvPicPr>
          <p:nvPr/>
        </p:nvPicPr>
        <p:blipFill>
          <a:blip r:embed="rId5"/>
          <a:stretch>
            <a:fillRect/>
          </a:stretch>
        </p:blipFill>
        <p:spPr>
          <a:xfrm>
            <a:off x="8427951" y="1472491"/>
            <a:ext cx="6830453" cy="5657411"/>
          </a:xfrm>
          <a:prstGeom prst="rect">
            <a:avLst/>
          </a:prstGeom>
        </p:spPr>
      </p:pic>
      <p:pic>
        <p:nvPicPr>
          <p:cNvPr id="19" name="Picture 18">
            <a:extLst>
              <a:ext uri="{FF2B5EF4-FFF2-40B4-BE49-F238E27FC236}">
                <a16:creationId xmlns:a16="http://schemas.microsoft.com/office/drawing/2014/main" id="{DAE8AA89-06C4-5874-8C69-1CAF74BE9A42}"/>
              </a:ext>
            </a:extLst>
          </p:cNvPr>
          <p:cNvPicPr>
            <a:picLocks noChangeAspect="1"/>
          </p:cNvPicPr>
          <p:nvPr/>
        </p:nvPicPr>
        <p:blipFill>
          <a:blip r:embed="rId6"/>
          <a:stretch>
            <a:fillRect/>
          </a:stretch>
        </p:blipFill>
        <p:spPr>
          <a:xfrm>
            <a:off x="577903" y="1438954"/>
            <a:ext cx="7096125" cy="2647950"/>
          </a:xfrm>
          <a:prstGeom prst="rect">
            <a:avLst/>
          </a:prstGeom>
        </p:spPr>
      </p:pic>
    </p:spTree>
    <p:extLst>
      <p:ext uri="{BB962C8B-B14F-4D97-AF65-F5344CB8AC3E}">
        <p14:creationId xmlns:p14="http://schemas.microsoft.com/office/powerpoint/2010/main" val="32146422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E9F136-E467-757C-096D-FDC2D72FEAA7}"/>
              </a:ext>
            </a:extLst>
          </p:cNvPr>
          <p:cNvPicPr>
            <a:picLocks noChangeAspect="1"/>
          </p:cNvPicPr>
          <p:nvPr/>
        </p:nvPicPr>
        <p:blipFill>
          <a:blip r:embed="rId2"/>
          <a:stretch>
            <a:fillRect/>
          </a:stretch>
        </p:blipFill>
        <p:spPr>
          <a:xfrm>
            <a:off x="10013048" y="6376129"/>
            <a:ext cx="4524219" cy="1853471"/>
          </a:xfrm>
          <a:prstGeom prst="rect">
            <a:avLst/>
          </a:prstGeom>
          <a:noFill/>
        </p:spPr>
      </p:pic>
      <p:sp>
        <p:nvSpPr>
          <p:cNvPr id="5" name="Shape 2">
            <a:extLst>
              <a:ext uri="{FF2B5EF4-FFF2-40B4-BE49-F238E27FC236}">
                <a16:creationId xmlns:a16="http://schemas.microsoft.com/office/drawing/2014/main" id="{F9CBE825-8B4A-7B66-B43B-80201B6FA2B1}"/>
              </a:ext>
            </a:extLst>
          </p:cNvPr>
          <p:cNvSpPr/>
          <p:nvPr/>
        </p:nvSpPr>
        <p:spPr>
          <a:xfrm>
            <a:off x="457200" y="1863782"/>
            <a:ext cx="13533657" cy="2088893"/>
          </a:xfrm>
          <a:prstGeom prst="roundRect">
            <a:avLst>
              <a:gd name="adj" fmla="val 11303"/>
            </a:avLst>
          </a:prstGeom>
          <a:solidFill>
            <a:srgbClr val="D4E9F7"/>
          </a:solidFill>
          <a:ln w="7620">
            <a:solidFill>
              <a:srgbClr val="BACFDD"/>
            </a:solidFill>
            <a:prstDash val="solid"/>
          </a:ln>
        </p:spPr>
        <p:txBody>
          <a:bodyPr/>
          <a:lstStyle/>
          <a:p>
            <a:endParaRPr lang="en-US" dirty="0"/>
          </a:p>
        </p:txBody>
      </p:sp>
      <p:graphicFrame>
        <p:nvGraphicFramePr>
          <p:cNvPr id="7" name="Table 6">
            <a:extLst>
              <a:ext uri="{FF2B5EF4-FFF2-40B4-BE49-F238E27FC236}">
                <a16:creationId xmlns:a16="http://schemas.microsoft.com/office/drawing/2014/main" id="{DD49738D-DC3A-6730-BE1B-DF232F021804}"/>
              </a:ext>
            </a:extLst>
          </p:cNvPr>
          <p:cNvGraphicFramePr>
            <a:graphicFrameLocks noGrp="1"/>
          </p:cNvGraphicFramePr>
          <p:nvPr>
            <p:extLst>
              <p:ext uri="{D42A27DB-BD31-4B8C-83A1-F6EECF244321}">
                <p14:modId xmlns:p14="http://schemas.microsoft.com/office/powerpoint/2010/main" val="3739901396"/>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en-US"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2</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9" name="Picture 8">
            <a:extLst>
              <a:ext uri="{FF2B5EF4-FFF2-40B4-BE49-F238E27FC236}">
                <a16:creationId xmlns:a16="http://schemas.microsoft.com/office/drawing/2014/main" id="{8AFDDCDD-6E8E-5372-5831-0B7AED60668A}"/>
              </a:ext>
            </a:extLst>
          </p:cNvPr>
          <p:cNvPicPr/>
          <p:nvPr/>
        </p:nvPicPr>
        <p:blipFill>
          <a:blip r:embed="rId3"/>
          <a:stretch>
            <a:fillRect/>
          </a:stretch>
        </p:blipFill>
        <p:spPr>
          <a:xfrm>
            <a:off x="-118532" y="-145263"/>
            <a:ext cx="1371600" cy="1390223"/>
          </a:xfrm>
          <a:prstGeom prst="rect">
            <a:avLst/>
          </a:prstGeom>
        </p:spPr>
      </p:pic>
      <p:pic>
        <p:nvPicPr>
          <p:cNvPr id="11" name="Picture 10">
            <a:extLst>
              <a:ext uri="{FF2B5EF4-FFF2-40B4-BE49-F238E27FC236}">
                <a16:creationId xmlns:a16="http://schemas.microsoft.com/office/drawing/2014/main" id="{EAC0EF3F-27C5-6151-A25A-D3FB81C4CD62}"/>
              </a:ext>
            </a:extLst>
          </p:cNvPr>
          <p:cNvPicPr>
            <a:picLocks noChangeAspect="1"/>
          </p:cNvPicPr>
          <p:nvPr/>
        </p:nvPicPr>
        <p:blipFill>
          <a:blip r:embed="rId4"/>
          <a:stretch>
            <a:fillRect/>
          </a:stretch>
        </p:blipFill>
        <p:spPr>
          <a:xfrm>
            <a:off x="-118532" y="1111603"/>
            <a:ext cx="3073558" cy="133357"/>
          </a:xfrm>
          <a:prstGeom prst="rect">
            <a:avLst/>
          </a:prstGeom>
        </p:spPr>
      </p:pic>
      <p:pic>
        <p:nvPicPr>
          <p:cNvPr id="13" name="Picture 12">
            <a:extLst>
              <a:ext uri="{FF2B5EF4-FFF2-40B4-BE49-F238E27FC236}">
                <a16:creationId xmlns:a16="http://schemas.microsoft.com/office/drawing/2014/main" id="{AC06E65F-76AD-1F94-1BF5-77F7DCB49D5B}"/>
              </a:ext>
            </a:extLst>
          </p:cNvPr>
          <p:cNvPicPr>
            <a:picLocks noChangeAspect="1"/>
          </p:cNvPicPr>
          <p:nvPr/>
        </p:nvPicPr>
        <p:blipFill>
          <a:blip r:embed="rId5"/>
          <a:stretch>
            <a:fillRect/>
          </a:stretch>
        </p:blipFill>
        <p:spPr>
          <a:xfrm>
            <a:off x="871837" y="1863783"/>
            <a:ext cx="3726503" cy="2080440"/>
          </a:xfrm>
          <a:prstGeom prst="rect">
            <a:avLst/>
          </a:prstGeom>
        </p:spPr>
      </p:pic>
      <p:pic>
        <p:nvPicPr>
          <p:cNvPr id="15" name="Picture 14">
            <a:extLst>
              <a:ext uri="{FF2B5EF4-FFF2-40B4-BE49-F238E27FC236}">
                <a16:creationId xmlns:a16="http://schemas.microsoft.com/office/drawing/2014/main" id="{97BAE34C-1526-9CBF-56A7-D759C1BF6F82}"/>
              </a:ext>
            </a:extLst>
          </p:cNvPr>
          <p:cNvPicPr>
            <a:picLocks noChangeAspect="1"/>
          </p:cNvPicPr>
          <p:nvPr/>
        </p:nvPicPr>
        <p:blipFill>
          <a:blip r:embed="rId6"/>
          <a:stretch>
            <a:fillRect/>
          </a:stretch>
        </p:blipFill>
        <p:spPr>
          <a:xfrm>
            <a:off x="5483381" y="1863783"/>
            <a:ext cx="3730752" cy="2109017"/>
          </a:xfrm>
          <a:prstGeom prst="rect">
            <a:avLst/>
          </a:prstGeom>
        </p:spPr>
      </p:pic>
      <p:pic>
        <p:nvPicPr>
          <p:cNvPr id="17" name="Picture 16">
            <a:extLst>
              <a:ext uri="{FF2B5EF4-FFF2-40B4-BE49-F238E27FC236}">
                <a16:creationId xmlns:a16="http://schemas.microsoft.com/office/drawing/2014/main" id="{D248CA61-3762-D381-4A6F-E46999EB5D16}"/>
              </a:ext>
            </a:extLst>
          </p:cNvPr>
          <p:cNvPicPr>
            <a:picLocks noChangeAspect="1"/>
          </p:cNvPicPr>
          <p:nvPr/>
        </p:nvPicPr>
        <p:blipFill>
          <a:blip r:embed="rId7"/>
          <a:stretch>
            <a:fillRect/>
          </a:stretch>
        </p:blipFill>
        <p:spPr>
          <a:xfrm>
            <a:off x="9863371" y="1863783"/>
            <a:ext cx="3730752" cy="2117660"/>
          </a:xfrm>
          <a:prstGeom prst="rect">
            <a:avLst/>
          </a:prstGeom>
        </p:spPr>
      </p:pic>
      <p:sp>
        <p:nvSpPr>
          <p:cNvPr id="19" name="TextBox 18">
            <a:extLst>
              <a:ext uri="{FF2B5EF4-FFF2-40B4-BE49-F238E27FC236}">
                <a16:creationId xmlns:a16="http://schemas.microsoft.com/office/drawing/2014/main" id="{A1E9147C-1C59-85B0-DB7E-C829E8B8D509}"/>
              </a:ext>
            </a:extLst>
          </p:cNvPr>
          <p:cNvSpPr txBox="1"/>
          <p:nvPr/>
        </p:nvSpPr>
        <p:spPr>
          <a:xfrm>
            <a:off x="2955026" y="1421748"/>
            <a:ext cx="7387682"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(a) Day-time result </a:t>
            </a:r>
          </a:p>
        </p:txBody>
      </p:sp>
      <p:sp>
        <p:nvSpPr>
          <p:cNvPr id="21" name="Shape 2">
            <a:extLst>
              <a:ext uri="{FF2B5EF4-FFF2-40B4-BE49-F238E27FC236}">
                <a16:creationId xmlns:a16="http://schemas.microsoft.com/office/drawing/2014/main" id="{9BE25D93-2C08-F2AB-31C5-B1A140918870}"/>
              </a:ext>
            </a:extLst>
          </p:cNvPr>
          <p:cNvSpPr/>
          <p:nvPr/>
        </p:nvSpPr>
        <p:spPr>
          <a:xfrm>
            <a:off x="457199" y="5302914"/>
            <a:ext cx="13533657" cy="2088893"/>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23" name="TextBox 22">
            <a:extLst>
              <a:ext uri="{FF2B5EF4-FFF2-40B4-BE49-F238E27FC236}">
                <a16:creationId xmlns:a16="http://schemas.microsoft.com/office/drawing/2014/main" id="{9F5D1602-9EAD-DBA1-D61F-1907F28DF1DC}"/>
              </a:ext>
            </a:extLst>
          </p:cNvPr>
          <p:cNvSpPr txBox="1"/>
          <p:nvPr/>
        </p:nvSpPr>
        <p:spPr>
          <a:xfrm>
            <a:off x="3077689" y="4619138"/>
            <a:ext cx="7387682" cy="369332"/>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b</a:t>
            </a:r>
            <a:r>
              <a:rPr lang="en-US" sz="1800" b="1" dirty="0">
                <a:latin typeface="Times New Roman" panose="02020603050405020304" pitchFamily="18" charset="0"/>
                <a:cs typeface="Times New Roman" panose="02020603050405020304" pitchFamily="18" charset="0"/>
              </a:rPr>
              <a:t>) Night-time result </a:t>
            </a:r>
          </a:p>
        </p:txBody>
      </p:sp>
      <p:pic>
        <p:nvPicPr>
          <p:cNvPr id="25" name="Picture 24">
            <a:extLst>
              <a:ext uri="{FF2B5EF4-FFF2-40B4-BE49-F238E27FC236}">
                <a16:creationId xmlns:a16="http://schemas.microsoft.com/office/drawing/2014/main" id="{9CDBB02B-22E5-7919-06F4-42461B64B397}"/>
              </a:ext>
            </a:extLst>
          </p:cNvPr>
          <p:cNvPicPr>
            <a:picLocks noChangeAspect="1"/>
          </p:cNvPicPr>
          <p:nvPr/>
        </p:nvPicPr>
        <p:blipFill>
          <a:blip r:embed="rId8"/>
          <a:stretch>
            <a:fillRect/>
          </a:stretch>
        </p:blipFill>
        <p:spPr>
          <a:xfrm>
            <a:off x="867588" y="5340411"/>
            <a:ext cx="3730752" cy="2071435"/>
          </a:xfrm>
          <a:prstGeom prst="rect">
            <a:avLst/>
          </a:prstGeom>
        </p:spPr>
      </p:pic>
      <p:pic>
        <p:nvPicPr>
          <p:cNvPr id="27" name="Picture 26">
            <a:extLst>
              <a:ext uri="{FF2B5EF4-FFF2-40B4-BE49-F238E27FC236}">
                <a16:creationId xmlns:a16="http://schemas.microsoft.com/office/drawing/2014/main" id="{FE192974-7EDD-52D9-C818-4E9AE4736A71}"/>
              </a:ext>
            </a:extLst>
          </p:cNvPr>
          <p:cNvPicPr>
            <a:picLocks noChangeAspect="1"/>
          </p:cNvPicPr>
          <p:nvPr/>
        </p:nvPicPr>
        <p:blipFill>
          <a:blip r:embed="rId9"/>
          <a:stretch>
            <a:fillRect/>
          </a:stretch>
        </p:blipFill>
        <p:spPr>
          <a:xfrm>
            <a:off x="5483381" y="5282875"/>
            <a:ext cx="3730752" cy="2048679"/>
          </a:xfrm>
          <a:prstGeom prst="rect">
            <a:avLst/>
          </a:prstGeom>
        </p:spPr>
      </p:pic>
      <p:pic>
        <p:nvPicPr>
          <p:cNvPr id="29" name="Picture 28">
            <a:extLst>
              <a:ext uri="{FF2B5EF4-FFF2-40B4-BE49-F238E27FC236}">
                <a16:creationId xmlns:a16="http://schemas.microsoft.com/office/drawing/2014/main" id="{C95B46A2-C74C-15BA-58AB-CA1AD7D602D3}"/>
              </a:ext>
            </a:extLst>
          </p:cNvPr>
          <p:cNvPicPr>
            <a:picLocks noChangeAspect="1"/>
          </p:cNvPicPr>
          <p:nvPr/>
        </p:nvPicPr>
        <p:blipFill>
          <a:blip r:embed="rId10"/>
          <a:stretch>
            <a:fillRect/>
          </a:stretch>
        </p:blipFill>
        <p:spPr>
          <a:xfrm>
            <a:off x="9863371" y="5331682"/>
            <a:ext cx="3730752" cy="2060590"/>
          </a:xfrm>
          <a:prstGeom prst="rect">
            <a:avLst/>
          </a:prstGeom>
        </p:spPr>
      </p:pic>
    </p:spTree>
    <p:extLst>
      <p:ext uri="{BB962C8B-B14F-4D97-AF65-F5344CB8AC3E}">
        <p14:creationId xmlns:p14="http://schemas.microsoft.com/office/powerpoint/2010/main" val="32191754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7A69A9-A70D-4D8D-A3FF-BAF83D08FBCB}"/>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5" name="Shape 2">
            <a:extLst>
              <a:ext uri="{FF2B5EF4-FFF2-40B4-BE49-F238E27FC236}">
                <a16:creationId xmlns:a16="http://schemas.microsoft.com/office/drawing/2014/main" id="{F9286B91-FCE9-C7FE-5B84-1FEAB9F3EE2B}"/>
              </a:ext>
            </a:extLst>
          </p:cNvPr>
          <p:cNvSpPr/>
          <p:nvPr/>
        </p:nvSpPr>
        <p:spPr>
          <a:xfrm>
            <a:off x="6968067" y="1178281"/>
            <a:ext cx="7569200" cy="4072467"/>
          </a:xfrm>
          <a:prstGeom prst="roundRect">
            <a:avLst>
              <a:gd name="adj" fmla="val 11303"/>
            </a:avLst>
          </a:prstGeom>
          <a:solidFill>
            <a:srgbClr val="D4E9F7"/>
          </a:solidFill>
          <a:ln w="7620">
            <a:solidFill>
              <a:srgbClr val="BACFDD"/>
            </a:solidFill>
            <a:prstDash val="solid"/>
          </a:ln>
        </p:spPr>
        <p:txBody>
          <a:bodyPr/>
          <a:lstStyle/>
          <a:p>
            <a:endParaRPr lang="en-US" dirty="0"/>
          </a:p>
        </p:txBody>
      </p:sp>
      <p:graphicFrame>
        <p:nvGraphicFramePr>
          <p:cNvPr id="7" name="Table 6">
            <a:extLst>
              <a:ext uri="{FF2B5EF4-FFF2-40B4-BE49-F238E27FC236}">
                <a16:creationId xmlns:a16="http://schemas.microsoft.com/office/drawing/2014/main" id="{6A48F2A0-0522-10B1-0773-776A4E80C44E}"/>
              </a:ext>
            </a:extLst>
          </p:cNvPr>
          <p:cNvGraphicFramePr>
            <a:graphicFrameLocks noGrp="1"/>
          </p:cNvGraphicFramePr>
          <p:nvPr>
            <p:extLst>
              <p:ext uri="{D42A27DB-BD31-4B8C-83A1-F6EECF244321}">
                <p14:modId xmlns:p14="http://schemas.microsoft.com/office/powerpoint/2010/main" val="3613977888"/>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en-US"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2</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9" name="Picture 8">
            <a:extLst>
              <a:ext uri="{FF2B5EF4-FFF2-40B4-BE49-F238E27FC236}">
                <a16:creationId xmlns:a16="http://schemas.microsoft.com/office/drawing/2014/main" id="{0BB51CF4-2607-D6DD-8EBA-908CC5604BBC}"/>
              </a:ext>
            </a:extLst>
          </p:cNvPr>
          <p:cNvPicPr/>
          <p:nvPr/>
        </p:nvPicPr>
        <p:blipFill>
          <a:blip r:embed="rId3"/>
          <a:stretch>
            <a:fillRect/>
          </a:stretch>
        </p:blipFill>
        <p:spPr>
          <a:xfrm>
            <a:off x="-118532" y="-145263"/>
            <a:ext cx="1371600" cy="1390223"/>
          </a:xfrm>
          <a:prstGeom prst="rect">
            <a:avLst/>
          </a:prstGeom>
        </p:spPr>
      </p:pic>
      <p:pic>
        <p:nvPicPr>
          <p:cNvPr id="11" name="Picture 10">
            <a:extLst>
              <a:ext uri="{FF2B5EF4-FFF2-40B4-BE49-F238E27FC236}">
                <a16:creationId xmlns:a16="http://schemas.microsoft.com/office/drawing/2014/main" id="{BD1D0F6C-AC50-EBE7-A528-EA07C52DA6B2}"/>
              </a:ext>
            </a:extLst>
          </p:cNvPr>
          <p:cNvPicPr>
            <a:picLocks noChangeAspect="1"/>
          </p:cNvPicPr>
          <p:nvPr/>
        </p:nvPicPr>
        <p:blipFill>
          <a:blip r:embed="rId4"/>
          <a:stretch>
            <a:fillRect/>
          </a:stretch>
        </p:blipFill>
        <p:spPr>
          <a:xfrm>
            <a:off x="-118532" y="1111603"/>
            <a:ext cx="3073558" cy="133357"/>
          </a:xfrm>
          <a:prstGeom prst="rect">
            <a:avLst/>
          </a:prstGeom>
        </p:spPr>
      </p:pic>
      <p:sp>
        <p:nvSpPr>
          <p:cNvPr id="13" name="Shape 2">
            <a:extLst>
              <a:ext uri="{FF2B5EF4-FFF2-40B4-BE49-F238E27FC236}">
                <a16:creationId xmlns:a16="http://schemas.microsoft.com/office/drawing/2014/main" id="{6FA84914-F1F0-AECE-2593-73BAEB20DA1B}"/>
              </a:ext>
            </a:extLst>
          </p:cNvPr>
          <p:cNvSpPr/>
          <p:nvPr/>
        </p:nvSpPr>
        <p:spPr>
          <a:xfrm>
            <a:off x="93133" y="1256865"/>
            <a:ext cx="6599258" cy="4998969"/>
          </a:xfrm>
          <a:prstGeom prst="roundRect">
            <a:avLst>
              <a:gd name="adj" fmla="val 11303"/>
            </a:avLst>
          </a:prstGeom>
          <a:solidFill>
            <a:srgbClr val="D4E9F7"/>
          </a:solidFill>
          <a:ln w="7620">
            <a:solidFill>
              <a:srgbClr val="BACFDD"/>
            </a:solidFill>
            <a:prstDash val="solid"/>
          </a:ln>
        </p:spPr>
        <p:txBody>
          <a:bodyPr/>
          <a:lstStyle/>
          <a:p>
            <a:pPr>
              <a:lnSpc>
                <a:spcPts val="2350"/>
              </a:lnSpc>
            </a:pPr>
            <a:r>
              <a:rPr lang="vi-VN" b="1" dirty="0">
                <a:solidFill>
                  <a:srgbClr val="384653"/>
                </a:solidFill>
                <a:highlight>
                  <a:srgbClr val="00FFFF"/>
                </a:highlight>
                <a:latin typeface="+mj-lt"/>
                <a:ea typeface="Barlow Bold" panose="00000800000000000000" pitchFamily="34" charset="-122"/>
                <a:cs typeface="Barlow Bold" panose="00000800000000000000" pitchFamily="34" charset="-120"/>
              </a:rPr>
              <a:t>Backbone – trích xuất đặc trưng chung</a:t>
            </a:r>
            <a:endParaRPr lang="en-US" dirty="0">
              <a:highlight>
                <a:srgbClr val="00FFFF"/>
              </a:highlight>
              <a:latin typeface="+mj-lt"/>
            </a:endParaRPr>
          </a:p>
          <a:p>
            <a:r>
              <a:rPr lang="en-US" b="1" dirty="0" err="1">
                <a:latin typeface="Times New Roman" panose="02020603050405020304" pitchFamily="18" charset="0"/>
                <a:cs typeface="Times New Roman" panose="02020603050405020304" pitchFamily="18" charset="0"/>
              </a:rPr>
              <a:t>EfficientNet-B3</a:t>
            </a:r>
            <a:endParaRPr lang="en-US" b="1"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Nhiệm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vụ</a:t>
            </a:r>
            <a:r>
              <a:rPr lang="en-US" b="1"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Trích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xuất</a:t>
            </a:r>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feature ở </a:t>
            </a:r>
            <a:r>
              <a:rPr lang="en-US" b="1" dirty="0" err="1">
                <a:solidFill>
                  <a:srgbClr val="FF0000"/>
                </a:solidFill>
                <a:latin typeface="Times New Roman" panose="02020603050405020304" pitchFamily="18" charset="0"/>
                <a:cs typeface="Times New Roman" panose="02020603050405020304" pitchFamily="18" charset="0"/>
              </a:rPr>
              <a:t>nhiều</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mức</a:t>
            </a:r>
            <a:r>
              <a:rPr lang="en-US"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Cung </a:t>
            </a:r>
            <a:r>
              <a:rPr lang="en-US" dirty="0" err="1">
                <a:latin typeface="Times New Roman" panose="02020603050405020304" pitchFamily="18" charset="0"/>
                <a:cs typeface="Times New Roman" panose="02020603050405020304" pitchFamily="18" charset="0"/>
              </a:rPr>
              <a:t>cấp</a:t>
            </a:r>
            <a:r>
              <a:rPr lang="en-US" dirty="0">
                <a:latin typeface="Times New Roman" panose="02020603050405020304" pitchFamily="18" charset="0"/>
                <a:cs typeface="Times New Roman" panose="02020603050405020304" pitchFamily="18" charset="0"/>
              </a:rPr>
              <a:t> feature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nhiệm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phía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a:t>
            </a:r>
          </a:p>
          <a:p>
            <a:pPr lvl="0"/>
            <a:r>
              <a:rPr lang="en-US" dirty="0">
                <a:solidFill>
                  <a:schemeClr val="accent6"/>
                </a:solidFill>
              </a:rPr>
              <a:t> </a:t>
            </a:r>
            <a:r>
              <a:rPr lang="en-US" dirty="0" err="1">
                <a:solidFill>
                  <a:schemeClr val="accent6"/>
                </a:solidFill>
              </a:rPr>
              <a:t>EfficientNet-B3</a:t>
            </a:r>
            <a:r>
              <a:rPr lang="en-US" dirty="0">
                <a:solidFill>
                  <a:schemeClr val="accent6"/>
                </a:solidFill>
              </a:rPr>
              <a:t> </a:t>
            </a:r>
            <a:r>
              <a:rPr lang="en-US" dirty="0" err="1">
                <a:solidFill>
                  <a:schemeClr val="accent6"/>
                </a:solidFill>
              </a:rPr>
              <a:t>được</a:t>
            </a:r>
            <a:r>
              <a:rPr lang="en-US" dirty="0">
                <a:solidFill>
                  <a:schemeClr val="accent6"/>
                </a:solidFill>
              </a:rPr>
              <a:t> </a:t>
            </a:r>
            <a:r>
              <a:rPr lang="en-US" dirty="0" err="1">
                <a:solidFill>
                  <a:schemeClr val="accent6"/>
                </a:solidFill>
              </a:rPr>
              <a:t>chọn</a:t>
            </a:r>
            <a:r>
              <a:rPr lang="en-US" dirty="0">
                <a:solidFill>
                  <a:schemeClr val="accent6"/>
                </a:solidFill>
              </a:rPr>
              <a:t> </a:t>
            </a:r>
            <a:r>
              <a:rPr lang="en-US" dirty="0" err="1">
                <a:solidFill>
                  <a:schemeClr val="accent6"/>
                </a:solidFill>
              </a:rPr>
              <a:t>nhằm</a:t>
            </a:r>
            <a:r>
              <a:rPr lang="en-US" dirty="0">
                <a:solidFill>
                  <a:schemeClr val="accent6"/>
                </a:solidFill>
              </a:rPr>
              <a:t> </a:t>
            </a:r>
            <a:r>
              <a:rPr lang="en-US" dirty="0" err="1">
                <a:solidFill>
                  <a:schemeClr val="accent6"/>
                </a:solidFill>
              </a:rPr>
              <a:t>cân</a:t>
            </a:r>
            <a:r>
              <a:rPr lang="en-US" dirty="0">
                <a:solidFill>
                  <a:schemeClr val="accent6"/>
                </a:solidFill>
              </a:rPr>
              <a:t> </a:t>
            </a:r>
            <a:r>
              <a:rPr lang="en-US" dirty="0" err="1">
                <a:solidFill>
                  <a:schemeClr val="accent6"/>
                </a:solidFill>
              </a:rPr>
              <a:t>bằng</a:t>
            </a:r>
            <a:r>
              <a:rPr lang="en-US" dirty="0">
                <a:solidFill>
                  <a:schemeClr val="accent6"/>
                </a:solidFill>
              </a:rPr>
              <a:t> </a:t>
            </a:r>
            <a:r>
              <a:rPr lang="en-US" dirty="0" err="1">
                <a:solidFill>
                  <a:schemeClr val="accent6"/>
                </a:solidFill>
              </a:rPr>
              <a:t>giữa</a:t>
            </a:r>
            <a:r>
              <a:rPr lang="en-US" dirty="0">
                <a:solidFill>
                  <a:schemeClr val="accent6"/>
                </a:solidFill>
              </a:rPr>
              <a:t> </a:t>
            </a:r>
            <a:r>
              <a:rPr lang="en-US" dirty="0" err="1">
                <a:solidFill>
                  <a:schemeClr val="accent6"/>
                </a:solidFill>
              </a:rPr>
              <a:t>độ</a:t>
            </a:r>
            <a:r>
              <a:rPr lang="en-US" dirty="0">
                <a:solidFill>
                  <a:schemeClr val="accent6"/>
                </a:solidFill>
              </a:rPr>
              <a:t> </a:t>
            </a:r>
            <a:r>
              <a:rPr lang="en-US" dirty="0" err="1">
                <a:solidFill>
                  <a:schemeClr val="accent6"/>
                </a:solidFill>
              </a:rPr>
              <a:t>chính</a:t>
            </a:r>
            <a:r>
              <a:rPr lang="en-US" dirty="0">
                <a:solidFill>
                  <a:schemeClr val="accent6"/>
                </a:solidFill>
              </a:rPr>
              <a:t> </a:t>
            </a:r>
            <a:r>
              <a:rPr lang="en-US" dirty="0" err="1">
                <a:solidFill>
                  <a:schemeClr val="accent6"/>
                </a:solidFill>
              </a:rPr>
              <a:t>xác</a:t>
            </a:r>
            <a:r>
              <a:rPr lang="en-US" dirty="0">
                <a:solidFill>
                  <a:schemeClr val="accent6"/>
                </a:solidFill>
              </a:rPr>
              <a:t> </a:t>
            </a:r>
            <a:r>
              <a:rPr lang="en-US" dirty="0" err="1">
                <a:solidFill>
                  <a:schemeClr val="accent6"/>
                </a:solidFill>
              </a:rPr>
              <a:t>và</a:t>
            </a:r>
            <a:r>
              <a:rPr lang="en-US" dirty="0">
                <a:solidFill>
                  <a:schemeClr val="accent6"/>
                </a:solidFill>
              </a:rPr>
              <a:t> chi </a:t>
            </a:r>
            <a:r>
              <a:rPr lang="en-US" dirty="0" err="1">
                <a:solidFill>
                  <a:schemeClr val="accent6"/>
                </a:solidFill>
              </a:rPr>
              <a:t>phí</a:t>
            </a:r>
            <a:r>
              <a:rPr lang="en-US" dirty="0">
                <a:solidFill>
                  <a:schemeClr val="accent6"/>
                </a:solidFill>
              </a:rPr>
              <a:t> </a:t>
            </a:r>
            <a:r>
              <a:rPr lang="en-US" dirty="0" err="1">
                <a:solidFill>
                  <a:schemeClr val="accent6"/>
                </a:solidFill>
              </a:rPr>
              <a:t>tính</a:t>
            </a:r>
            <a:r>
              <a:rPr lang="en-US" dirty="0">
                <a:solidFill>
                  <a:schemeClr val="accent6"/>
                </a:solidFill>
              </a:rPr>
              <a:t> </a:t>
            </a:r>
            <a:r>
              <a:rPr lang="en-US" dirty="0" err="1">
                <a:solidFill>
                  <a:schemeClr val="accent6"/>
                </a:solidFill>
              </a:rPr>
              <a:t>toán</a:t>
            </a:r>
            <a:r>
              <a:rPr lang="en-US" dirty="0">
                <a:solidFill>
                  <a:schemeClr val="accent6"/>
                </a:solidFill>
              </a:rPr>
              <a:t>.</a:t>
            </a:r>
            <a:endParaRPr lang="en-US" dirty="0">
              <a:solidFill>
                <a:schemeClr val="accent6"/>
              </a:solidFill>
              <a:latin typeface="+mj-lt"/>
            </a:endParaRPr>
          </a:p>
          <a:p>
            <a:r>
              <a:rPr lang="vi-VN" b="1" dirty="0">
                <a:solidFill>
                  <a:srgbClr val="384653"/>
                </a:solidFill>
                <a:highlight>
                  <a:srgbClr val="00FFFF"/>
                </a:highlight>
                <a:latin typeface="+mj-lt"/>
                <a:ea typeface="Barlow Bold" panose="00000800000000000000" pitchFamily="34" charset="-122"/>
                <a:cs typeface="Barlow Bold" panose="00000800000000000000" pitchFamily="34" charset="-120"/>
              </a:rPr>
              <a:t>Neck</a:t>
            </a:r>
            <a:r>
              <a:rPr lang="en-US" b="1" dirty="0">
                <a:solidFill>
                  <a:srgbClr val="384653"/>
                </a:solidFill>
                <a:highlight>
                  <a:srgbClr val="00FFFF"/>
                </a:highlight>
                <a:latin typeface="+mj-lt"/>
                <a:ea typeface="Barlow Bold" panose="00000800000000000000" pitchFamily="34" charset="-122"/>
                <a:cs typeface="Barlow Bold" panose="00000800000000000000" pitchFamily="34" charset="-120"/>
              </a:rPr>
              <a:t> </a:t>
            </a:r>
          </a:p>
          <a:p>
            <a:r>
              <a:rPr lang="en-US" b="1" dirty="0">
                <a:latin typeface="Times New Roman" panose="02020603050405020304" pitchFamily="18" charset="0"/>
                <a:cs typeface="Times New Roman" panose="02020603050405020304" pitchFamily="18" charset="0"/>
              </a:rPr>
              <a:t>BiFPN – Bidirectional Feature Pyramid Network</a:t>
            </a:r>
            <a:endParaRPr lang="en-US"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Nhiệm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vụ</a:t>
            </a:r>
            <a:r>
              <a:rPr lang="en-US" b="1"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Lấy</a:t>
            </a:r>
            <a:r>
              <a:rPr lang="en-US" dirty="0">
                <a:latin typeface="Times New Roman" panose="02020603050405020304" pitchFamily="18" charset="0"/>
                <a:cs typeface="Times New Roman" panose="02020603050405020304" pitchFamily="18" charset="0"/>
              </a:rPr>
              <a:t> feature ở </a:t>
            </a:r>
            <a:r>
              <a:rPr lang="en-US" b="1" dirty="0" err="1">
                <a:solidFill>
                  <a:srgbClr val="FF0000"/>
                </a:solidFill>
                <a:latin typeface="Times New Roman" panose="02020603050405020304" pitchFamily="18" charset="0"/>
                <a:cs typeface="Times New Roman" panose="02020603050405020304" pitchFamily="18" charset="0"/>
              </a:rPr>
              <a:t>nhiều</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độ</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phân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giải</a:t>
            </a:r>
            <a:r>
              <a:rPr lang="en-US"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hướng</a:t>
            </a:r>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Top-down ↓, Bottom-up ↑</a:t>
            </a:r>
            <a:endParaRPr lang="en-US" dirty="0">
              <a:solidFill>
                <a:srgbClr val="FF0000"/>
              </a:solidFill>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Học </a:t>
            </a:r>
            <a:r>
              <a:rPr lang="en-US" b="1" dirty="0" err="1">
                <a:solidFill>
                  <a:srgbClr val="FF0000"/>
                </a:solidFill>
                <a:latin typeface="Times New Roman" panose="02020603050405020304" pitchFamily="18" charset="0"/>
                <a:cs typeface="Times New Roman" panose="02020603050405020304" pitchFamily="18" charset="0"/>
              </a:rPr>
              <a:t>trọng</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số</a:t>
            </a:r>
            <a:r>
              <a:rPr lang="en-US" dirty="0">
                <a:solidFill>
                  <a:srgbClr val="FF0000"/>
                </a:solidFill>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feature level </a:t>
            </a:r>
            <a:r>
              <a:rPr lang="en-US" dirty="0" err="1">
                <a:latin typeface="Times New Roman" panose="02020603050405020304" pitchFamily="18" charset="0"/>
                <a:cs typeface="Times New Roman" panose="02020603050405020304" pitchFamily="18" charset="0"/>
              </a:rPr>
              <a:t>nào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trọng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hơn</a:t>
            </a:r>
            <a:r>
              <a:rPr lang="en-US" dirty="0">
                <a:latin typeface="Times New Roman" panose="02020603050405020304" pitchFamily="18" charset="0"/>
                <a:cs typeface="Times New Roman" panose="02020603050405020304" pitchFamily="18" charset="0"/>
              </a:rPr>
              <a:t>.</a:t>
            </a:r>
          </a:p>
          <a:p>
            <a:pPr lvl="0"/>
            <a:r>
              <a:rPr lang="en-US" dirty="0">
                <a:solidFill>
                  <a:schemeClr val="accent6"/>
                </a:solidFill>
              </a:rPr>
              <a:t>BiFPN </a:t>
            </a:r>
            <a:r>
              <a:rPr lang="en-US" dirty="0" err="1">
                <a:solidFill>
                  <a:schemeClr val="accent6"/>
                </a:solidFill>
              </a:rPr>
              <a:t>giúp</a:t>
            </a:r>
            <a:r>
              <a:rPr lang="en-US" dirty="0">
                <a:solidFill>
                  <a:schemeClr val="accent6"/>
                </a:solidFill>
              </a:rPr>
              <a:t> </a:t>
            </a:r>
            <a:r>
              <a:rPr lang="en-US" dirty="0" err="1">
                <a:solidFill>
                  <a:schemeClr val="accent6"/>
                </a:solidFill>
              </a:rPr>
              <a:t>kết</a:t>
            </a:r>
            <a:r>
              <a:rPr lang="en-US" dirty="0">
                <a:solidFill>
                  <a:schemeClr val="accent6"/>
                </a:solidFill>
              </a:rPr>
              <a:t> </a:t>
            </a:r>
            <a:r>
              <a:rPr lang="en-US" dirty="0" err="1">
                <a:solidFill>
                  <a:schemeClr val="accent6"/>
                </a:solidFill>
              </a:rPr>
              <a:t>hợp</a:t>
            </a:r>
            <a:r>
              <a:rPr lang="en-US" dirty="0">
                <a:solidFill>
                  <a:schemeClr val="accent6"/>
                </a:solidFill>
              </a:rPr>
              <a:t> </a:t>
            </a:r>
            <a:r>
              <a:rPr lang="en-US" dirty="0" err="1">
                <a:solidFill>
                  <a:schemeClr val="accent6"/>
                </a:solidFill>
              </a:rPr>
              <a:t>thông</a:t>
            </a:r>
            <a:r>
              <a:rPr lang="en-US" dirty="0">
                <a:solidFill>
                  <a:schemeClr val="accent6"/>
                </a:solidFill>
              </a:rPr>
              <a:t> tin </a:t>
            </a:r>
            <a:r>
              <a:rPr lang="en-US" dirty="0" err="1">
                <a:solidFill>
                  <a:schemeClr val="accent6"/>
                </a:solidFill>
              </a:rPr>
              <a:t>ngữ</a:t>
            </a:r>
            <a:r>
              <a:rPr lang="en-US" dirty="0">
                <a:solidFill>
                  <a:schemeClr val="accent6"/>
                </a:solidFill>
              </a:rPr>
              <a:t> </a:t>
            </a:r>
            <a:r>
              <a:rPr lang="en-US" dirty="0" err="1">
                <a:solidFill>
                  <a:schemeClr val="accent6"/>
                </a:solidFill>
              </a:rPr>
              <a:t>nghĩa</a:t>
            </a:r>
            <a:r>
              <a:rPr lang="en-US" dirty="0">
                <a:solidFill>
                  <a:schemeClr val="accent6"/>
                </a:solidFill>
              </a:rPr>
              <a:t> </a:t>
            </a:r>
            <a:r>
              <a:rPr lang="en-US" dirty="0" err="1">
                <a:solidFill>
                  <a:schemeClr val="accent6"/>
                </a:solidFill>
              </a:rPr>
              <a:t>của</a:t>
            </a:r>
            <a:r>
              <a:rPr lang="en-US" dirty="0">
                <a:solidFill>
                  <a:schemeClr val="accent6"/>
                </a:solidFill>
              </a:rPr>
              <a:t> feature </a:t>
            </a:r>
            <a:r>
              <a:rPr lang="en-US" dirty="0" err="1">
                <a:solidFill>
                  <a:schemeClr val="accent6"/>
                </a:solidFill>
              </a:rPr>
              <a:t>sâu</a:t>
            </a:r>
            <a:r>
              <a:rPr lang="en-US" dirty="0">
                <a:solidFill>
                  <a:schemeClr val="accent6"/>
                </a:solidFill>
              </a:rPr>
              <a:t> </a:t>
            </a:r>
            <a:r>
              <a:rPr lang="en-US" dirty="0" err="1">
                <a:solidFill>
                  <a:schemeClr val="accent6"/>
                </a:solidFill>
              </a:rPr>
              <a:t>với</a:t>
            </a:r>
            <a:r>
              <a:rPr lang="en-US" dirty="0">
                <a:solidFill>
                  <a:schemeClr val="accent6"/>
                </a:solidFill>
              </a:rPr>
              <a:t> </a:t>
            </a:r>
            <a:r>
              <a:rPr lang="en-US" dirty="0" err="1">
                <a:solidFill>
                  <a:schemeClr val="accent6"/>
                </a:solidFill>
              </a:rPr>
              <a:t>thông</a:t>
            </a:r>
            <a:r>
              <a:rPr lang="en-US" dirty="0">
                <a:solidFill>
                  <a:schemeClr val="accent6"/>
                </a:solidFill>
              </a:rPr>
              <a:t> tin chi </a:t>
            </a:r>
            <a:r>
              <a:rPr lang="en-US" dirty="0" err="1">
                <a:solidFill>
                  <a:schemeClr val="accent6"/>
                </a:solidFill>
              </a:rPr>
              <a:t>tiết</a:t>
            </a:r>
            <a:r>
              <a:rPr lang="en-US" dirty="0">
                <a:solidFill>
                  <a:schemeClr val="accent6"/>
                </a:solidFill>
              </a:rPr>
              <a:t> </a:t>
            </a:r>
            <a:r>
              <a:rPr lang="en-US" dirty="0" err="1">
                <a:solidFill>
                  <a:schemeClr val="accent6"/>
                </a:solidFill>
              </a:rPr>
              <a:t>từ</a:t>
            </a:r>
            <a:r>
              <a:rPr lang="en-US" dirty="0">
                <a:solidFill>
                  <a:schemeClr val="accent6"/>
                </a:solidFill>
              </a:rPr>
              <a:t> </a:t>
            </a:r>
            <a:r>
              <a:rPr lang="en-US" dirty="0" err="1">
                <a:solidFill>
                  <a:schemeClr val="accent6"/>
                </a:solidFill>
              </a:rPr>
              <a:t>các</a:t>
            </a:r>
            <a:r>
              <a:rPr lang="en-US" dirty="0">
                <a:solidFill>
                  <a:schemeClr val="accent6"/>
                </a:solidFill>
              </a:rPr>
              <a:t> feature ở </a:t>
            </a:r>
            <a:r>
              <a:rPr lang="en-US" dirty="0" err="1">
                <a:solidFill>
                  <a:schemeClr val="accent6"/>
                </a:solidFill>
              </a:rPr>
              <a:t>nhiều</a:t>
            </a:r>
            <a:r>
              <a:rPr lang="en-US" dirty="0">
                <a:solidFill>
                  <a:schemeClr val="accent6"/>
                </a:solidFill>
              </a:rPr>
              <a:t> scale.</a:t>
            </a:r>
            <a:endParaRPr lang="en-US" dirty="0">
              <a:solidFill>
                <a:schemeClr val="accent6"/>
              </a:solidFill>
              <a:latin typeface="Times New Roman" panose="02020603050405020304" pitchFamily="18" charset="0"/>
              <a:cs typeface="Times New Roman" panose="02020603050405020304" pitchFamily="18" charset="0"/>
            </a:endParaRPr>
          </a:p>
          <a:p>
            <a:endParaRPr lang="en-US" dirty="0">
              <a:highlight>
                <a:srgbClr val="00FFFF"/>
              </a:highlight>
              <a:latin typeface="+mj-lt"/>
            </a:endParaRPr>
          </a:p>
          <a:p>
            <a:pPr lvl="0"/>
            <a:endParaRPr lang="en-US" dirty="0">
              <a:solidFill>
                <a:schemeClr val="accent6"/>
              </a:solidFill>
              <a:latin typeface="+mj-lt"/>
            </a:endParaRPr>
          </a:p>
        </p:txBody>
      </p:sp>
      <p:pic>
        <p:nvPicPr>
          <p:cNvPr id="15" name="Picture 14">
            <a:extLst>
              <a:ext uri="{FF2B5EF4-FFF2-40B4-BE49-F238E27FC236}">
                <a16:creationId xmlns:a16="http://schemas.microsoft.com/office/drawing/2014/main" id="{07908DF2-6A44-4827-20BF-B2EBCBE0F2FF}"/>
              </a:ext>
            </a:extLst>
          </p:cNvPr>
          <p:cNvPicPr>
            <a:picLocks noChangeAspect="1"/>
          </p:cNvPicPr>
          <p:nvPr/>
        </p:nvPicPr>
        <p:blipFill>
          <a:blip r:embed="rId5"/>
          <a:stretch>
            <a:fillRect/>
          </a:stretch>
        </p:blipFill>
        <p:spPr>
          <a:xfrm>
            <a:off x="7070535" y="1300614"/>
            <a:ext cx="7344444" cy="3756986"/>
          </a:xfrm>
          <a:prstGeom prst="rect">
            <a:avLst/>
          </a:prstGeom>
        </p:spPr>
      </p:pic>
      <p:sp>
        <p:nvSpPr>
          <p:cNvPr id="17" name="Shape 2">
            <a:extLst>
              <a:ext uri="{FF2B5EF4-FFF2-40B4-BE49-F238E27FC236}">
                <a16:creationId xmlns:a16="http://schemas.microsoft.com/office/drawing/2014/main" id="{3320B122-F33F-6FF3-6BC8-758258392CB0}"/>
              </a:ext>
            </a:extLst>
          </p:cNvPr>
          <p:cNvSpPr/>
          <p:nvPr/>
        </p:nvSpPr>
        <p:spPr>
          <a:xfrm>
            <a:off x="7003843" y="5373081"/>
            <a:ext cx="7533424" cy="2288272"/>
          </a:xfrm>
          <a:prstGeom prst="roundRect">
            <a:avLst>
              <a:gd name="adj" fmla="val 11303"/>
            </a:avLst>
          </a:prstGeom>
          <a:solidFill>
            <a:srgbClr val="D4E9F7"/>
          </a:solidFill>
          <a:ln w="7620">
            <a:solidFill>
              <a:srgbClr val="BACFDD"/>
            </a:solidFill>
            <a:prstDash val="solid"/>
          </a:ln>
        </p:spPr>
        <p:txBody>
          <a:bodyPr/>
          <a:lstStyle/>
          <a:p>
            <a:r>
              <a:rPr lang="en-US" b="1" dirty="0">
                <a:highlight>
                  <a:srgbClr val="00FFFF"/>
                </a:highlight>
                <a:latin typeface="Times New Roman" panose="02020603050405020304" pitchFamily="18" charset="0"/>
                <a:cs typeface="Times New Roman" panose="02020603050405020304" pitchFamily="18" charset="0"/>
              </a:rPr>
              <a:t>Detection Head</a:t>
            </a:r>
          </a:p>
          <a:p>
            <a:r>
              <a:rPr lang="en-US" b="1" dirty="0">
                <a:latin typeface="Times New Roman" panose="02020603050405020304" pitchFamily="18" charset="0"/>
                <a:cs typeface="Times New Roman" panose="02020603050405020304" pitchFamily="18" charset="0"/>
              </a:rPr>
              <a:t>Output:</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err="1">
                <a:solidFill>
                  <a:srgbClr val="FF0000"/>
                </a:solidFill>
                <a:latin typeface="Times New Roman" panose="02020603050405020304" pitchFamily="18" charset="0"/>
                <a:cs typeface="Times New Roman" panose="02020603050405020304" pitchFamily="18" charset="0"/>
              </a:rPr>
              <a:t>Bbox</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tiện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err="1">
                <a:solidFill>
                  <a:srgbClr val="FF0000"/>
                </a:solidFill>
                <a:latin typeface="Times New Roman" panose="02020603050405020304" pitchFamily="18" charset="0"/>
                <a:cs typeface="Times New Roman" panose="02020603050405020304" pitchFamily="18" charset="0"/>
              </a:rPr>
              <a:t>Cls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tượng</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solidFill>
                  <a:srgbClr val="FF0000"/>
                </a:solidFill>
                <a:latin typeface="Times New Roman" panose="02020603050405020304" pitchFamily="18" charset="0"/>
                <a:cs typeface="Times New Roman" panose="02020603050405020304" pitchFamily="18" charset="0"/>
              </a:rPr>
              <a:t>Confidence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cậy</a:t>
            </a:r>
            <a:endParaRPr lang="en-US" dirty="0">
              <a:latin typeface="Times New Roman" panose="02020603050405020304" pitchFamily="18" charset="0"/>
              <a:cs typeface="Times New Roman" panose="02020603050405020304" pitchFamily="18" charset="0"/>
            </a:endParaRPr>
          </a:p>
          <a:p>
            <a:r>
              <a:rPr lang="en-US" dirty="0" err="1">
                <a:solidFill>
                  <a:schemeClr val="accent6"/>
                </a:solidFill>
                <a:latin typeface="Times New Roman" panose="02020603050405020304" pitchFamily="18" charset="0"/>
                <a:cs typeface="Times New Roman" panose="02020603050405020304" pitchFamily="18" charset="0"/>
              </a:rPr>
              <a:t>HybridNets</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còn</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dùng</a:t>
            </a:r>
            <a:r>
              <a:rPr lang="en-US" dirty="0">
                <a:solidFill>
                  <a:schemeClr val="accent6"/>
                </a:solidFill>
                <a:latin typeface="Times New Roman" panose="02020603050405020304" pitchFamily="18" charset="0"/>
                <a:cs typeface="Times New Roman" panose="02020603050405020304" pitchFamily="18" charset="0"/>
              </a:rPr>
              <a:t> </a:t>
            </a:r>
            <a:r>
              <a:rPr lang="en-US" b="1" dirty="0">
                <a:solidFill>
                  <a:schemeClr val="accent6"/>
                </a:solidFill>
                <a:latin typeface="Times New Roman" panose="02020603050405020304" pitchFamily="18" charset="0"/>
                <a:cs typeface="Times New Roman" panose="02020603050405020304" pitchFamily="18" charset="0"/>
              </a:rPr>
              <a:t>customized anchors</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để</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phù</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hợp</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với</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kích</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thước</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vật</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thể</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trong</a:t>
            </a:r>
            <a:r>
              <a:rPr lang="en-US" dirty="0">
                <a:solidFill>
                  <a:schemeClr val="accent6"/>
                </a:solidFill>
                <a:latin typeface="Times New Roman" panose="02020603050405020304" pitchFamily="18" charset="0"/>
                <a:cs typeface="Times New Roman" panose="02020603050405020304" pitchFamily="18" charset="0"/>
              </a:rPr>
              <a:t> dataset, </a:t>
            </a:r>
            <a:r>
              <a:rPr lang="en-US" dirty="0" err="1">
                <a:solidFill>
                  <a:schemeClr val="accent6"/>
                </a:solidFill>
                <a:latin typeface="Times New Roman" panose="02020603050405020304" pitchFamily="18" charset="0"/>
                <a:cs typeface="Times New Roman" panose="02020603050405020304" pitchFamily="18" charset="0"/>
              </a:rPr>
              <a:t>đặc</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biệt</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hữu</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ích</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khi</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có</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xe</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lớn</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gần</a:t>
            </a:r>
            <a:r>
              <a:rPr lang="en-US" dirty="0">
                <a:solidFill>
                  <a:schemeClr val="accent6"/>
                </a:solidFill>
                <a:latin typeface="Times New Roman" panose="02020603050405020304" pitchFamily="18" charset="0"/>
                <a:cs typeface="Times New Roman" panose="02020603050405020304" pitchFamily="18" charset="0"/>
              </a:rPr>
              <a:t> camera </a:t>
            </a:r>
            <a:r>
              <a:rPr lang="en-US" dirty="0" err="1">
                <a:solidFill>
                  <a:schemeClr val="accent6"/>
                </a:solidFill>
                <a:latin typeface="Times New Roman" panose="02020603050405020304" pitchFamily="18" charset="0"/>
                <a:cs typeface="Times New Roman" panose="02020603050405020304" pitchFamily="18" charset="0"/>
              </a:rPr>
              <a:t>và</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xe</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rất</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nhỏ</a:t>
            </a:r>
            <a:r>
              <a:rPr lang="en-US" dirty="0">
                <a:solidFill>
                  <a:schemeClr val="accent6"/>
                </a:solidFill>
                <a:latin typeface="Times New Roman" panose="02020603050405020304" pitchFamily="18" charset="0"/>
                <a:cs typeface="Times New Roman" panose="02020603050405020304" pitchFamily="18" charset="0"/>
              </a:rPr>
              <a:t> ở xa</a:t>
            </a:r>
          </a:p>
          <a:p>
            <a:endParaRPr lang="en-US" dirty="0"/>
          </a:p>
        </p:txBody>
      </p:sp>
    </p:spTree>
    <p:extLst>
      <p:ext uri="{BB962C8B-B14F-4D97-AF65-F5344CB8AC3E}">
        <p14:creationId xmlns:p14="http://schemas.microsoft.com/office/powerpoint/2010/main" val="217935871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18B0C4-3018-6706-BAFC-2851CDBBB11A}"/>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6" name="Shape 2">
            <a:extLst>
              <a:ext uri="{FF2B5EF4-FFF2-40B4-BE49-F238E27FC236}">
                <a16:creationId xmlns:a16="http://schemas.microsoft.com/office/drawing/2014/main" id="{F1CACA3D-B9C4-25B3-6CFB-D76541F42ED2}"/>
              </a:ext>
            </a:extLst>
          </p:cNvPr>
          <p:cNvSpPr/>
          <p:nvPr/>
        </p:nvSpPr>
        <p:spPr>
          <a:xfrm>
            <a:off x="6968067" y="1178281"/>
            <a:ext cx="7569200" cy="4072467"/>
          </a:xfrm>
          <a:prstGeom prst="roundRect">
            <a:avLst>
              <a:gd name="adj" fmla="val 11303"/>
            </a:avLst>
          </a:prstGeom>
          <a:solidFill>
            <a:srgbClr val="D4E9F7"/>
          </a:solidFill>
          <a:ln w="7620">
            <a:solidFill>
              <a:srgbClr val="BACFDD"/>
            </a:solidFill>
            <a:prstDash val="solid"/>
          </a:ln>
        </p:spPr>
        <p:txBody>
          <a:bodyPr/>
          <a:lstStyle/>
          <a:p>
            <a:endParaRPr lang="en-US" dirty="0"/>
          </a:p>
        </p:txBody>
      </p:sp>
      <p:graphicFrame>
        <p:nvGraphicFramePr>
          <p:cNvPr id="8" name="Table 7">
            <a:extLst>
              <a:ext uri="{FF2B5EF4-FFF2-40B4-BE49-F238E27FC236}">
                <a16:creationId xmlns:a16="http://schemas.microsoft.com/office/drawing/2014/main" id="{E17151BC-BAA7-71DB-53BE-2C639126E71A}"/>
              </a:ext>
            </a:extLst>
          </p:cNvPr>
          <p:cNvGraphicFramePr>
            <a:graphicFrameLocks noGrp="1"/>
          </p:cNvGraphicFramePr>
          <p:nvPr>
            <p:extLst>
              <p:ext uri="{D42A27DB-BD31-4B8C-83A1-F6EECF244321}">
                <p14:modId xmlns:p14="http://schemas.microsoft.com/office/powerpoint/2010/main" val="2956298399"/>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en-US"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2</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10" name="Picture 9">
            <a:extLst>
              <a:ext uri="{FF2B5EF4-FFF2-40B4-BE49-F238E27FC236}">
                <a16:creationId xmlns:a16="http://schemas.microsoft.com/office/drawing/2014/main" id="{7A23CC03-B0FF-81C0-5C88-CA07E07DE2B9}"/>
              </a:ext>
            </a:extLst>
          </p:cNvPr>
          <p:cNvPicPr/>
          <p:nvPr/>
        </p:nvPicPr>
        <p:blipFill>
          <a:blip r:embed="rId3"/>
          <a:stretch>
            <a:fillRect/>
          </a:stretch>
        </p:blipFill>
        <p:spPr>
          <a:xfrm>
            <a:off x="-118532" y="-145263"/>
            <a:ext cx="1371600" cy="1390223"/>
          </a:xfrm>
          <a:prstGeom prst="rect">
            <a:avLst/>
          </a:prstGeom>
        </p:spPr>
      </p:pic>
      <p:pic>
        <p:nvPicPr>
          <p:cNvPr id="12" name="Picture 11">
            <a:extLst>
              <a:ext uri="{FF2B5EF4-FFF2-40B4-BE49-F238E27FC236}">
                <a16:creationId xmlns:a16="http://schemas.microsoft.com/office/drawing/2014/main" id="{A435D50C-9455-E0E0-EBBC-850987A5A6EA}"/>
              </a:ext>
            </a:extLst>
          </p:cNvPr>
          <p:cNvPicPr>
            <a:picLocks noChangeAspect="1"/>
          </p:cNvPicPr>
          <p:nvPr/>
        </p:nvPicPr>
        <p:blipFill>
          <a:blip r:embed="rId4"/>
          <a:stretch>
            <a:fillRect/>
          </a:stretch>
        </p:blipFill>
        <p:spPr>
          <a:xfrm>
            <a:off x="-118532" y="1111603"/>
            <a:ext cx="3073558" cy="133357"/>
          </a:xfrm>
          <a:prstGeom prst="rect">
            <a:avLst/>
          </a:prstGeom>
        </p:spPr>
      </p:pic>
      <p:pic>
        <p:nvPicPr>
          <p:cNvPr id="14" name="Picture 13">
            <a:extLst>
              <a:ext uri="{FF2B5EF4-FFF2-40B4-BE49-F238E27FC236}">
                <a16:creationId xmlns:a16="http://schemas.microsoft.com/office/drawing/2014/main" id="{04450640-D67D-D162-733A-94A19F4879A9}"/>
              </a:ext>
            </a:extLst>
          </p:cNvPr>
          <p:cNvPicPr>
            <a:picLocks noChangeAspect="1"/>
          </p:cNvPicPr>
          <p:nvPr/>
        </p:nvPicPr>
        <p:blipFill>
          <a:blip r:embed="rId5"/>
          <a:stretch>
            <a:fillRect/>
          </a:stretch>
        </p:blipFill>
        <p:spPr>
          <a:xfrm>
            <a:off x="7070535" y="1300614"/>
            <a:ext cx="7344444" cy="3756986"/>
          </a:xfrm>
          <a:prstGeom prst="rect">
            <a:avLst/>
          </a:prstGeom>
        </p:spPr>
      </p:pic>
      <p:sp>
        <p:nvSpPr>
          <p:cNvPr id="16" name="Shape 2">
            <a:extLst>
              <a:ext uri="{FF2B5EF4-FFF2-40B4-BE49-F238E27FC236}">
                <a16:creationId xmlns:a16="http://schemas.microsoft.com/office/drawing/2014/main" id="{284DDD7D-1289-4123-428D-B1215603C05E}"/>
              </a:ext>
            </a:extLst>
          </p:cNvPr>
          <p:cNvSpPr/>
          <p:nvPr/>
        </p:nvSpPr>
        <p:spPr>
          <a:xfrm>
            <a:off x="-19126" y="1423677"/>
            <a:ext cx="6864905" cy="5423172"/>
          </a:xfrm>
          <a:prstGeom prst="roundRect">
            <a:avLst>
              <a:gd name="adj" fmla="val 11303"/>
            </a:avLst>
          </a:prstGeom>
          <a:solidFill>
            <a:srgbClr val="D4E9F7"/>
          </a:solidFill>
          <a:ln w="7620">
            <a:solidFill>
              <a:srgbClr val="BACFDD"/>
            </a:solidFill>
            <a:prstDash val="solid"/>
          </a:ln>
        </p:spPr>
        <p:txBody>
          <a:bodyPr/>
          <a:lstStyle/>
          <a:p>
            <a:r>
              <a:rPr lang="en-US" b="1" dirty="0">
                <a:highlight>
                  <a:srgbClr val="00FFFF"/>
                </a:highlight>
                <a:latin typeface="Times New Roman" panose="02020603050405020304" pitchFamily="18" charset="0"/>
                <a:cs typeface="Times New Roman" panose="02020603050405020304" pitchFamily="18" charset="0"/>
              </a:rPr>
              <a:t>Detection Head</a:t>
            </a:r>
          </a:p>
          <a:p>
            <a:r>
              <a:rPr lang="en-US" b="1" dirty="0">
                <a:latin typeface="Times New Roman" panose="02020603050405020304" pitchFamily="18" charset="0"/>
                <a:cs typeface="Times New Roman" panose="02020603050405020304" pitchFamily="18" charset="0"/>
              </a:rPr>
              <a:t>Output:</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err="1">
                <a:solidFill>
                  <a:srgbClr val="FF0000"/>
                </a:solidFill>
                <a:latin typeface="Times New Roman" panose="02020603050405020304" pitchFamily="18" charset="0"/>
                <a:cs typeface="Times New Roman" panose="02020603050405020304" pitchFamily="18" charset="0"/>
              </a:rPr>
              <a:t>Bbox</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phương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tiện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err="1">
                <a:solidFill>
                  <a:srgbClr val="FF0000"/>
                </a:solidFill>
                <a:latin typeface="Times New Roman" panose="02020603050405020304" pitchFamily="18" charset="0"/>
                <a:cs typeface="Times New Roman" panose="02020603050405020304" pitchFamily="18" charset="0"/>
              </a:rPr>
              <a:t>Cls</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tượng</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solidFill>
                  <a:srgbClr val="FF0000"/>
                </a:solidFill>
                <a:latin typeface="Times New Roman" panose="02020603050405020304" pitchFamily="18" charset="0"/>
                <a:cs typeface="Times New Roman" panose="02020603050405020304" pitchFamily="18" charset="0"/>
              </a:rPr>
              <a:t>Confidence</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cậy</a:t>
            </a:r>
            <a:endParaRPr lang="en-US" dirty="0">
              <a:latin typeface="Times New Roman" panose="02020603050405020304" pitchFamily="18" charset="0"/>
              <a:cs typeface="Times New Roman" panose="02020603050405020304" pitchFamily="18" charset="0"/>
            </a:endParaRPr>
          </a:p>
          <a:p>
            <a:r>
              <a:rPr lang="en-US" dirty="0" err="1">
                <a:solidFill>
                  <a:schemeClr val="accent6"/>
                </a:solidFill>
                <a:latin typeface="Times New Roman" panose="02020603050405020304" pitchFamily="18" charset="0"/>
                <a:cs typeface="Times New Roman" panose="02020603050405020304" pitchFamily="18" charset="0"/>
              </a:rPr>
              <a:t>HybridNets</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còn</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dùng</a:t>
            </a:r>
            <a:r>
              <a:rPr lang="en-US" dirty="0">
                <a:solidFill>
                  <a:schemeClr val="accent6"/>
                </a:solidFill>
                <a:latin typeface="Times New Roman" panose="02020603050405020304" pitchFamily="18" charset="0"/>
                <a:cs typeface="Times New Roman" panose="02020603050405020304" pitchFamily="18" charset="0"/>
              </a:rPr>
              <a:t> </a:t>
            </a:r>
            <a:r>
              <a:rPr lang="en-US" b="1" dirty="0">
                <a:solidFill>
                  <a:schemeClr val="accent6"/>
                </a:solidFill>
                <a:latin typeface="Times New Roman" panose="02020603050405020304" pitchFamily="18" charset="0"/>
                <a:cs typeface="Times New Roman" panose="02020603050405020304" pitchFamily="18" charset="0"/>
              </a:rPr>
              <a:t>customized anchors</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để</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phù</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hợp</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với</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kích</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thước</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vật</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thể</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trong</a:t>
            </a:r>
            <a:r>
              <a:rPr lang="en-US" dirty="0">
                <a:solidFill>
                  <a:schemeClr val="accent6"/>
                </a:solidFill>
                <a:latin typeface="Times New Roman" panose="02020603050405020304" pitchFamily="18" charset="0"/>
                <a:cs typeface="Times New Roman" panose="02020603050405020304" pitchFamily="18" charset="0"/>
              </a:rPr>
              <a:t> dataset, </a:t>
            </a:r>
            <a:r>
              <a:rPr lang="en-US" dirty="0" err="1">
                <a:solidFill>
                  <a:schemeClr val="accent6"/>
                </a:solidFill>
                <a:latin typeface="Times New Roman" panose="02020603050405020304" pitchFamily="18" charset="0"/>
                <a:cs typeface="Times New Roman" panose="02020603050405020304" pitchFamily="18" charset="0"/>
              </a:rPr>
              <a:t>đặc</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biệt</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hữu</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ích</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khi</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có</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xe</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lớn</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gần</a:t>
            </a:r>
            <a:r>
              <a:rPr lang="en-US" dirty="0">
                <a:solidFill>
                  <a:schemeClr val="accent6"/>
                </a:solidFill>
                <a:latin typeface="Times New Roman" panose="02020603050405020304" pitchFamily="18" charset="0"/>
                <a:cs typeface="Times New Roman" panose="02020603050405020304" pitchFamily="18" charset="0"/>
              </a:rPr>
              <a:t> camera </a:t>
            </a:r>
            <a:r>
              <a:rPr lang="en-US" dirty="0" err="1">
                <a:solidFill>
                  <a:schemeClr val="accent6"/>
                </a:solidFill>
                <a:latin typeface="Times New Roman" panose="02020603050405020304" pitchFamily="18" charset="0"/>
                <a:cs typeface="Times New Roman" panose="02020603050405020304" pitchFamily="18" charset="0"/>
              </a:rPr>
              <a:t>và</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xe</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rất</a:t>
            </a:r>
            <a:r>
              <a:rPr lang="en-US" dirty="0">
                <a:solidFill>
                  <a:schemeClr val="accent6"/>
                </a:solidFill>
                <a:latin typeface="Times New Roman" panose="02020603050405020304" pitchFamily="18" charset="0"/>
                <a:cs typeface="Times New Roman" panose="02020603050405020304" pitchFamily="18" charset="0"/>
              </a:rPr>
              <a:t> </a:t>
            </a:r>
            <a:r>
              <a:rPr lang="en-US" dirty="0" err="1">
                <a:solidFill>
                  <a:schemeClr val="accent6"/>
                </a:solidFill>
                <a:latin typeface="Times New Roman" panose="02020603050405020304" pitchFamily="18" charset="0"/>
                <a:cs typeface="Times New Roman" panose="02020603050405020304" pitchFamily="18" charset="0"/>
              </a:rPr>
              <a:t>nhỏ</a:t>
            </a:r>
            <a:r>
              <a:rPr lang="en-US" dirty="0">
                <a:solidFill>
                  <a:schemeClr val="accent6"/>
                </a:solidFill>
                <a:latin typeface="Times New Roman" panose="02020603050405020304" pitchFamily="18" charset="0"/>
                <a:cs typeface="Times New Roman" panose="02020603050405020304" pitchFamily="18" charset="0"/>
              </a:rPr>
              <a:t> ở xa</a:t>
            </a:r>
          </a:p>
          <a:p>
            <a:r>
              <a:rPr lang="en-US" b="1" dirty="0">
                <a:highlight>
                  <a:srgbClr val="00FFFF"/>
                </a:highlight>
                <a:latin typeface="Times New Roman" panose="02020603050405020304" pitchFamily="18" charset="0"/>
                <a:cs typeface="Times New Roman" panose="02020603050405020304" pitchFamily="18" charset="0"/>
              </a:rPr>
              <a:t>Segmentation Head</a:t>
            </a:r>
          </a:p>
          <a:p>
            <a:r>
              <a:rPr lang="en-US" dirty="0" err="1">
                <a:latin typeface="Times New Roman" panose="02020603050405020304" pitchFamily="18" charset="0"/>
                <a:cs typeface="Times New Roman" panose="02020603050405020304" pitchFamily="18" charset="0"/>
              </a:rPr>
              <a:t>HybridNets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object </a:t>
            </a:r>
            <a:r>
              <a:rPr lang="en-US" dirty="0" err="1">
                <a:latin typeface="Times New Roman" panose="02020603050405020304" pitchFamily="18" charset="0"/>
                <a:cs typeface="Times New Roman" panose="02020603050405020304" pitchFamily="18" charset="0"/>
              </a:rPr>
              <a:t>mà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còn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semantic segmentation</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Segmentation Head </a:t>
            </a: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mỗi</a:t>
            </a:r>
            <a:r>
              <a:rPr lang="en-US" dirty="0">
                <a:latin typeface="Times New Roman" panose="02020603050405020304" pitchFamily="18" charset="0"/>
                <a:cs typeface="Times New Roman" panose="02020603050405020304" pitchFamily="18" charset="0"/>
              </a:rPr>
              <a:t> pixel </a:t>
            </a:r>
            <a:r>
              <a:rPr lang="en-US" dirty="0" err="1">
                <a:latin typeface="Times New Roman" panose="02020603050405020304" pitchFamily="18" charset="0"/>
                <a:cs typeface="Times New Roman" panose="02020603050405020304" pitchFamily="18" charset="0"/>
              </a:rPr>
              <a:t>thành</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3 </a:t>
            </a:r>
            <a:r>
              <a:rPr lang="en-US" b="1" dirty="0" err="1">
                <a:latin typeface="Times New Roman" panose="02020603050405020304" pitchFamily="18" charset="0"/>
                <a:cs typeface="Times New Roman" panose="02020603050405020304" pitchFamily="18" charset="0"/>
              </a:rPr>
              <a:t>lớp</a:t>
            </a:r>
            <a:r>
              <a:rPr lang="en-US"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Background </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Drivable Area </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Lane Line </a:t>
            </a:r>
          </a:p>
          <a:p>
            <a:pPr lvl="0"/>
            <a:r>
              <a:rPr lang="en-US" dirty="0">
                <a:solidFill>
                  <a:schemeClr val="accent6"/>
                </a:solidFill>
              </a:rPr>
              <a:t>Feature </a:t>
            </a:r>
            <a:r>
              <a:rPr lang="en-US" dirty="0" err="1">
                <a:solidFill>
                  <a:schemeClr val="accent6"/>
                </a:solidFill>
              </a:rPr>
              <a:t>từ</a:t>
            </a:r>
            <a:r>
              <a:rPr lang="en-US" dirty="0">
                <a:solidFill>
                  <a:schemeClr val="accent6"/>
                </a:solidFill>
              </a:rPr>
              <a:t> </a:t>
            </a:r>
            <a:r>
              <a:rPr lang="en-US" dirty="0" err="1">
                <a:solidFill>
                  <a:schemeClr val="accent6"/>
                </a:solidFill>
              </a:rPr>
              <a:t>nhiều</a:t>
            </a:r>
            <a:r>
              <a:rPr lang="en-US" dirty="0">
                <a:solidFill>
                  <a:schemeClr val="accent6"/>
                </a:solidFill>
              </a:rPr>
              <a:t> </a:t>
            </a:r>
            <a:r>
              <a:rPr lang="en-US" dirty="0" err="1">
                <a:solidFill>
                  <a:schemeClr val="accent6"/>
                </a:solidFill>
              </a:rPr>
              <a:t>mức</a:t>
            </a:r>
            <a:r>
              <a:rPr lang="en-US" dirty="0">
                <a:solidFill>
                  <a:schemeClr val="accent6"/>
                </a:solidFill>
              </a:rPr>
              <a:t> </a:t>
            </a:r>
            <a:r>
              <a:rPr lang="en-US" dirty="0" err="1">
                <a:solidFill>
                  <a:schemeClr val="accent6"/>
                </a:solidFill>
              </a:rPr>
              <a:t>của</a:t>
            </a:r>
            <a:r>
              <a:rPr lang="en-US" dirty="0">
                <a:solidFill>
                  <a:schemeClr val="accent6"/>
                </a:solidFill>
              </a:rPr>
              <a:t> BiFPN </a:t>
            </a:r>
            <a:r>
              <a:rPr lang="en-US" dirty="0" err="1">
                <a:solidFill>
                  <a:schemeClr val="accent6"/>
                </a:solidFill>
              </a:rPr>
              <a:t>được</a:t>
            </a:r>
            <a:r>
              <a:rPr lang="en-US" dirty="0">
                <a:solidFill>
                  <a:schemeClr val="accent6"/>
                </a:solidFill>
              </a:rPr>
              <a:t> </a:t>
            </a:r>
            <a:r>
              <a:rPr lang="en-US" b="1" dirty="0" err="1">
                <a:solidFill>
                  <a:schemeClr val="accent6"/>
                </a:solidFill>
              </a:rPr>
              <a:t>upsample</a:t>
            </a:r>
            <a:r>
              <a:rPr lang="en-US" b="1" dirty="0">
                <a:solidFill>
                  <a:schemeClr val="accent6"/>
                </a:solidFill>
              </a:rPr>
              <a:t> </a:t>
            </a:r>
            <a:r>
              <a:rPr lang="en-US" b="1" dirty="0" err="1">
                <a:solidFill>
                  <a:schemeClr val="accent6"/>
                </a:solidFill>
              </a:rPr>
              <a:t>về</a:t>
            </a:r>
            <a:r>
              <a:rPr lang="en-US" b="1" dirty="0">
                <a:solidFill>
                  <a:schemeClr val="accent6"/>
                </a:solidFill>
              </a:rPr>
              <a:t> </a:t>
            </a:r>
            <a:r>
              <a:rPr lang="en-US" b="1" dirty="0" err="1">
                <a:solidFill>
                  <a:schemeClr val="accent6"/>
                </a:solidFill>
              </a:rPr>
              <a:t>cùng</a:t>
            </a:r>
            <a:r>
              <a:rPr lang="en-US" b="1" dirty="0">
                <a:solidFill>
                  <a:schemeClr val="accent6"/>
                </a:solidFill>
              </a:rPr>
              <a:t> </a:t>
            </a:r>
            <a:r>
              <a:rPr lang="en-US" b="1" dirty="0" err="1">
                <a:solidFill>
                  <a:schemeClr val="accent6"/>
                </a:solidFill>
              </a:rPr>
              <a:t>kích</a:t>
            </a:r>
            <a:r>
              <a:rPr lang="en-US" b="1" dirty="0">
                <a:solidFill>
                  <a:schemeClr val="accent6"/>
                </a:solidFill>
              </a:rPr>
              <a:t> </a:t>
            </a:r>
            <a:r>
              <a:rPr lang="en-US" b="1" dirty="0" err="1">
                <a:solidFill>
                  <a:schemeClr val="accent6"/>
                </a:solidFill>
              </a:rPr>
              <a:t>thước</a:t>
            </a:r>
            <a:r>
              <a:rPr lang="en-US" b="1" dirty="0">
                <a:solidFill>
                  <a:schemeClr val="accent6"/>
                </a:solidFill>
              </a:rPr>
              <a:t> → </a:t>
            </a:r>
            <a:r>
              <a:rPr lang="en-US" b="1" dirty="0" err="1">
                <a:solidFill>
                  <a:schemeClr val="accent6"/>
                </a:solidFill>
              </a:rPr>
              <a:t>kết</a:t>
            </a:r>
            <a:r>
              <a:rPr lang="en-US" b="1" dirty="0">
                <a:solidFill>
                  <a:schemeClr val="accent6"/>
                </a:solidFill>
              </a:rPr>
              <a:t> </a:t>
            </a:r>
            <a:r>
              <a:rPr lang="en-US" b="1" dirty="0" err="1">
                <a:solidFill>
                  <a:schemeClr val="accent6"/>
                </a:solidFill>
              </a:rPr>
              <a:t>hợp</a:t>
            </a:r>
            <a:r>
              <a:rPr lang="en-US" b="1" dirty="0">
                <a:solidFill>
                  <a:schemeClr val="accent6"/>
                </a:solidFill>
              </a:rPr>
              <a:t> → </a:t>
            </a:r>
            <a:r>
              <a:rPr lang="en-US" b="1" dirty="0" err="1">
                <a:solidFill>
                  <a:schemeClr val="accent6"/>
                </a:solidFill>
              </a:rPr>
              <a:t>tạo</a:t>
            </a:r>
            <a:r>
              <a:rPr lang="en-US" b="1" dirty="0">
                <a:solidFill>
                  <a:schemeClr val="accent6"/>
                </a:solidFill>
              </a:rPr>
              <a:t> segmentation mask </a:t>
            </a:r>
            <a:r>
              <a:rPr lang="en-US" b="1" dirty="0" err="1">
                <a:solidFill>
                  <a:schemeClr val="accent6"/>
                </a:solidFill>
              </a:rPr>
              <a:t>cuối</a:t>
            </a:r>
            <a:r>
              <a:rPr lang="en-US" b="1" dirty="0">
                <a:solidFill>
                  <a:schemeClr val="accent6"/>
                </a:solidFill>
              </a:rPr>
              <a:t> </a:t>
            </a:r>
            <a:r>
              <a:rPr lang="en-US" b="1" dirty="0" err="1">
                <a:solidFill>
                  <a:schemeClr val="accent6"/>
                </a:solidFill>
              </a:rPr>
              <a:t>cùng</a:t>
            </a:r>
            <a:r>
              <a:rPr lang="en-US" dirty="0">
                <a:solidFill>
                  <a:schemeClr val="accent6"/>
                </a:solidFill>
              </a:rPr>
              <a:t>.</a:t>
            </a:r>
            <a:endParaRPr lang="en-US" dirty="0">
              <a:solidFill>
                <a:schemeClr val="accent6"/>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158243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62DAD5-E692-A4F4-773B-B5999727308D}"/>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6" name="Shape 2">
            <a:extLst>
              <a:ext uri="{FF2B5EF4-FFF2-40B4-BE49-F238E27FC236}">
                <a16:creationId xmlns:a16="http://schemas.microsoft.com/office/drawing/2014/main" id="{6E546619-A02D-9DA7-312C-ACB0946F14BE}"/>
              </a:ext>
            </a:extLst>
          </p:cNvPr>
          <p:cNvSpPr/>
          <p:nvPr/>
        </p:nvSpPr>
        <p:spPr>
          <a:xfrm>
            <a:off x="8196146" y="2874200"/>
            <a:ext cx="5932449" cy="5353342"/>
          </a:xfrm>
          <a:prstGeom prst="roundRect">
            <a:avLst>
              <a:gd name="adj" fmla="val 11303"/>
            </a:avLst>
          </a:prstGeom>
          <a:solidFill>
            <a:srgbClr val="D4E9F7"/>
          </a:solidFill>
          <a:ln w="7620">
            <a:solidFill>
              <a:srgbClr val="BACFDD"/>
            </a:solidFill>
            <a:prstDash val="solid"/>
          </a:ln>
        </p:spPr>
        <p:txBody>
          <a:bodyPr/>
          <a:lstStyle/>
          <a:p>
            <a:endParaRPr lang="en-US" dirty="0"/>
          </a:p>
        </p:txBody>
      </p:sp>
      <p:graphicFrame>
        <p:nvGraphicFramePr>
          <p:cNvPr id="8" name="Table 7">
            <a:extLst>
              <a:ext uri="{FF2B5EF4-FFF2-40B4-BE49-F238E27FC236}">
                <a16:creationId xmlns:a16="http://schemas.microsoft.com/office/drawing/2014/main" id="{38A6D698-BB33-21DA-9255-92A8334F4665}"/>
              </a:ext>
            </a:extLst>
          </p:cNvPr>
          <p:cNvGraphicFramePr>
            <a:graphicFrameLocks noGrp="1"/>
          </p:cNvGraphicFramePr>
          <p:nvPr>
            <p:extLst>
              <p:ext uri="{D42A27DB-BD31-4B8C-83A1-F6EECF244321}">
                <p14:modId xmlns:p14="http://schemas.microsoft.com/office/powerpoint/2010/main" val="2757876132"/>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en-US"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2</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10" name="Picture 9">
            <a:extLst>
              <a:ext uri="{FF2B5EF4-FFF2-40B4-BE49-F238E27FC236}">
                <a16:creationId xmlns:a16="http://schemas.microsoft.com/office/drawing/2014/main" id="{40D053B9-9F77-3F23-605B-302720CC6208}"/>
              </a:ext>
            </a:extLst>
          </p:cNvPr>
          <p:cNvPicPr/>
          <p:nvPr/>
        </p:nvPicPr>
        <p:blipFill>
          <a:blip r:embed="rId3"/>
          <a:stretch>
            <a:fillRect/>
          </a:stretch>
        </p:blipFill>
        <p:spPr>
          <a:xfrm>
            <a:off x="-118532" y="-145263"/>
            <a:ext cx="1371600" cy="1390223"/>
          </a:xfrm>
          <a:prstGeom prst="rect">
            <a:avLst/>
          </a:prstGeom>
        </p:spPr>
      </p:pic>
      <p:pic>
        <p:nvPicPr>
          <p:cNvPr id="12" name="Picture 11">
            <a:extLst>
              <a:ext uri="{FF2B5EF4-FFF2-40B4-BE49-F238E27FC236}">
                <a16:creationId xmlns:a16="http://schemas.microsoft.com/office/drawing/2014/main" id="{CC55243F-2D74-FE11-1825-5498424A8C0B}"/>
              </a:ext>
            </a:extLst>
          </p:cNvPr>
          <p:cNvPicPr>
            <a:picLocks noChangeAspect="1"/>
          </p:cNvPicPr>
          <p:nvPr/>
        </p:nvPicPr>
        <p:blipFill>
          <a:blip r:embed="rId4"/>
          <a:stretch>
            <a:fillRect/>
          </a:stretch>
        </p:blipFill>
        <p:spPr>
          <a:xfrm>
            <a:off x="-118532" y="1111603"/>
            <a:ext cx="3073558" cy="133357"/>
          </a:xfrm>
          <a:prstGeom prst="rect">
            <a:avLst/>
          </a:prstGeom>
        </p:spPr>
      </p:pic>
      <p:sp>
        <p:nvSpPr>
          <p:cNvPr id="14" name="Shape 2">
            <a:extLst>
              <a:ext uri="{FF2B5EF4-FFF2-40B4-BE49-F238E27FC236}">
                <a16:creationId xmlns:a16="http://schemas.microsoft.com/office/drawing/2014/main" id="{44DE9F16-6864-CEFD-8B2B-A64F058637E1}"/>
              </a:ext>
            </a:extLst>
          </p:cNvPr>
          <p:cNvSpPr/>
          <p:nvPr/>
        </p:nvSpPr>
        <p:spPr>
          <a:xfrm>
            <a:off x="3882747" y="1192987"/>
            <a:ext cx="6864905" cy="1390223"/>
          </a:xfrm>
          <a:prstGeom prst="roundRect">
            <a:avLst>
              <a:gd name="adj" fmla="val 11303"/>
            </a:avLst>
          </a:prstGeom>
          <a:solidFill>
            <a:srgbClr val="D4E9F7"/>
          </a:solidFill>
          <a:ln w="7620">
            <a:solidFill>
              <a:srgbClr val="BACFDD"/>
            </a:solidFill>
            <a:prstDash val="solid"/>
          </a:ln>
        </p:spPr>
        <p:txBody>
          <a:bodyPr/>
          <a:lstStyle/>
          <a:p>
            <a:r>
              <a:rPr lang="en-US" dirty="0" err="1">
                <a:highlight>
                  <a:srgbClr val="00FFFF"/>
                </a:highlight>
                <a:latin typeface="Times New Roman" panose="02020603050405020304" pitchFamily="18" charset="0"/>
                <a:cs typeface="Times New Roman" panose="02020603050405020304" pitchFamily="18" charset="0"/>
              </a:rPr>
              <a:t>Hạn</a:t>
            </a:r>
            <a:r>
              <a:rPr lang="en-US" dirty="0">
                <a:highlight>
                  <a:srgbClr val="00FFFF"/>
                </a:highlight>
                <a:latin typeface="Times New Roman" panose="02020603050405020304" pitchFamily="18" charset="0"/>
                <a:cs typeface="Times New Roman" panose="02020603050405020304" pitchFamily="18" charset="0"/>
              </a:rPr>
              <a:t> </a:t>
            </a:r>
            <a:r>
              <a:rPr lang="en-US" dirty="0" err="1">
                <a:highlight>
                  <a:srgbClr val="00FFFF"/>
                </a:highlight>
                <a:latin typeface="Times New Roman" panose="02020603050405020304" pitchFamily="18" charset="0"/>
                <a:cs typeface="Times New Roman" panose="02020603050405020304" pitchFamily="18" charset="0"/>
              </a:rPr>
              <a:t>chế</a:t>
            </a:r>
            <a:r>
              <a:rPr lang="en-US" dirty="0">
                <a:highlight>
                  <a:srgbClr val="00FFFF"/>
                </a:highlight>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lộ</a:t>
            </a:r>
            <a:r>
              <a:rPr lang="en-US" dirty="0">
                <a:latin typeface="Times New Roman" panose="02020603050405020304" pitchFamily="18" charset="0"/>
                <a:cs typeface="Times New Roman" panose="02020603050405020304" pitchFamily="18" charset="0"/>
              </a:rPr>
              <a:t>, lane line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đoạn</a:t>
            </a:r>
            <a:r>
              <a:rPr lang="en-US"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Drivable area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sai</a:t>
            </a:r>
            <a:r>
              <a:rPr lang="en-US" dirty="0">
                <a:latin typeface="Times New Roman" panose="02020603050405020304" pitchFamily="18" charset="0"/>
                <a:cs typeface="Times New Roman" panose="02020603050405020304" pitchFamily="18" charset="0"/>
              </a:rPr>
              <a:t> sang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đường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Chưa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tiếp</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Ego-Lane</a:t>
            </a:r>
            <a:r>
              <a:rPr lang="en-US" dirty="0">
                <a:latin typeface="Times New Roman" panose="02020603050405020304" pitchFamily="18" charset="0"/>
                <a:cs typeface="Times New Roman" panose="02020603050405020304" pitchFamily="18" charset="0"/>
              </a:rPr>
              <a:t>.</a:t>
            </a:r>
          </a:p>
          <a:p>
            <a:endParaRPr lang="en-US" dirty="0">
              <a:highlight>
                <a:srgbClr val="00FFFF"/>
              </a:highlight>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D85BE285-BC19-4484-BE9C-E17EB34CADF1}"/>
              </a:ext>
            </a:extLst>
          </p:cNvPr>
          <p:cNvPicPr>
            <a:picLocks noChangeAspect="1"/>
          </p:cNvPicPr>
          <p:nvPr/>
        </p:nvPicPr>
        <p:blipFill>
          <a:blip r:embed="rId5"/>
          <a:stretch>
            <a:fillRect/>
          </a:stretch>
        </p:blipFill>
        <p:spPr>
          <a:xfrm>
            <a:off x="8761335" y="2951774"/>
            <a:ext cx="4572000" cy="2529753"/>
          </a:xfrm>
          <a:prstGeom prst="rect">
            <a:avLst/>
          </a:prstGeom>
        </p:spPr>
      </p:pic>
      <p:pic>
        <p:nvPicPr>
          <p:cNvPr id="18" name="Picture 17">
            <a:extLst>
              <a:ext uri="{FF2B5EF4-FFF2-40B4-BE49-F238E27FC236}">
                <a16:creationId xmlns:a16="http://schemas.microsoft.com/office/drawing/2014/main" id="{C9EAF18B-0B80-A743-5EDD-941FF9EE9469}"/>
              </a:ext>
            </a:extLst>
          </p:cNvPr>
          <p:cNvPicPr>
            <a:picLocks noChangeAspect="1"/>
          </p:cNvPicPr>
          <p:nvPr/>
        </p:nvPicPr>
        <p:blipFill>
          <a:blip r:embed="rId6"/>
          <a:stretch>
            <a:fillRect/>
          </a:stretch>
        </p:blipFill>
        <p:spPr>
          <a:xfrm>
            <a:off x="8761335" y="5683124"/>
            <a:ext cx="4572000" cy="2544418"/>
          </a:xfrm>
          <a:prstGeom prst="rect">
            <a:avLst/>
          </a:prstGeom>
        </p:spPr>
      </p:pic>
      <p:sp>
        <p:nvSpPr>
          <p:cNvPr id="20" name="Shape 2">
            <a:extLst>
              <a:ext uri="{FF2B5EF4-FFF2-40B4-BE49-F238E27FC236}">
                <a16:creationId xmlns:a16="http://schemas.microsoft.com/office/drawing/2014/main" id="{48221A8F-CFAB-9EAC-7746-EA9520D2A9C1}"/>
              </a:ext>
            </a:extLst>
          </p:cNvPr>
          <p:cNvSpPr/>
          <p:nvPr/>
        </p:nvSpPr>
        <p:spPr>
          <a:xfrm>
            <a:off x="535085" y="2874200"/>
            <a:ext cx="5932449" cy="5353342"/>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22" name="Picture 21">
            <a:extLst>
              <a:ext uri="{FF2B5EF4-FFF2-40B4-BE49-F238E27FC236}">
                <a16:creationId xmlns:a16="http://schemas.microsoft.com/office/drawing/2014/main" id="{F8A5EFC8-69EB-EF26-0DCC-CC6EE5665F90}"/>
              </a:ext>
            </a:extLst>
          </p:cNvPr>
          <p:cNvPicPr>
            <a:picLocks noChangeAspect="1"/>
          </p:cNvPicPr>
          <p:nvPr/>
        </p:nvPicPr>
        <p:blipFill>
          <a:blip r:embed="rId7"/>
          <a:stretch>
            <a:fillRect/>
          </a:stretch>
        </p:blipFill>
        <p:spPr>
          <a:xfrm>
            <a:off x="1215309" y="2929713"/>
            <a:ext cx="4572000" cy="2551814"/>
          </a:xfrm>
          <a:prstGeom prst="rect">
            <a:avLst/>
          </a:prstGeom>
        </p:spPr>
      </p:pic>
      <p:pic>
        <p:nvPicPr>
          <p:cNvPr id="24" name="Picture 23">
            <a:extLst>
              <a:ext uri="{FF2B5EF4-FFF2-40B4-BE49-F238E27FC236}">
                <a16:creationId xmlns:a16="http://schemas.microsoft.com/office/drawing/2014/main" id="{6AD6A95E-FA4E-A13F-88B8-4462F8ED8CF6}"/>
              </a:ext>
            </a:extLst>
          </p:cNvPr>
          <p:cNvPicPr>
            <a:picLocks noChangeAspect="1"/>
          </p:cNvPicPr>
          <p:nvPr/>
        </p:nvPicPr>
        <p:blipFill>
          <a:blip r:embed="rId8"/>
          <a:stretch>
            <a:fillRect/>
          </a:stretch>
        </p:blipFill>
        <p:spPr>
          <a:xfrm>
            <a:off x="1230912" y="5647438"/>
            <a:ext cx="4572000" cy="2580104"/>
          </a:xfrm>
          <a:prstGeom prst="rect">
            <a:avLst/>
          </a:prstGeom>
        </p:spPr>
      </p:pic>
    </p:spTree>
    <p:extLst>
      <p:ext uri="{BB962C8B-B14F-4D97-AF65-F5344CB8AC3E}">
        <p14:creationId xmlns:p14="http://schemas.microsoft.com/office/powerpoint/2010/main" val="243258564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E6D8F96C-5A2C-55BE-FCD9-7CE9B255F884}"/>
              </a:ext>
            </a:extLst>
          </p:cNvPr>
          <p:cNvSpPr/>
          <p:nvPr/>
        </p:nvSpPr>
        <p:spPr>
          <a:xfrm>
            <a:off x="171589" y="4600342"/>
            <a:ext cx="8002268" cy="2755058"/>
          </a:xfrm>
          <a:prstGeom prst="roundRect">
            <a:avLst>
              <a:gd name="adj" fmla="val 11303"/>
            </a:avLst>
          </a:prstGeom>
          <a:solidFill>
            <a:srgbClr val="D4E9F7"/>
          </a:solidFill>
          <a:ln w="7620">
            <a:solidFill>
              <a:srgbClr val="BACFDD"/>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E1824F8-B54C-86B0-0EBB-0477D93FA7C3}"/>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8" name="Shape 2">
            <a:extLst>
              <a:ext uri="{FF2B5EF4-FFF2-40B4-BE49-F238E27FC236}">
                <a16:creationId xmlns:a16="http://schemas.microsoft.com/office/drawing/2014/main" id="{9F71FECA-5267-97D3-D84D-46B90C56725C}"/>
              </a:ext>
            </a:extLst>
          </p:cNvPr>
          <p:cNvSpPr/>
          <p:nvPr/>
        </p:nvSpPr>
        <p:spPr>
          <a:xfrm>
            <a:off x="8954428" y="1123572"/>
            <a:ext cx="5988205" cy="6166227"/>
          </a:xfrm>
          <a:prstGeom prst="roundRect">
            <a:avLst>
              <a:gd name="adj" fmla="val 11303"/>
            </a:avLst>
          </a:prstGeom>
          <a:solidFill>
            <a:srgbClr val="D4E9F7"/>
          </a:solidFill>
          <a:ln w="7620">
            <a:solidFill>
              <a:srgbClr val="BACFDD"/>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6D218B12-F6C5-DBCB-9330-A0FEBB22D5E6}"/>
              </a:ext>
            </a:extLst>
          </p:cNvPr>
          <p:cNvGraphicFramePr>
            <a:graphicFrameLocks noGrp="1"/>
          </p:cNvGraphicFramePr>
          <p:nvPr>
            <p:extLst>
              <p:ext uri="{D42A27DB-BD31-4B8C-83A1-F6EECF244321}">
                <p14:modId xmlns:p14="http://schemas.microsoft.com/office/powerpoint/2010/main" val="1545697257"/>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kern="1200"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en-US" sz="3600" b="1" kern="1200"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3</a:t>
                      </a:r>
                      <a:r>
                        <a:rPr lang="en-US" sz="3600" b="1" kern="1200" dirty="0">
                          <a:solidFill>
                            <a:schemeClr val="tx1">
                              <a:lumMod val="95000"/>
                              <a:lumOff val="5000"/>
                            </a:schemeClr>
                          </a:solidFill>
                          <a:latin typeface="+mj-lt"/>
                          <a:ea typeface="Fraunces Extra Bold" pitchFamily="34" charset="-122"/>
                          <a:cs typeface="Fraunces Extra Bold" pitchFamily="34" charset="-120"/>
                        </a:rPr>
                        <a:t>)</a:t>
                      </a:r>
                      <a:endParaRPr lang="vi-VN" sz="3600" b="1" kern="1200" dirty="0">
                        <a:solidFill>
                          <a:schemeClr val="tx1">
                            <a:lumMod val="95000"/>
                            <a:lumOff val="5000"/>
                          </a:schemeClr>
                        </a:solidFill>
                        <a:latin typeface="+mj-lt"/>
                        <a:ea typeface="Fraunces Extra Bold" pitchFamily="34" charset="-122"/>
                        <a:cs typeface="Fraunces Extra Bold" pitchFamily="34" charset="-120"/>
                      </a:endParaRPr>
                    </a:p>
                  </a:txBody>
                  <a:tcPr/>
                </a:tc>
                <a:extLst>
                  <a:ext uri="{0D108BD9-81ED-4DB2-BD59-A6C34878D82A}">
                    <a16:rowId xmlns:a16="http://schemas.microsoft.com/office/drawing/2014/main" val="10000"/>
                  </a:ext>
                </a:extLst>
              </a:tr>
            </a:tbl>
          </a:graphicData>
        </a:graphic>
      </p:graphicFrame>
      <p:pic>
        <p:nvPicPr>
          <p:cNvPr id="12" name="Picture 11">
            <a:extLst>
              <a:ext uri="{FF2B5EF4-FFF2-40B4-BE49-F238E27FC236}">
                <a16:creationId xmlns:a16="http://schemas.microsoft.com/office/drawing/2014/main" id="{91358B61-0A31-FBC8-A900-FB02C12F15E1}"/>
              </a:ext>
            </a:extLst>
          </p:cNvPr>
          <p:cNvPicPr/>
          <p:nvPr/>
        </p:nvPicPr>
        <p:blipFill>
          <a:blip r:embed="rId3"/>
          <a:stretch>
            <a:fillRect/>
          </a:stretch>
        </p:blipFill>
        <p:spPr>
          <a:xfrm>
            <a:off x="-118532" y="-145263"/>
            <a:ext cx="1371600" cy="1390223"/>
          </a:xfrm>
          <a:prstGeom prst="rect">
            <a:avLst/>
          </a:prstGeom>
        </p:spPr>
      </p:pic>
      <p:pic>
        <p:nvPicPr>
          <p:cNvPr id="14" name="Picture 13">
            <a:extLst>
              <a:ext uri="{FF2B5EF4-FFF2-40B4-BE49-F238E27FC236}">
                <a16:creationId xmlns:a16="http://schemas.microsoft.com/office/drawing/2014/main" id="{527E244C-4CF0-A58B-E29E-C0205CD61354}"/>
              </a:ext>
            </a:extLst>
          </p:cNvPr>
          <p:cNvPicPr>
            <a:picLocks noChangeAspect="1"/>
          </p:cNvPicPr>
          <p:nvPr/>
        </p:nvPicPr>
        <p:blipFill>
          <a:blip r:embed="rId4"/>
          <a:stretch>
            <a:fillRect/>
          </a:stretch>
        </p:blipFill>
        <p:spPr>
          <a:xfrm>
            <a:off x="-60587" y="1123573"/>
            <a:ext cx="3073558" cy="133357"/>
          </a:xfrm>
          <a:prstGeom prst="rect">
            <a:avLst/>
          </a:prstGeom>
        </p:spPr>
      </p:pic>
      <p:sp>
        <p:nvSpPr>
          <p:cNvPr id="16" name="Shape 2">
            <a:extLst>
              <a:ext uri="{FF2B5EF4-FFF2-40B4-BE49-F238E27FC236}">
                <a16:creationId xmlns:a16="http://schemas.microsoft.com/office/drawing/2014/main" id="{30388AC9-8B66-E8A2-C2B3-07884E31905B}"/>
              </a:ext>
            </a:extLst>
          </p:cNvPr>
          <p:cNvSpPr/>
          <p:nvPr/>
        </p:nvSpPr>
        <p:spPr>
          <a:xfrm>
            <a:off x="7198" y="1472491"/>
            <a:ext cx="8002268" cy="3018554"/>
          </a:xfrm>
          <a:prstGeom prst="roundRect">
            <a:avLst>
              <a:gd name="adj" fmla="val 11303"/>
            </a:avLst>
          </a:prstGeom>
          <a:solidFill>
            <a:srgbClr val="D4E9F7"/>
          </a:solidFill>
          <a:ln w="7620">
            <a:solidFill>
              <a:srgbClr val="BACFDD"/>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18" name="Text 3">
            <a:extLst>
              <a:ext uri="{FF2B5EF4-FFF2-40B4-BE49-F238E27FC236}">
                <a16:creationId xmlns:a16="http://schemas.microsoft.com/office/drawing/2014/main" id="{33B9E2F6-DFBF-097C-C06C-0624084E1D7F}"/>
              </a:ext>
            </a:extLst>
          </p:cNvPr>
          <p:cNvSpPr/>
          <p:nvPr/>
        </p:nvSpPr>
        <p:spPr>
          <a:xfrm>
            <a:off x="142263" y="1554365"/>
            <a:ext cx="7887671" cy="2936680"/>
          </a:xfrm>
          <a:prstGeom prst="rect">
            <a:avLst/>
          </a:prstGeom>
          <a:noFill/>
        </p:spPr>
        <p:txBody>
          <a:bodyPr wrap="square" lIns="0" tIns="0" rIns="0" bIns="0" rtlCol="0" anchor="t"/>
          <a:lstStyle/>
          <a:p>
            <a:r>
              <a:rPr lang="en-US" sz="2000" b="1" dirty="0" err="1"/>
              <a:t>Vấn</a:t>
            </a:r>
            <a:r>
              <a:rPr lang="en-US" sz="2000" b="1" dirty="0"/>
              <a:t> </a:t>
            </a:r>
            <a:r>
              <a:rPr lang="en-US" sz="2000" b="1" dirty="0" err="1"/>
              <a:t>đề</a:t>
            </a:r>
            <a:r>
              <a:rPr lang="en-US" sz="2000" b="1" dirty="0"/>
              <a:t> </a:t>
            </a:r>
            <a:r>
              <a:rPr lang="en-US" sz="2000" b="1" dirty="0" err="1"/>
              <a:t>giải</a:t>
            </a:r>
            <a:r>
              <a:rPr lang="en-US" sz="2000" b="1" dirty="0"/>
              <a:t> </a:t>
            </a:r>
            <a:r>
              <a:rPr lang="en-US" sz="2000" b="1" dirty="0" err="1"/>
              <a:t>quyết</a:t>
            </a:r>
            <a:r>
              <a:rPr lang="en-US" sz="2000" b="1" dirty="0"/>
              <a:t>: </a:t>
            </a:r>
          </a:p>
          <a:p>
            <a:pPr marL="342900" lvl="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Chi </a:t>
            </a:r>
            <a:r>
              <a:rPr lang="en-US" sz="2000" dirty="0" err="1">
                <a:latin typeface="Times New Roman" panose="02020603050405020304" pitchFamily="18" charset="0"/>
                <a:cs typeface="Times New Roman" panose="02020603050405020304" pitchFamily="18" charset="0"/>
              </a:rPr>
              <a:t>phí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cao</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phân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đoạn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từng</a:t>
            </a:r>
            <a:r>
              <a:rPr lang="en-US" sz="2000" dirty="0">
                <a:latin typeface="Times New Roman" panose="02020603050405020304" pitchFamily="18" charset="0"/>
                <a:cs typeface="Times New Roman" panose="02020603050405020304" pitchFamily="18" charset="0"/>
              </a:rPr>
              <a:t> pixel </a:t>
            </a:r>
            <a:r>
              <a:rPr lang="en-US" sz="2000" dirty="0" err="1">
                <a:latin typeface="Times New Roman" panose="02020603050405020304" pitchFamily="18" charset="0"/>
                <a:cs typeface="Times New Roman" panose="02020603050405020304" pitchFamily="18" charset="0"/>
              </a:rPr>
              <a:t>tốn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nhiều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phép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 </a:t>
            </a:r>
            <a:r>
              <a:rPr lang="en-US" sz="2000" dirty="0" err="1">
                <a:latin typeface="Times New Roman" panose="02020603050405020304" pitchFamily="18" charset="0"/>
                <a:cs typeface="Times New Roman" panose="02020603050405020304" pitchFamily="18" charset="0"/>
              </a:rPr>
              <a:t>chuyển</a:t>
            </a:r>
            <a:r>
              <a:rPr lang="en-US" sz="2000" dirty="0">
                <a:latin typeface="Times New Roman" panose="02020603050405020304" pitchFamily="18" charset="0"/>
                <a:cs typeface="Times New Roman" panose="02020603050405020304" pitchFamily="18" charset="0"/>
              </a:rPr>
              <a:t> sang </a:t>
            </a:r>
            <a:r>
              <a:rPr lang="en-US" sz="2000" b="1" dirty="0">
                <a:solidFill>
                  <a:srgbClr val="FF0000"/>
                </a:solidFill>
                <a:latin typeface="Times New Roman" panose="02020603050405020304" pitchFamily="18" charset="0"/>
                <a:cs typeface="Times New Roman" panose="02020603050405020304" pitchFamily="18" charset="0"/>
              </a:rPr>
              <a:t>Row-based Selection</a:t>
            </a:r>
            <a:r>
              <a:rPr lang="en-US" sz="2000" dirty="0">
                <a:solidFill>
                  <a:srgbClr val="FF0000"/>
                </a:solidFill>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tăng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tốc</a:t>
            </a:r>
            <a:r>
              <a:rPr lang="en-US" sz="20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Lane </a:t>
            </a:r>
            <a:r>
              <a:rPr lang="en-US" sz="2000" dirty="0" err="1">
                <a:latin typeface="Times New Roman" panose="02020603050405020304" pitchFamily="18" charset="0"/>
                <a:cs typeface="Times New Roman" panose="02020603050405020304" pitchFamily="18" charset="0"/>
              </a:rPr>
              <a:t>bị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hoặc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thiếu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dấu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quan</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dùng</a:t>
            </a:r>
            <a:r>
              <a:rPr lang="en-US" sz="2000" dirty="0">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Global Features</a:t>
            </a:r>
            <a:r>
              <a:rPr lang="en-US" sz="2000" dirty="0">
                <a:solidFill>
                  <a:srgbClr val="FF0000"/>
                </a:solidFill>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suy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toàn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cảnh</a:t>
            </a:r>
            <a:r>
              <a:rPr lang="en-US" sz="2000"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Khó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giữ</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cấu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trúc</a:t>
            </a:r>
            <a:r>
              <a:rPr lang="en-US" sz="2000" dirty="0">
                <a:latin typeface="Times New Roman" panose="02020603050405020304" pitchFamily="18" charset="0"/>
                <a:cs typeface="Times New Roman" panose="02020603050405020304" pitchFamily="18" charset="0"/>
              </a:rPr>
              <a:t> lane </a:t>
            </a:r>
            <a:r>
              <a:rPr lang="en-US" sz="2000" dirty="0" err="1">
                <a:latin typeface="Times New Roman" panose="02020603050405020304" pitchFamily="18" charset="0"/>
                <a:cs typeface="Times New Roman" panose="02020603050405020304" pitchFamily="18" charset="0"/>
              </a:rPr>
              <a:t>liên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tục</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dùng</a:t>
            </a:r>
            <a:r>
              <a:rPr lang="en-US" sz="2000" dirty="0">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Structural Loss</a:t>
            </a:r>
            <a:r>
              <a:rPr lang="en-US" sz="2000" dirty="0">
                <a:solidFill>
                  <a:srgbClr val="FF0000"/>
                </a:solidFill>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học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tục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hình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dạng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làn</a:t>
            </a:r>
            <a:r>
              <a:rPr lang="en-US" sz="2000" dirty="0">
                <a:latin typeface="Times New Roman" panose="02020603050405020304" pitchFamily="18" charset="0"/>
                <a:cs typeface="Times New Roman" panose="02020603050405020304" pitchFamily="18" charset="0"/>
              </a:rPr>
              <a:t>.</a:t>
            </a:r>
          </a:p>
          <a:p>
            <a:pPr lvl="0"/>
            <a:r>
              <a:rPr lang="en-US" sz="2000" b="1" dirty="0">
                <a:latin typeface="Times New Roman" panose="02020603050405020304" pitchFamily="18" charset="0"/>
                <a:cs typeface="Times New Roman" panose="02020603050405020304" pitchFamily="18" charset="0"/>
              </a:rPr>
              <a:t>Output </a:t>
            </a:r>
            <a:r>
              <a:rPr lang="en-US" sz="2000" b="1" dirty="0" err="1">
                <a:latin typeface="Times New Roman" panose="02020603050405020304" pitchFamily="18" charset="0"/>
                <a:cs typeface="Times New Roman" panose="02020603050405020304" pitchFamily="18" charset="0"/>
              </a:rPr>
              <a:t>thực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tế</a:t>
            </a:r>
            <a:r>
              <a:rPr lang="en-US" sz="2000" b="1" dirty="0">
                <a:latin typeface="Times New Roman" panose="02020603050405020304" pitchFamily="18" charset="0"/>
                <a:cs typeface="Times New Roman" panose="02020603050405020304" pitchFamily="18" charset="0"/>
              </a:rPr>
              <a:t>: </a:t>
            </a:r>
            <a:r>
              <a:rPr lang="en-US" sz="2000" dirty="0" err="1"/>
              <a:t>Dự</a:t>
            </a:r>
            <a:r>
              <a:rPr lang="en-US" sz="2000" dirty="0"/>
              <a:t> </a:t>
            </a:r>
            <a:r>
              <a:rPr lang="en-US" sz="2000" dirty="0" err="1"/>
              <a:t>đoán</a:t>
            </a:r>
            <a:r>
              <a:rPr lang="en-US" sz="2000" dirty="0"/>
              <a:t> </a:t>
            </a:r>
            <a:r>
              <a:rPr lang="en-US" sz="2000" b="1" dirty="0" err="1"/>
              <a:t>vị</a:t>
            </a:r>
            <a:r>
              <a:rPr lang="en-US" sz="2000" b="1" dirty="0"/>
              <a:t> </a:t>
            </a:r>
            <a:r>
              <a:rPr lang="en-US" sz="2000" b="1" dirty="0" err="1"/>
              <a:t>trí</a:t>
            </a:r>
            <a:r>
              <a:rPr lang="en-US" sz="2000" b="1" dirty="0"/>
              <a:t> </a:t>
            </a:r>
            <a:r>
              <a:rPr lang="en-US" sz="2000" b="1" dirty="0" err="1"/>
              <a:t>của</a:t>
            </a:r>
            <a:r>
              <a:rPr lang="en-US" sz="2000" b="1" dirty="0"/>
              <a:t> </a:t>
            </a:r>
            <a:r>
              <a:rPr lang="en-US" sz="2000" b="1" dirty="0" err="1"/>
              <a:t>từng</a:t>
            </a:r>
            <a:r>
              <a:rPr lang="en-US" sz="2000" b="1" dirty="0"/>
              <a:t> lane </a:t>
            </a:r>
            <a:r>
              <a:rPr lang="en-US" sz="2000" b="1" dirty="0" err="1"/>
              <a:t>tại</a:t>
            </a:r>
            <a:r>
              <a:rPr lang="en-US" sz="2000" b="1" dirty="0"/>
              <a:t> </a:t>
            </a:r>
            <a:r>
              <a:rPr lang="en-US" sz="2000" b="1" dirty="0" err="1"/>
              <a:t>các</a:t>
            </a:r>
            <a:r>
              <a:rPr lang="en-US" sz="2000" b="1" dirty="0"/>
              <a:t> Row Anchor</a:t>
            </a:r>
            <a:r>
              <a:rPr lang="en-US" sz="2000" dirty="0"/>
              <a:t>. </a:t>
            </a:r>
            <a:r>
              <a:rPr lang="en-US" sz="2000" dirty="0">
                <a:latin typeface="Times New Roman" panose="02020603050405020304" pitchFamily="18" charset="0"/>
                <a:cs typeface="Times New Roman" panose="02020603050405020304" pitchFamily="18" charset="0"/>
              </a:rPr>
              <a:t>→</a:t>
            </a:r>
            <a:r>
              <a:rPr lang="en-US" sz="2000" dirty="0"/>
              <a:t> Các </a:t>
            </a:r>
            <a:r>
              <a:rPr lang="en-US" sz="2000" dirty="0" err="1"/>
              <a:t>vị</a:t>
            </a:r>
            <a:r>
              <a:rPr lang="en-US" sz="2000" dirty="0"/>
              <a:t> </a:t>
            </a:r>
            <a:r>
              <a:rPr lang="en-US" sz="2000" dirty="0" err="1"/>
              <a:t>trí</a:t>
            </a:r>
            <a:r>
              <a:rPr lang="en-US" sz="2000" dirty="0"/>
              <a:t> </a:t>
            </a:r>
            <a:r>
              <a:rPr lang="en-US" sz="2000" dirty="0" err="1"/>
              <a:t>này</a:t>
            </a:r>
            <a:r>
              <a:rPr lang="en-US" sz="2000" dirty="0"/>
              <a:t> </a:t>
            </a:r>
            <a:r>
              <a:rPr lang="en-US" sz="2000" dirty="0" err="1"/>
              <a:t>được</a:t>
            </a:r>
            <a:r>
              <a:rPr lang="en-US" sz="2000" dirty="0"/>
              <a:t> </a:t>
            </a:r>
            <a:r>
              <a:rPr lang="en-US" sz="2000" dirty="0" err="1"/>
              <a:t>ghép</a:t>
            </a:r>
            <a:r>
              <a:rPr lang="en-US" sz="2000" dirty="0"/>
              <a:t> </a:t>
            </a:r>
            <a:r>
              <a:rPr lang="en-US" sz="2000" dirty="0" err="1"/>
              <a:t>lại</a:t>
            </a:r>
            <a:r>
              <a:rPr lang="en-US" sz="2000" dirty="0"/>
              <a:t> </a:t>
            </a:r>
            <a:r>
              <a:rPr lang="en-US" sz="2000" dirty="0" err="1"/>
              <a:t>thành</a:t>
            </a:r>
            <a:r>
              <a:rPr lang="en-US" sz="2000" dirty="0"/>
              <a:t> </a:t>
            </a:r>
            <a:r>
              <a:rPr lang="en-US" sz="2000" b="1" dirty="0" err="1"/>
              <a:t>đường</a:t>
            </a:r>
            <a:r>
              <a:rPr lang="en-US" sz="2000" b="1" dirty="0"/>
              <a:t> lane </a:t>
            </a:r>
            <a:r>
              <a:rPr lang="en-US" sz="2000" b="1" dirty="0" err="1"/>
              <a:t>trên</a:t>
            </a:r>
            <a:r>
              <a:rPr lang="en-US" sz="2000" b="1" dirty="0"/>
              <a:t> </a:t>
            </a:r>
            <a:r>
              <a:rPr lang="en-US" sz="2000" b="1" dirty="0" err="1"/>
              <a:t>ảnh</a:t>
            </a:r>
            <a:r>
              <a:rPr lang="en-US" sz="2000" dirty="0"/>
              <a:t>. </a:t>
            </a:r>
          </a:p>
          <a:p>
            <a:pPr lvl="0"/>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US" sz="2000" b="1" dirty="0">
              <a:latin typeface="Times New Roman" panose="02020603050405020304" pitchFamily="18" charset="0"/>
              <a:cs typeface="Times New Roman" panose="02020603050405020304" pitchFamily="18" charset="0"/>
            </a:endParaRPr>
          </a:p>
          <a:p>
            <a:pPr lvl="0"/>
            <a:endParaRPr lang="en-US" sz="2000" dirty="0">
              <a:latin typeface="+mj-lt"/>
            </a:endParaRPr>
          </a:p>
          <a:p>
            <a:pPr marL="342900" indent="-342900">
              <a:buFont typeface="Arial" panose="020B0604020202020204" pitchFamily="34" charset="0"/>
              <a:buChar char="•"/>
            </a:pPr>
            <a:endParaRPr lang="en-US" sz="1900" dirty="0">
              <a:latin typeface="+mj-lt"/>
              <a:cs typeface="Times New Roman" panose="02020603050405020304" pitchFamily="18" charset="0"/>
            </a:endParaRPr>
          </a:p>
        </p:txBody>
      </p:sp>
      <p:pic>
        <p:nvPicPr>
          <p:cNvPr id="20" name="Picture 19">
            <a:extLst>
              <a:ext uri="{FF2B5EF4-FFF2-40B4-BE49-F238E27FC236}">
                <a16:creationId xmlns:a16="http://schemas.microsoft.com/office/drawing/2014/main" id="{558F635B-A1B7-74F1-7190-86E81F4AD673}"/>
              </a:ext>
            </a:extLst>
          </p:cNvPr>
          <p:cNvPicPr>
            <a:picLocks noChangeAspect="1"/>
          </p:cNvPicPr>
          <p:nvPr/>
        </p:nvPicPr>
        <p:blipFill>
          <a:blip r:embed="rId5"/>
          <a:stretch>
            <a:fillRect/>
          </a:stretch>
        </p:blipFill>
        <p:spPr>
          <a:xfrm>
            <a:off x="256860" y="4742020"/>
            <a:ext cx="7773074" cy="2362405"/>
          </a:xfrm>
          <a:prstGeom prst="rect">
            <a:avLst/>
          </a:prstGeom>
        </p:spPr>
      </p:pic>
      <p:pic>
        <p:nvPicPr>
          <p:cNvPr id="22" name="Picture 21">
            <a:extLst>
              <a:ext uri="{FF2B5EF4-FFF2-40B4-BE49-F238E27FC236}">
                <a16:creationId xmlns:a16="http://schemas.microsoft.com/office/drawing/2014/main" id="{2FA322FA-EBFA-A254-ACF7-676076A5BA7B}"/>
              </a:ext>
            </a:extLst>
          </p:cNvPr>
          <p:cNvPicPr>
            <a:picLocks noChangeAspect="1"/>
          </p:cNvPicPr>
          <p:nvPr/>
        </p:nvPicPr>
        <p:blipFill>
          <a:blip r:embed="rId6"/>
          <a:stretch>
            <a:fillRect/>
          </a:stretch>
        </p:blipFill>
        <p:spPr>
          <a:xfrm>
            <a:off x="9361115" y="1123574"/>
            <a:ext cx="5147490" cy="6166226"/>
          </a:xfrm>
          <a:prstGeom prst="rect">
            <a:avLst/>
          </a:prstGeom>
        </p:spPr>
      </p:pic>
    </p:spTree>
    <p:extLst>
      <p:ext uri="{BB962C8B-B14F-4D97-AF65-F5344CB8AC3E}">
        <p14:creationId xmlns:p14="http://schemas.microsoft.com/office/powerpoint/2010/main" val="121594298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D9CBAB-1C24-DD83-731F-4AE172F09867}"/>
              </a:ext>
            </a:extLst>
          </p:cNvPr>
          <p:cNvPicPr>
            <a:picLocks noChangeAspect="1"/>
          </p:cNvPicPr>
          <p:nvPr/>
        </p:nvPicPr>
        <p:blipFill>
          <a:blip r:embed="rId2"/>
          <a:stretch>
            <a:fillRect/>
          </a:stretch>
        </p:blipFill>
        <p:spPr>
          <a:xfrm>
            <a:off x="10106181" y="6376129"/>
            <a:ext cx="4524219" cy="1853471"/>
          </a:xfrm>
          <a:prstGeom prst="rect">
            <a:avLst/>
          </a:prstGeom>
          <a:noFill/>
        </p:spPr>
      </p:pic>
      <p:pic>
        <p:nvPicPr>
          <p:cNvPr id="5" name="Picture 4">
            <a:extLst>
              <a:ext uri="{FF2B5EF4-FFF2-40B4-BE49-F238E27FC236}">
                <a16:creationId xmlns:a16="http://schemas.microsoft.com/office/drawing/2014/main" id="{81348CE9-30A1-ED36-9B03-32CE53AD64C3}"/>
              </a:ext>
            </a:extLst>
          </p:cNvPr>
          <p:cNvPicPr>
            <a:picLocks noChangeAspect="1"/>
          </p:cNvPicPr>
          <p:nvPr/>
        </p:nvPicPr>
        <p:blipFill>
          <a:blip r:embed="rId2"/>
          <a:stretch>
            <a:fillRect/>
          </a:stretch>
        </p:blipFill>
        <p:spPr>
          <a:xfrm>
            <a:off x="10016971" y="4971075"/>
            <a:ext cx="4524219" cy="1853471"/>
          </a:xfrm>
          <a:prstGeom prst="rect">
            <a:avLst/>
          </a:prstGeom>
          <a:noFill/>
        </p:spPr>
      </p:pic>
      <p:sp>
        <p:nvSpPr>
          <p:cNvPr id="7" name="Shape 2">
            <a:extLst>
              <a:ext uri="{FF2B5EF4-FFF2-40B4-BE49-F238E27FC236}">
                <a16:creationId xmlns:a16="http://schemas.microsoft.com/office/drawing/2014/main" id="{6173FF4D-0F07-C328-5A94-AE23DB8F111A}"/>
              </a:ext>
            </a:extLst>
          </p:cNvPr>
          <p:cNvSpPr/>
          <p:nvPr/>
        </p:nvSpPr>
        <p:spPr>
          <a:xfrm>
            <a:off x="100361" y="1469145"/>
            <a:ext cx="14206653" cy="5478063"/>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9" name="Picture 8">
            <a:extLst>
              <a:ext uri="{FF2B5EF4-FFF2-40B4-BE49-F238E27FC236}">
                <a16:creationId xmlns:a16="http://schemas.microsoft.com/office/drawing/2014/main" id="{BA3B100F-CF3F-574D-A739-095522A9AD31}"/>
              </a:ext>
            </a:extLst>
          </p:cNvPr>
          <p:cNvPicPr>
            <a:picLocks noChangeAspect="1"/>
          </p:cNvPicPr>
          <p:nvPr/>
        </p:nvPicPr>
        <p:blipFill>
          <a:blip r:embed="rId3"/>
          <a:stretch>
            <a:fillRect/>
          </a:stretch>
        </p:blipFill>
        <p:spPr>
          <a:xfrm>
            <a:off x="7934107" y="1616691"/>
            <a:ext cx="5943600" cy="2474786"/>
          </a:xfrm>
          <a:prstGeom prst="rect">
            <a:avLst/>
          </a:prstGeom>
        </p:spPr>
      </p:pic>
      <p:pic>
        <p:nvPicPr>
          <p:cNvPr id="11" name="Picture 10">
            <a:extLst>
              <a:ext uri="{FF2B5EF4-FFF2-40B4-BE49-F238E27FC236}">
                <a16:creationId xmlns:a16="http://schemas.microsoft.com/office/drawing/2014/main" id="{D321D55E-7A04-E4CD-A21A-8618360AE0E5}"/>
              </a:ext>
            </a:extLst>
          </p:cNvPr>
          <p:cNvPicPr>
            <a:picLocks noChangeAspect="1"/>
          </p:cNvPicPr>
          <p:nvPr/>
        </p:nvPicPr>
        <p:blipFill>
          <a:blip r:embed="rId4"/>
          <a:stretch>
            <a:fillRect/>
          </a:stretch>
        </p:blipFill>
        <p:spPr>
          <a:xfrm>
            <a:off x="574273" y="1614408"/>
            <a:ext cx="5943600" cy="2477069"/>
          </a:xfrm>
          <a:prstGeom prst="rect">
            <a:avLst/>
          </a:prstGeom>
        </p:spPr>
      </p:pic>
      <p:pic>
        <p:nvPicPr>
          <p:cNvPr id="13" name="Picture 12">
            <a:extLst>
              <a:ext uri="{FF2B5EF4-FFF2-40B4-BE49-F238E27FC236}">
                <a16:creationId xmlns:a16="http://schemas.microsoft.com/office/drawing/2014/main" id="{24FBB1A8-CE7E-A606-341F-1BB7CAC7830D}"/>
              </a:ext>
            </a:extLst>
          </p:cNvPr>
          <p:cNvPicPr>
            <a:picLocks noChangeAspect="1"/>
          </p:cNvPicPr>
          <p:nvPr/>
        </p:nvPicPr>
        <p:blipFill>
          <a:blip r:embed="rId5"/>
          <a:stretch>
            <a:fillRect/>
          </a:stretch>
        </p:blipFill>
        <p:spPr>
          <a:xfrm>
            <a:off x="574273" y="4305188"/>
            <a:ext cx="5943600" cy="2514864"/>
          </a:xfrm>
          <a:prstGeom prst="rect">
            <a:avLst/>
          </a:prstGeom>
        </p:spPr>
      </p:pic>
      <p:pic>
        <p:nvPicPr>
          <p:cNvPr id="15" name="Picture 14">
            <a:extLst>
              <a:ext uri="{FF2B5EF4-FFF2-40B4-BE49-F238E27FC236}">
                <a16:creationId xmlns:a16="http://schemas.microsoft.com/office/drawing/2014/main" id="{FF78F7D9-F6B1-2B49-A0C3-E49F0A3C3CC4}"/>
              </a:ext>
            </a:extLst>
          </p:cNvPr>
          <p:cNvPicPr>
            <a:picLocks noChangeAspect="1"/>
          </p:cNvPicPr>
          <p:nvPr/>
        </p:nvPicPr>
        <p:blipFill>
          <a:blip r:embed="rId6"/>
          <a:stretch>
            <a:fillRect/>
          </a:stretch>
        </p:blipFill>
        <p:spPr>
          <a:xfrm>
            <a:off x="7934107" y="4313650"/>
            <a:ext cx="5943600" cy="2510896"/>
          </a:xfrm>
          <a:prstGeom prst="rect">
            <a:avLst/>
          </a:prstGeom>
        </p:spPr>
      </p:pic>
      <p:graphicFrame>
        <p:nvGraphicFramePr>
          <p:cNvPr id="17" name="Table 16">
            <a:extLst>
              <a:ext uri="{FF2B5EF4-FFF2-40B4-BE49-F238E27FC236}">
                <a16:creationId xmlns:a16="http://schemas.microsoft.com/office/drawing/2014/main" id="{8790B2B5-4217-31C2-AB1D-EFF8DCC90589}"/>
              </a:ext>
            </a:extLst>
          </p:cNvPr>
          <p:cNvGraphicFramePr>
            <a:graphicFrameLocks noGrp="1"/>
          </p:cNvGraphicFramePr>
          <p:nvPr>
            <p:extLst>
              <p:ext uri="{D42A27DB-BD31-4B8C-83A1-F6EECF244321}">
                <p14:modId xmlns:p14="http://schemas.microsoft.com/office/powerpoint/2010/main" val="3739505510"/>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kern="1200"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en-US" sz="3600" b="1" kern="1200"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3</a:t>
                      </a:r>
                      <a:r>
                        <a:rPr lang="en-US" sz="3600" b="1" kern="1200" dirty="0">
                          <a:solidFill>
                            <a:schemeClr val="tx1">
                              <a:lumMod val="95000"/>
                              <a:lumOff val="5000"/>
                            </a:schemeClr>
                          </a:solidFill>
                          <a:latin typeface="+mj-lt"/>
                          <a:ea typeface="Fraunces Extra Bold" pitchFamily="34" charset="-122"/>
                          <a:cs typeface="Fraunces Extra Bold" pitchFamily="34" charset="-120"/>
                        </a:rPr>
                        <a:t>)</a:t>
                      </a:r>
                      <a:endParaRPr lang="vi-VN" sz="3600" b="1" kern="1200" dirty="0">
                        <a:solidFill>
                          <a:schemeClr val="tx1">
                            <a:lumMod val="95000"/>
                            <a:lumOff val="5000"/>
                          </a:schemeClr>
                        </a:solidFill>
                        <a:latin typeface="+mj-lt"/>
                        <a:ea typeface="Fraunces Extra Bold" pitchFamily="34" charset="-122"/>
                        <a:cs typeface="Fraunces Extra Bold" pitchFamily="34" charset="-120"/>
                      </a:endParaRPr>
                    </a:p>
                  </a:txBody>
                  <a:tcPr/>
                </a:tc>
                <a:extLst>
                  <a:ext uri="{0D108BD9-81ED-4DB2-BD59-A6C34878D82A}">
                    <a16:rowId xmlns:a16="http://schemas.microsoft.com/office/drawing/2014/main" val="10000"/>
                  </a:ext>
                </a:extLst>
              </a:tr>
            </a:tbl>
          </a:graphicData>
        </a:graphic>
      </p:graphicFrame>
      <p:pic>
        <p:nvPicPr>
          <p:cNvPr id="19" name="Picture 18">
            <a:extLst>
              <a:ext uri="{FF2B5EF4-FFF2-40B4-BE49-F238E27FC236}">
                <a16:creationId xmlns:a16="http://schemas.microsoft.com/office/drawing/2014/main" id="{4BFC6CA4-DD05-3466-D71C-F96FE1764AB2}"/>
              </a:ext>
            </a:extLst>
          </p:cNvPr>
          <p:cNvPicPr/>
          <p:nvPr/>
        </p:nvPicPr>
        <p:blipFill>
          <a:blip r:embed="rId7"/>
          <a:stretch>
            <a:fillRect/>
          </a:stretch>
        </p:blipFill>
        <p:spPr>
          <a:xfrm>
            <a:off x="-118532" y="-145263"/>
            <a:ext cx="1371600" cy="1390223"/>
          </a:xfrm>
          <a:prstGeom prst="rect">
            <a:avLst/>
          </a:prstGeom>
        </p:spPr>
      </p:pic>
    </p:spTree>
    <p:extLst>
      <p:ext uri="{BB962C8B-B14F-4D97-AF65-F5344CB8AC3E}">
        <p14:creationId xmlns:p14="http://schemas.microsoft.com/office/powerpoint/2010/main" val="258683351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62A8C929-6EA2-55D4-D2B5-95A9088BC0BB}"/>
              </a:ext>
            </a:extLst>
          </p:cNvPr>
          <p:cNvSpPr/>
          <p:nvPr/>
        </p:nvSpPr>
        <p:spPr>
          <a:xfrm>
            <a:off x="4195366" y="1256930"/>
            <a:ext cx="6978156" cy="2857870"/>
          </a:xfrm>
          <a:prstGeom prst="roundRect">
            <a:avLst>
              <a:gd name="adj" fmla="val 11303"/>
            </a:avLst>
          </a:prstGeom>
          <a:solidFill>
            <a:srgbClr val="D4E9F7"/>
          </a:solidFill>
          <a:ln w="7620">
            <a:solidFill>
              <a:srgbClr val="BACFDD"/>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EF501DA-D15C-0515-FB51-AF80EED819FA}"/>
              </a:ext>
            </a:extLst>
          </p:cNvPr>
          <p:cNvPicPr>
            <a:picLocks noChangeAspect="1"/>
          </p:cNvPicPr>
          <p:nvPr/>
        </p:nvPicPr>
        <p:blipFill>
          <a:blip r:embed="rId2"/>
          <a:stretch>
            <a:fillRect/>
          </a:stretch>
        </p:blipFill>
        <p:spPr>
          <a:xfrm>
            <a:off x="10106181" y="6376129"/>
            <a:ext cx="4524219" cy="1853471"/>
          </a:xfrm>
          <a:prstGeom prst="rect">
            <a:avLst/>
          </a:prstGeom>
          <a:noFill/>
        </p:spPr>
      </p:pic>
      <p:graphicFrame>
        <p:nvGraphicFramePr>
          <p:cNvPr id="7" name="Table 6">
            <a:extLst>
              <a:ext uri="{FF2B5EF4-FFF2-40B4-BE49-F238E27FC236}">
                <a16:creationId xmlns:a16="http://schemas.microsoft.com/office/drawing/2014/main" id="{4A04766D-F345-223B-A574-191A69D5B385}"/>
              </a:ext>
            </a:extLst>
          </p:cNvPr>
          <p:cNvGraphicFramePr>
            <a:graphicFrameLocks noGrp="1"/>
          </p:cNvGraphicFramePr>
          <p:nvPr>
            <p:extLst>
              <p:ext uri="{D42A27DB-BD31-4B8C-83A1-F6EECF244321}">
                <p14:modId xmlns:p14="http://schemas.microsoft.com/office/powerpoint/2010/main" val="3734582915"/>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kern="1200"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en-US" sz="3600" b="1" kern="1200"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3</a:t>
                      </a:r>
                      <a:r>
                        <a:rPr lang="en-US" sz="3600" b="1" kern="1200" dirty="0">
                          <a:solidFill>
                            <a:schemeClr val="tx1">
                              <a:lumMod val="95000"/>
                              <a:lumOff val="5000"/>
                            </a:schemeClr>
                          </a:solidFill>
                          <a:latin typeface="+mj-lt"/>
                          <a:ea typeface="Fraunces Extra Bold" pitchFamily="34" charset="-122"/>
                          <a:cs typeface="Fraunces Extra Bold" pitchFamily="34" charset="-120"/>
                        </a:rPr>
                        <a:t>)</a:t>
                      </a:r>
                      <a:endParaRPr lang="vi-VN" sz="3600" b="1" kern="1200" dirty="0">
                        <a:solidFill>
                          <a:schemeClr val="tx1">
                            <a:lumMod val="95000"/>
                            <a:lumOff val="5000"/>
                          </a:schemeClr>
                        </a:solidFill>
                        <a:latin typeface="+mj-lt"/>
                        <a:ea typeface="Fraunces Extra Bold" pitchFamily="34" charset="-122"/>
                        <a:cs typeface="Fraunces Extra Bold" pitchFamily="34" charset="-120"/>
                      </a:endParaRPr>
                    </a:p>
                  </a:txBody>
                  <a:tcPr/>
                </a:tc>
                <a:extLst>
                  <a:ext uri="{0D108BD9-81ED-4DB2-BD59-A6C34878D82A}">
                    <a16:rowId xmlns:a16="http://schemas.microsoft.com/office/drawing/2014/main" val="10000"/>
                  </a:ext>
                </a:extLst>
              </a:tr>
            </a:tbl>
          </a:graphicData>
        </a:graphic>
      </p:graphicFrame>
      <p:pic>
        <p:nvPicPr>
          <p:cNvPr id="9" name="Picture 8">
            <a:extLst>
              <a:ext uri="{FF2B5EF4-FFF2-40B4-BE49-F238E27FC236}">
                <a16:creationId xmlns:a16="http://schemas.microsoft.com/office/drawing/2014/main" id="{0CB57666-EB11-1ED1-951C-97E4F5B6AE5A}"/>
              </a:ext>
            </a:extLst>
          </p:cNvPr>
          <p:cNvPicPr/>
          <p:nvPr/>
        </p:nvPicPr>
        <p:blipFill>
          <a:blip r:embed="rId3"/>
          <a:stretch>
            <a:fillRect/>
          </a:stretch>
        </p:blipFill>
        <p:spPr>
          <a:xfrm>
            <a:off x="-118532" y="-145263"/>
            <a:ext cx="1371600" cy="1390223"/>
          </a:xfrm>
          <a:prstGeom prst="rect">
            <a:avLst/>
          </a:prstGeom>
        </p:spPr>
      </p:pic>
      <p:pic>
        <p:nvPicPr>
          <p:cNvPr id="11" name="Picture 10">
            <a:extLst>
              <a:ext uri="{FF2B5EF4-FFF2-40B4-BE49-F238E27FC236}">
                <a16:creationId xmlns:a16="http://schemas.microsoft.com/office/drawing/2014/main" id="{02E030D9-3E2B-4042-E257-391B4E2E1787}"/>
              </a:ext>
            </a:extLst>
          </p:cNvPr>
          <p:cNvPicPr>
            <a:picLocks noChangeAspect="1"/>
          </p:cNvPicPr>
          <p:nvPr/>
        </p:nvPicPr>
        <p:blipFill>
          <a:blip r:embed="rId4"/>
          <a:stretch>
            <a:fillRect/>
          </a:stretch>
        </p:blipFill>
        <p:spPr>
          <a:xfrm>
            <a:off x="-60587" y="1123573"/>
            <a:ext cx="3073558" cy="133357"/>
          </a:xfrm>
          <a:prstGeom prst="rect">
            <a:avLst/>
          </a:prstGeom>
        </p:spPr>
      </p:pic>
      <p:sp>
        <p:nvSpPr>
          <p:cNvPr id="13" name="Shape 2">
            <a:extLst>
              <a:ext uri="{FF2B5EF4-FFF2-40B4-BE49-F238E27FC236}">
                <a16:creationId xmlns:a16="http://schemas.microsoft.com/office/drawing/2014/main" id="{34BE3C75-650B-1C9D-15E2-7E068D45F63F}"/>
              </a:ext>
            </a:extLst>
          </p:cNvPr>
          <p:cNvSpPr/>
          <p:nvPr/>
        </p:nvSpPr>
        <p:spPr>
          <a:xfrm>
            <a:off x="8318810" y="4535232"/>
            <a:ext cx="5832089" cy="2267012"/>
          </a:xfrm>
          <a:prstGeom prst="roundRect">
            <a:avLst>
              <a:gd name="adj" fmla="val 11303"/>
            </a:avLst>
          </a:prstGeom>
          <a:solidFill>
            <a:srgbClr val="D4E9F7"/>
          </a:solidFill>
          <a:ln w="7620">
            <a:solidFill>
              <a:srgbClr val="BACFDD"/>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sp>
        <p:nvSpPr>
          <p:cNvPr id="15" name="Text 3">
            <a:extLst>
              <a:ext uri="{FF2B5EF4-FFF2-40B4-BE49-F238E27FC236}">
                <a16:creationId xmlns:a16="http://schemas.microsoft.com/office/drawing/2014/main" id="{CFBA34D4-9E46-396A-D012-26995C3897C2}"/>
              </a:ext>
            </a:extLst>
          </p:cNvPr>
          <p:cNvSpPr/>
          <p:nvPr/>
        </p:nvSpPr>
        <p:spPr>
          <a:xfrm>
            <a:off x="8631043" y="4761571"/>
            <a:ext cx="5832089" cy="3300761"/>
          </a:xfrm>
          <a:prstGeom prst="rect">
            <a:avLst/>
          </a:prstGeom>
          <a:noFill/>
        </p:spPr>
        <p:txBody>
          <a:bodyPr wrap="square" lIns="0" tIns="0" rIns="0" bIns="0" rtlCol="0" anchor="t"/>
          <a:lstStyle/>
          <a:p>
            <a:r>
              <a:rPr lang="en-US" sz="2000" b="1" dirty="0">
                <a:latin typeface="Times New Roman" panose="02020603050405020304" pitchFamily="18" charset="0"/>
                <a:cs typeface="Times New Roman" panose="02020603050405020304" pitchFamily="18" charset="0"/>
              </a:rPr>
              <a:t>Segmentation </a:t>
            </a:r>
            <a:r>
              <a:rPr lang="en-US" sz="2000" b="1" dirty="0" err="1">
                <a:latin typeface="Times New Roman" panose="02020603050405020304" pitchFamily="18" charset="0"/>
                <a:cs typeface="Times New Roman" panose="02020603050405020304" pitchFamily="18" charset="0"/>
              </a:rPr>
              <a:t>truyền</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thống</a:t>
            </a:r>
            <a:endParaRPr lang="en-US" sz="2000" b="1"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Ảnh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kích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thước</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H × W</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Model </a:t>
            </a:r>
            <a:r>
              <a:rPr lang="en-US" sz="2000" dirty="0" err="1">
                <a:latin typeface="Times New Roman" panose="02020603050405020304" pitchFamily="18" charset="0"/>
                <a:cs typeface="Times New Roman" panose="02020603050405020304" pitchFamily="18" charset="0"/>
              </a:rPr>
              <a:t>phải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định</a:t>
            </a:r>
            <a:r>
              <a:rPr lang="en-US" sz="2000" dirty="0">
                <a:latin typeface="Times New Roman" panose="02020603050405020304" pitchFamily="18" charset="0"/>
                <a:cs typeface="Times New Roman" panose="02020603050405020304" pitchFamily="18" charset="0"/>
              </a:rPr>
              <a:t> class </a:t>
            </a:r>
            <a:r>
              <a:rPr lang="en-US" sz="2000" dirty="0" err="1">
                <a:latin typeface="Times New Roman" panose="02020603050405020304" pitchFamily="18" charset="0"/>
                <a:cs typeface="Times New Roman" panose="02020603050405020304" pitchFamily="18" charset="0"/>
              </a:rPr>
              <a:t>cho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gần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như</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từng</a:t>
            </a:r>
            <a:r>
              <a:rPr lang="en-US" sz="2000" dirty="0">
                <a:latin typeface="Times New Roman" panose="02020603050405020304" pitchFamily="18" charset="0"/>
                <a:cs typeface="Times New Roman" panose="02020603050405020304" pitchFamily="18" charset="0"/>
              </a:rPr>
              <a:t> pixel:</a:t>
            </a:r>
          </a:p>
          <a:p>
            <a:r>
              <a:rPr lang="en-US" sz="2000" b="1" dirty="0">
                <a:latin typeface="Times New Roman" panose="02020603050405020304" pitchFamily="18" charset="0"/>
                <a:cs typeface="Times New Roman" panose="02020603050405020304" pitchFamily="18" charset="0"/>
              </a:rPr>
              <a:t>H × W × (C + 1)</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lượng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phép</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phân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loại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lớn</a:t>
            </a:r>
            <a:r>
              <a:rPr lang="en-US" sz="2000" dirty="0">
                <a:latin typeface="Times New Roman" panose="02020603050405020304" pitchFamily="18" charset="0"/>
                <a:cs typeface="Times New Roman" panose="02020603050405020304" pitchFamily="18" charset="0"/>
              </a:rPr>
              <a:t>.</a:t>
            </a:r>
          </a:p>
        </p:txBody>
      </p:sp>
      <p:pic>
        <p:nvPicPr>
          <p:cNvPr id="17" name="Picture 16">
            <a:extLst>
              <a:ext uri="{FF2B5EF4-FFF2-40B4-BE49-F238E27FC236}">
                <a16:creationId xmlns:a16="http://schemas.microsoft.com/office/drawing/2014/main" id="{CE0E8D8B-2E36-762A-CD9D-B07DE04310CA}"/>
              </a:ext>
            </a:extLst>
          </p:cNvPr>
          <p:cNvPicPr>
            <a:picLocks noChangeAspect="1"/>
          </p:cNvPicPr>
          <p:nvPr/>
        </p:nvPicPr>
        <p:blipFill>
          <a:blip r:embed="rId5"/>
          <a:stretch>
            <a:fillRect/>
          </a:stretch>
        </p:blipFill>
        <p:spPr>
          <a:xfrm>
            <a:off x="4249961" y="1506642"/>
            <a:ext cx="6844342" cy="2373982"/>
          </a:xfrm>
          <a:prstGeom prst="rect">
            <a:avLst/>
          </a:prstGeom>
        </p:spPr>
      </p:pic>
      <p:sp>
        <p:nvSpPr>
          <p:cNvPr id="19" name="Shape 2">
            <a:extLst>
              <a:ext uri="{FF2B5EF4-FFF2-40B4-BE49-F238E27FC236}">
                <a16:creationId xmlns:a16="http://schemas.microsoft.com/office/drawing/2014/main" id="{B066157D-5FAD-8091-466A-F8D431ABDC50}"/>
              </a:ext>
            </a:extLst>
          </p:cNvPr>
          <p:cNvSpPr/>
          <p:nvPr/>
        </p:nvSpPr>
        <p:spPr>
          <a:xfrm>
            <a:off x="732264" y="4535232"/>
            <a:ext cx="5832089" cy="2267012"/>
          </a:xfrm>
          <a:prstGeom prst="roundRect">
            <a:avLst>
              <a:gd name="adj" fmla="val 11303"/>
            </a:avLst>
          </a:prstGeom>
          <a:solidFill>
            <a:srgbClr val="D4E9F7"/>
          </a:solidFill>
          <a:ln w="7620">
            <a:solidFill>
              <a:srgbClr val="BACFDD"/>
            </a:solidFill>
            <a:prstDash val="solid"/>
          </a:ln>
        </p:spPr>
        <p:txBody>
          <a:bodyPr/>
          <a:lstStyle/>
          <a:p>
            <a:r>
              <a:rPr lang="en-US" b="1" dirty="0"/>
              <a:t>Row-based Selecting</a:t>
            </a:r>
          </a:p>
          <a:p>
            <a:r>
              <a:rPr lang="en-US" dirty="0"/>
              <a:t>Thay </a:t>
            </a:r>
            <a:r>
              <a:rPr lang="en-US" dirty="0" err="1"/>
              <a:t>vì</a:t>
            </a:r>
            <a:r>
              <a:rPr lang="en-US" dirty="0"/>
              <a:t> </a:t>
            </a:r>
            <a:r>
              <a:rPr lang="en-US" dirty="0" err="1"/>
              <a:t>kiểm</a:t>
            </a:r>
            <a:r>
              <a:rPr lang="en-US" dirty="0"/>
              <a:t> </a:t>
            </a:r>
            <a:r>
              <a:rPr lang="en-US" dirty="0" err="1"/>
              <a:t>tra</a:t>
            </a:r>
            <a:r>
              <a:rPr lang="en-US" dirty="0"/>
              <a:t> </a:t>
            </a:r>
            <a:r>
              <a:rPr lang="en-US" dirty="0" err="1"/>
              <a:t>tất</a:t>
            </a:r>
            <a:r>
              <a:rPr lang="en-US" dirty="0"/>
              <a:t> </a:t>
            </a:r>
            <a:r>
              <a:rPr lang="en-US" dirty="0" err="1"/>
              <a:t>cả</a:t>
            </a:r>
            <a:r>
              <a:rPr lang="en-US" dirty="0"/>
              <a:t> pixel: </a:t>
            </a:r>
            <a:r>
              <a:rPr lang="en-US" dirty="0" err="1"/>
              <a:t>Chọn</a:t>
            </a:r>
            <a:r>
              <a:rPr lang="en-US" dirty="0"/>
              <a:t> </a:t>
            </a:r>
            <a:r>
              <a:rPr lang="en-US" dirty="0" err="1"/>
              <a:t>trước</a:t>
            </a:r>
            <a:r>
              <a:rPr lang="en-US" dirty="0"/>
              <a:t> </a:t>
            </a:r>
            <a:r>
              <a:rPr lang="en-US" b="1" dirty="0"/>
              <a:t>h Row Anchors</a:t>
            </a:r>
            <a:r>
              <a:rPr lang="en-US" dirty="0"/>
              <a:t>. </a:t>
            </a:r>
            <a:r>
              <a:rPr lang="en-US" dirty="0" err="1"/>
              <a:t>Mỗi</a:t>
            </a:r>
            <a:r>
              <a:rPr lang="en-US" dirty="0"/>
              <a:t> </a:t>
            </a:r>
            <a:r>
              <a:rPr lang="en-US" dirty="0" err="1"/>
              <a:t>hàng</a:t>
            </a:r>
            <a:r>
              <a:rPr lang="en-US" dirty="0"/>
              <a:t> chia </a:t>
            </a:r>
            <a:r>
              <a:rPr lang="en-US" dirty="0" err="1"/>
              <a:t>thành</a:t>
            </a:r>
            <a:r>
              <a:rPr lang="en-US" dirty="0"/>
              <a:t> </a:t>
            </a:r>
            <a:r>
              <a:rPr lang="en-US" b="1" dirty="0"/>
              <a:t>w grid cells</a:t>
            </a:r>
            <a:r>
              <a:rPr lang="en-US" dirty="0"/>
              <a:t>. </a:t>
            </a:r>
          </a:p>
          <a:p>
            <a:pPr lvl="0"/>
            <a:r>
              <a:rPr lang="en-US" dirty="0" err="1"/>
              <a:t>Với</a:t>
            </a:r>
            <a:r>
              <a:rPr lang="en-US" dirty="0"/>
              <a:t> </a:t>
            </a:r>
            <a:r>
              <a:rPr lang="en-US" dirty="0" err="1"/>
              <a:t>mỗi</a:t>
            </a:r>
            <a:r>
              <a:rPr lang="en-US" dirty="0"/>
              <a:t> lane:</a:t>
            </a:r>
            <a:br>
              <a:rPr lang="en-US" dirty="0"/>
            </a:br>
            <a:r>
              <a:rPr lang="en-US" dirty="0"/>
              <a:t>→ model </a:t>
            </a:r>
            <a:r>
              <a:rPr lang="en-US" dirty="0" err="1"/>
              <a:t>chỉ</a:t>
            </a:r>
            <a:r>
              <a:rPr lang="en-US" dirty="0"/>
              <a:t> </a:t>
            </a:r>
            <a:r>
              <a:rPr lang="en-US" dirty="0" err="1"/>
              <a:t>cần</a:t>
            </a:r>
            <a:r>
              <a:rPr lang="en-US" dirty="0"/>
              <a:t> </a:t>
            </a:r>
            <a:r>
              <a:rPr lang="en-US" dirty="0" err="1"/>
              <a:t>chọn</a:t>
            </a:r>
            <a:r>
              <a:rPr lang="en-US" dirty="0"/>
              <a:t> </a:t>
            </a:r>
            <a:r>
              <a:rPr lang="en-US" b="1" dirty="0"/>
              <a:t>cell </a:t>
            </a:r>
            <a:r>
              <a:rPr lang="en-US" b="1" dirty="0" err="1"/>
              <a:t>nào</a:t>
            </a:r>
            <a:r>
              <a:rPr lang="en-US" b="1" dirty="0"/>
              <a:t> </a:t>
            </a:r>
            <a:r>
              <a:rPr lang="en-US" b="1" dirty="0" err="1"/>
              <a:t>chứa</a:t>
            </a:r>
            <a:r>
              <a:rPr lang="en-US" b="1" dirty="0"/>
              <a:t> lane</a:t>
            </a:r>
            <a:r>
              <a:rPr lang="en-US" dirty="0"/>
              <a:t>. </a:t>
            </a:r>
          </a:p>
          <a:p>
            <a:pPr lvl="0"/>
            <a:r>
              <a:rPr lang="en-US" dirty="0" err="1"/>
              <a:t>Nếu</a:t>
            </a:r>
            <a:r>
              <a:rPr lang="en-US" dirty="0"/>
              <a:t> </a:t>
            </a:r>
            <a:r>
              <a:rPr lang="en-US" dirty="0" err="1"/>
              <a:t>không</a:t>
            </a:r>
            <a:r>
              <a:rPr lang="en-US" dirty="0"/>
              <a:t> </a:t>
            </a:r>
            <a:r>
              <a:rPr lang="en-US" dirty="0" err="1"/>
              <a:t>có</a:t>
            </a:r>
            <a:r>
              <a:rPr lang="en-US" dirty="0"/>
              <a:t> lane </a:t>
            </a:r>
            <a:r>
              <a:rPr lang="en-US" dirty="0" err="1"/>
              <a:t>tại</a:t>
            </a:r>
            <a:r>
              <a:rPr lang="en-US" dirty="0"/>
              <a:t> </a:t>
            </a:r>
            <a:r>
              <a:rPr lang="en-US" dirty="0" err="1"/>
              <a:t>hàng</a:t>
            </a:r>
            <a:r>
              <a:rPr lang="en-US" dirty="0"/>
              <a:t> </a:t>
            </a:r>
            <a:r>
              <a:rPr lang="en-US" dirty="0" err="1"/>
              <a:t>đó</a:t>
            </a:r>
            <a:r>
              <a:rPr lang="en-US" dirty="0"/>
              <a:t>:</a:t>
            </a:r>
            <a:br>
              <a:rPr lang="en-US" dirty="0"/>
            </a:br>
            <a:r>
              <a:rPr lang="en-US" dirty="0"/>
              <a:t>→ </a:t>
            </a:r>
            <a:r>
              <a:rPr lang="en-US" dirty="0" err="1"/>
              <a:t>chọn</a:t>
            </a:r>
            <a:r>
              <a:rPr lang="en-US" dirty="0"/>
              <a:t> </a:t>
            </a:r>
            <a:r>
              <a:rPr lang="en-US" b="1" dirty="0"/>
              <a:t>background cell</a:t>
            </a:r>
            <a:r>
              <a:rPr lang="en-US" dirty="0"/>
              <a: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8133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13F70C21-6BDC-BF5E-A249-02F832C7890E}"/>
              </a:ext>
            </a:extLst>
          </p:cNvPr>
          <p:cNvPicPr>
            <a:picLocks noChangeAspect="1"/>
          </p:cNvPicPr>
          <p:nvPr/>
        </p:nvPicPr>
        <p:blipFill>
          <a:blip r:embed="rId2"/>
          <a:stretch>
            <a:fillRect/>
          </a:stretch>
        </p:blipFill>
        <p:spPr>
          <a:xfrm>
            <a:off x="10106181" y="6376129"/>
            <a:ext cx="4524219" cy="1853471"/>
          </a:xfrm>
          <a:prstGeom prst="rect">
            <a:avLst/>
          </a:prstGeom>
          <a:noFill/>
        </p:spPr>
      </p:pic>
      <p:graphicFrame>
        <p:nvGraphicFramePr>
          <p:cNvPr id="38" name="Table 37">
            <a:extLst>
              <a:ext uri="{FF2B5EF4-FFF2-40B4-BE49-F238E27FC236}">
                <a16:creationId xmlns:a16="http://schemas.microsoft.com/office/drawing/2014/main" id="{70FD61C0-B22B-97BC-408A-B5EF4C307E9C}"/>
              </a:ext>
            </a:extLst>
          </p:cNvPr>
          <p:cNvGraphicFramePr>
            <a:graphicFrameLocks noGrp="1"/>
          </p:cNvGraphicFramePr>
          <p:nvPr>
            <p:extLst>
              <p:ext uri="{D42A27DB-BD31-4B8C-83A1-F6EECF244321}">
                <p14:modId xmlns:p14="http://schemas.microsoft.com/office/powerpoint/2010/main" val="424058899"/>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kern="1200"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en-US" sz="3600" b="1" kern="1200"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3</a:t>
                      </a:r>
                      <a:r>
                        <a:rPr lang="en-US" sz="3600" b="1" kern="1200" dirty="0">
                          <a:solidFill>
                            <a:schemeClr val="tx1">
                              <a:lumMod val="95000"/>
                              <a:lumOff val="5000"/>
                            </a:schemeClr>
                          </a:solidFill>
                          <a:latin typeface="+mj-lt"/>
                          <a:ea typeface="Fraunces Extra Bold" pitchFamily="34" charset="-122"/>
                          <a:cs typeface="Fraunces Extra Bold" pitchFamily="34" charset="-120"/>
                        </a:rPr>
                        <a:t>)</a:t>
                      </a:r>
                      <a:endParaRPr lang="vi-VN" sz="3600" b="1" kern="1200" dirty="0">
                        <a:solidFill>
                          <a:schemeClr val="tx1">
                            <a:lumMod val="95000"/>
                            <a:lumOff val="5000"/>
                          </a:schemeClr>
                        </a:solidFill>
                        <a:latin typeface="+mj-lt"/>
                        <a:ea typeface="Fraunces Extra Bold" pitchFamily="34" charset="-122"/>
                        <a:cs typeface="Fraunces Extra Bold" pitchFamily="34" charset="-120"/>
                      </a:endParaRPr>
                    </a:p>
                  </a:txBody>
                  <a:tcPr/>
                </a:tc>
                <a:extLst>
                  <a:ext uri="{0D108BD9-81ED-4DB2-BD59-A6C34878D82A}">
                    <a16:rowId xmlns:a16="http://schemas.microsoft.com/office/drawing/2014/main" val="10000"/>
                  </a:ext>
                </a:extLst>
              </a:tr>
            </a:tbl>
          </a:graphicData>
        </a:graphic>
      </p:graphicFrame>
      <p:pic>
        <p:nvPicPr>
          <p:cNvPr id="40" name="Picture 39">
            <a:extLst>
              <a:ext uri="{FF2B5EF4-FFF2-40B4-BE49-F238E27FC236}">
                <a16:creationId xmlns:a16="http://schemas.microsoft.com/office/drawing/2014/main" id="{4405F83E-D388-EC20-0D7C-FE58EFB95ACB}"/>
              </a:ext>
            </a:extLst>
          </p:cNvPr>
          <p:cNvPicPr/>
          <p:nvPr/>
        </p:nvPicPr>
        <p:blipFill>
          <a:blip r:embed="rId3"/>
          <a:stretch>
            <a:fillRect/>
          </a:stretch>
        </p:blipFill>
        <p:spPr>
          <a:xfrm>
            <a:off x="-118532" y="-145263"/>
            <a:ext cx="1371600" cy="1390223"/>
          </a:xfrm>
          <a:prstGeom prst="rect">
            <a:avLst/>
          </a:prstGeom>
        </p:spPr>
      </p:pic>
      <p:pic>
        <p:nvPicPr>
          <p:cNvPr id="42" name="Picture 41">
            <a:extLst>
              <a:ext uri="{FF2B5EF4-FFF2-40B4-BE49-F238E27FC236}">
                <a16:creationId xmlns:a16="http://schemas.microsoft.com/office/drawing/2014/main" id="{CB472611-8083-21CC-986E-5D8786140172}"/>
              </a:ext>
            </a:extLst>
          </p:cNvPr>
          <p:cNvPicPr>
            <a:picLocks noChangeAspect="1"/>
          </p:cNvPicPr>
          <p:nvPr/>
        </p:nvPicPr>
        <p:blipFill>
          <a:blip r:embed="rId4"/>
          <a:stretch>
            <a:fillRect/>
          </a:stretch>
        </p:blipFill>
        <p:spPr>
          <a:xfrm>
            <a:off x="-60587" y="1123573"/>
            <a:ext cx="3073558" cy="133357"/>
          </a:xfrm>
          <a:prstGeom prst="rect">
            <a:avLst/>
          </a:prstGeom>
        </p:spPr>
      </p:pic>
      <p:sp>
        <p:nvSpPr>
          <p:cNvPr id="44" name="Shape 2">
            <a:extLst>
              <a:ext uri="{FF2B5EF4-FFF2-40B4-BE49-F238E27FC236}">
                <a16:creationId xmlns:a16="http://schemas.microsoft.com/office/drawing/2014/main" id="{5AD022F7-4B2D-B862-C64B-F89F29E023DC}"/>
              </a:ext>
            </a:extLst>
          </p:cNvPr>
          <p:cNvSpPr/>
          <p:nvPr/>
        </p:nvSpPr>
        <p:spPr>
          <a:xfrm>
            <a:off x="3691054" y="1132567"/>
            <a:ext cx="7694341" cy="3562096"/>
          </a:xfrm>
          <a:prstGeom prst="roundRect">
            <a:avLst>
              <a:gd name="adj" fmla="val 11303"/>
            </a:avLst>
          </a:prstGeom>
          <a:solidFill>
            <a:srgbClr val="D4E9F7"/>
          </a:solidFill>
          <a:ln w="7620">
            <a:solidFill>
              <a:srgbClr val="BACFDD"/>
            </a:solidFill>
            <a:prstDash val="solid"/>
          </a:ln>
        </p:spPr>
        <p:txBody>
          <a:bodyPr/>
          <a:lstStyle/>
          <a:p>
            <a:endParaRPr lang="en-US" dirty="0">
              <a:latin typeface="Times New Roman" panose="02020603050405020304" pitchFamily="18" charset="0"/>
              <a:cs typeface="Times New Roman" panose="02020603050405020304" pitchFamily="18" charset="0"/>
            </a:endParaRPr>
          </a:p>
        </p:txBody>
      </p:sp>
      <p:pic>
        <p:nvPicPr>
          <p:cNvPr id="46" name="Picture 45">
            <a:extLst>
              <a:ext uri="{FF2B5EF4-FFF2-40B4-BE49-F238E27FC236}">
                <a16:creationId xmlns:a16="http://schemas.microsoft.com/office/drawing/2014/main" id="{0E3F367B-FB4B-ED5E-6CC5-A0B214F1D30A}"/>
              </a:ext>
            </a:extLst>
          </p:cNvPr>
          <p:cNvPicPr>
            <a:picLocks noChangeAspect="1"/>
          </p:cNvPicPr>
          <p:nvPr/>
        </p:nvPicPr>
        <p:blipFill>
          <a:blip r:embed="rId5"/>
          <a:stretch>
            <a:fillRect/>
          </a:stretch>
        </p:blipFill>
        <p:spPr>
          <a:xfrm>
            <a:off x="3802566" y="1256930"/>
            <a:ext cx="7478804" cy="3316743"/>
          </a:xfrm>
          <a:prstGeom prst="rect">
            <a:avLst/>
          </a:prstGeom>
        </p:spPr>
      </p:pic>
      <p:sp>
        <p:nvSpPr>
          <p:cNvPr id="48" name="Shape 2">
            <a:extLst>
              <a:ext uri="{FF2B5EF4-FFF2-40B4-BE49-F238E27FC236}">
                <a16:creationId xmlns:a16="http://schemas.microsoft.com/office/drawing/2014/main" id="{FCAB9C30-2BE2-CF76-CB94-5E468775C8C4}"/>
              </a:ext>
            </a:extLst>
          </p:cNvPr>
          <p:cNvSpPr/>
          <p:nvPr/>
        </p:nvSpPr>
        <p:spPr>
          <a:xfrm>
            <a:off x="3537090" y="4998600"/>
            <a:ext cx="8002268" cy="1974070"/>
          </a:xfrm>
          <a:prstGeom prst="roundRect">
            <a:avLst>
              <a:gd name="adj" fmla="val 11303"/>
            </a:avLst>
          </a:prstGeom>
          <a:solidFill>
            <a:srgbClr val="D4E9F7"/>
          </a:solidFill>
          <a:ln w="7620">
            <a:solidFill>
              <a:srgbClr val="BACFDD"/>
            </a:solidFill>
            <a:prstDash val="solid"/>
          </a:ln>
        </p:spPr>
        <p:txBody>
          <a:bodyPr/>
          <a:lstStyle/>
          <a:p>
            <a:pPr lvl="0"/>
            <a:r>
              <a:rPr lang="en-US" b="1" dirty="0">
                <a:latin typeface="Times New Roman" panose="02020603050405020304" pitchFamily="18" charset="0"/>
                <a:cs typeface="Times New Roman" panose="02020603050405020304" pitchFamily="18" charset="0"/>
              </a:rPr>
              <a:t>Global Features: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hỗ</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lane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dấu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p>
          <a:p>
            <a:pPr lvl="0"/>
            <a:r>
              <a:rPr lang="en-US" b="1" dirty="0">
                <a:latin typeface="Times New Roman" panose="02020603050405020304" pitchFamily="18" charset="0"/>
                <a:cs typeface="Times New Roman" panose="02020603050405020304" pitchFamily="18" charset="0"/>
              </a:rPr>
              <a:t>Structural Loss: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liên</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tục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và</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hình</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dạng</a:t>
            </a:r>
            <a:r>
              <a:rPr lang="en-US" dirty="0">
                <a:solidFill>
                  <a:srgbClr val="FF0000"/>
                </a:solidFill>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lane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đoán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ổn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hơn</a:t>
            </a:r>
            <a:r>
              <a:rPr lang="en-US" dirty="0">
                <a:latin typeface="Times New Roman" panose="02020603050405020304" pitchFamily="18" charset="0"/>
                <a:cs typeface="Times New Roman" panose="02020603050405020304" pitchFamily="18" charset="0"/>
              </a:rPr>
              <a:t>. </a:t>
            </a:r>
          </a:p>
          <a:p>
            <a:pPr lvl="0"/>
            <a:r>
              <a:rPr lang="en-US" b="1" dirty="0">
                <a:latin typeface="Times New Roman" panose="02020603050405020304" pitchFamily="18" charset="0"/>
                <a:cs typeface="Times New Roman" panose="02020603050405020304" pitchFamily="18" charset="0"/>
              </a:rPr>
              <a:t>Auxiliary Segmentation: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huấn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luyện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hỗ</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trưng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được</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loại</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bỏ</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khi</a:t>
            </a:r>
            <a:r>
              <a:rPr lang="en-US" b="1" dirty="0">
                <a:solidFill>
                  <a:srgbClr val="FF0000"/>
                </a:solidFill>
                <a:latin typeface="Times New Roman" panose="02020603050405020304" pitchFamily="18" charset="0"/>
                <a:cs typeface="Times New Roman" panose="02020603050405020304" pitchFamily="18" charset="0"/>
              </a:rPr>
              <a:t> inference</a:t>
            </a:r>
            <a:r>
              <a:rPr lang="en-US" dirty="0">
                <a:solidFill>
                  <a:srgbClr val="FF0000"/>
                </a:solidFill>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chạy</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3506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20FA924-AE25-7682-0541-EB46E959A182}"/>
              </a:ext>
            </a:extLst>
          </p:cNvPr>
          <p:cNvGraphicFramePr>
            <a:graphicFrameLocks noGrp="1"/>
          </p:cNvGraphicFramePr>
          <p:nvPr>
            <p:extLst>
              <p:ext uri="{D42A27DB-BD31-4B8C-83A1-F6EECF244321}">
                <p14:modId xmlns:p14="http://schemas.microsoft.com/office/powerpoint/2010/main" val="1702282383"/>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3</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5" name="Picture 4">
            <a:extLst>
              <a:ext uri="{FF2B5EF4-FFF2-40B4-BE49-F238E27FC236}">
                <a16:creationId xmlns:a16="http://schemas.microsoft.com/office/drawing/2014/main" id="{FFBC0501-AA84-65FE-2864-C44B395BBE56}"/>
              </a:ext>
            </a:extLst>
          </p:cNvPr>
          <p:cNvPicPr/>
          <p:nvPr/>
        </p:nvPicPr>
        <p:blipFill>
          <a:blip r:embed="rId2"/>
          <a:stretch>
            <a:fillRect/>
          </a:stretch>
        </p:blipFill>
        <p:spPr>
          <a:xfrm>
            <a:off x="-118532" y="-145263"/>
            <a:ext cx="1371600" cy="1390223"/>
          </a:xfrm>
          <a:prstGeom prst="rect">
            <a:avLst/>
          </a:prstGeom>
        </p:spPr>
      </p:pic>
      <p:pic>
        <p:nvPicPr>
          <p:cNvPr id="7" name="Picture 6">
            <a:extLst>
              <a:ext uri="{FF2B5EF4-FFF2-40B4-BE49-F238E27FC236}">
                <a16:creationId xmlns:a16="http://schemas.microsoft.com/office/drawing/2014/main" id="{61F78E6F-2380-2540-B8F8-D105ABBA57D0}"/>
              </a:ext>
            </a:extLst>
          </p:cNvPr>
          <p:cNvPicPr>
            <a:picLocks noChangeAspect="1"/>
          </p:cNvPicPr>
          <p:nvPr/>
        </p:nvPicPr>
        <p:blipFill>
          <a:blip r:embed="rId3"/>
          <a:stretch>
            <a:fillRect/>
          </a:stretch>
        </p:blipFill>
        <p:spPr>
          <a:xfrm>
            <a:off x="-118532" y="1111603"/>
            <a:ext cx="3073558" cy="133357"/>
          </a:xfrm>
          <a:prstGeom prst="rect">
            <a:avLst/>
          </a:prstGeom>
        </p:spPr>
      </p:pic>
      <p:sp>
        <p:nvSpPr>
          <p:cNvPr id="9" name="Shape 2">
            <a:extLst>
              <a:ext uri="{FF2B5EF4-FFF2-40B4-BE49-F238E27FC236}">
                <a16:creationId xmlns:a16="http://schemas.microsoft.com/office/drawing/2014/main" id="{757BC73B-557C-926D-A083-BF50700B0D2B}"/>
              </a:ext>
            </a:extLst>
          </p:cNvPr>
          <p:cNvSpPr/>
          <p:nvPr/>
        </p:nvSpPr>
        <p:spPr>
          <a:xfrm>
            <a:off x="3882747" y="1141014"/>
            <a:ext cx="6864905" cy="1535485"/>
          </a:xfrm>
          <a:prstGeom prst="roundRect">
            <a:avLst>
              <a:gd name="adj" fmla="val 11303"/>
            </a:avLst>
          </a:prstGeom>
          <a:solidFill>
            <a:srgbClr val="D4E9F7"/>
          </a:solidFill>
          <a:ln w="7620">
            <a:solidFill>
              <a:srgbClr val="BACFDD"/>
            </a:solidFill>
            <a:prstDash val="solid"/>
          </a:ln>
        </p:spPr>
        <p:txBody>
          <a:bodyPr/>
          <a:lstStyle/>
          <a:p>
            <a:r>
              <a:rPr lang="en-US" dirty="0" err="1">
                <a:highlight>
                  <a:srgbClr val="00FFFF"/>
                </a:highlight>
                <a:latin typeface="Times New Roman" panose="02020603050405020304" pitchFamily="18" charset="0"/>
                <a:cs typeface="Times New Roman" panose="02020603050405020304" pitchFamily="18" charset="0"/>
              </a:rPr>
              <a:t>Hạn</a:t>
            </a:r>
            <a:r>
              <a:rPr lang="en-US" dirty="0">
                <a:highlight>
                  <a:srgbClr val="00FFFF"/>
                </a:highlight>
                <a:latin typeface="Times New Roman" panose="02020603050405020304" pitchFamily="18" charset="0"/>
                <a:cs typeface="Times New Roman" panose="02020603050405020304" pitchFamily="18" charset="0"/>
              </a:rPr>
              <a:t> </a:t>
            </a:r>
            <a:r>
              <a:rPr lang="en-US" dirty="0" err="1">
                <a:highlight>
                  <a:srgbClr val="00FFFF"/>
                </a:highlight>
                <a:latin typeface="Times New Roman" panose="02020603050405020304" pitchFamily="18" charset="0"/>
                <a:cs typeface="Times New Roman" panose="02020603050405020304" pitchFamily="18" charset="0"/>
              </a:rPr>
              <a:t>chế</a:t>
            </a:r>
            <a:r>
              <a:rPr lang="en-US" dirty="0">
                <a:highlight>
                  <a:srgbClr val="00FFFF"/>
                </a:highlight>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Hiệu </a:t>
            </a:r>
            <a:r>
              <a:rPr lang="en-US" dirty="0" err="1">
                <a:latin typeface="Times New Roman" panose="02020603050405020304" pitchFamily="18" charset="0"/>
                <a:cs typeface="Times New Roman" panose="02020603050405020304" pitchFamily="18" charset="0"/>
              </a:rPr>
              <a:t>quả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giảm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gần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như</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không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tồn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Gặp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ánh</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sáng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chói</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phức</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tạp</a:t>
            </a:r>
            <a:r>
              <a:rPr lang="en-US"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giao</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vẫn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sai</a:t>
            </a:r>
            <a:r>
              <a:rPr lang="en-US"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lane, </a:t>
            </a:r>
            <a:r>
              <a:rPr lang="en-US" dirty="0" err="1">
                <a:latin typeface="Times New Roman" panose="02020603050405020304" pitchFamily="18" charset="0"/>
                <a:cs typeface="Times New Roman" panose="02020603050405020304" pitchFamily="18" charset="0"/>
              </a:rPr>
              <a:t>chưa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Drivable Area / Vehicle / Ego-Lane.</a:t>
            </a:r>
          </a:p>
        </p:txBody>
      </p:sp>
      <p:pic>
        <p:nvPicPr>
          <p:cNvPr id="11" name="Picture 10">
            <a:extLst>
              <a:ext uri="{FF2B5EF4-FFF2-40B4-BE49-F238E27FC236}">
                <a16:creationId xmlns:a16="http://schemas.microsoft.com/office/drawing/2014/main" id="{B2A9F3EA-5B80-0129-F3F7-E77F649F07E9}"/>
              </a:ext>
            </a:extLst>
          </p:cNvPr>
          <p:cNvPicPr>
            <a:picLocks noChangeAspect="1"/>
          </p:cNvPicPr>
          <p:nvPr/>
        </p:nvPicPr>
        <p:blipFill>
          <a:blip r:embed="rId4"/>
          <a:stretch>
            <a:fillRect/>
          </a:stretch>
        </p:blipFill>
        <p:spPr>
          <a:xfrm>
            <a:off x="10106181" y="6376129"/>
            <a:ext cx="4524219" cy="1853471"/>
          </a:xfrm>
          <a:prstGeom prst="rect">
            <a:avLst/>
          </a:prstGeom>
          <a:noFill/>
        </p:spPr>
      </p:pic>
      <p:sp>
        <p:nvSpPr>
          <p:cNvPr id="13" name="Shape 2">
            <a:extLst>
              <a:ext uri="{FF2B5EF4-FFF2-40B4-BE49-F238E27FC236}">
                <a16:creationId xmlns:a16="http://schemas.microsoft.com/office/drawing/2014/main" id="{E1DCB10D-0A1B-75F8-05E2-683A1C1144D5}"/>
              </a:ext>
            </a:extLst>
          </p:cNvPr>
          <p:cNvSpPr/>
          <p:nvPr/>
        </p:nvSpPr>
        <p:spPr>
          <a:xfrm>
            <a:off x="3769112" y="2932770"/>
            <a:ext cx="7103328" cy="5020160"/>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15" name="Picture 14">
            <a:extLst>
              <a:ext uri="{FF2B5EF4-FFF2-40B4-BE49-F238E27FC236}">
                <a16:creationId xmlns:a16="http://schemas.microsoft.com/office/drawing/2014/main" id="{AA88D6EC-51A5-95CE-110D-B9CF9E48F57F}"/>
              </a:ext>
            </a:extLst>
          </p:cNvPr>
          <p:cNvPicPr>
            <a:picLocks noChangeAspect="1"/>
          </p:cNvPicPr>
          <p:nvPr/>
        </p:nvPicPr>
        <p:blipFill>
          <a:blip r:embed="rId5"/>
          <a:stretch>
            <a:fillRect/>
          </a:stretch>
        </p:blipFill>
        <p:spPr>
          <a:xfrm>
            <a:off x="4159405" y="3026252"/>
            <a:ext cx="6402138" cy="4820142"/>
          </a:xfrm>
          <a:prstGeom prst="rect">
            <a:avLst/>
          </a:prstGeom>
        </p:spPr>
      </p:pic>
    </p:spTree>
    <p:extLst>
      <p:ext uri="{BB962C8B-B14F-4D97-AF65-F5344CB8AC3E}">
        <p14:creationId xmlns:p14="http://schemas.microsoft.com/office/powerpoint/2010/main" val="341508096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95A3BE9C-6F78-D7BD-1F86-F48CC18F0295}"/>
              </a:ext>
            </a:extLst>
          </p:cNvPr>
          <p:cNvPicPr>
            <a:picLocks noChangeAspect="1"/>
          </p:cNvPicPr>
          <p:nvPr/>
        </p:nvPicPr>
        <p:blipFill>
          <a:blip r:embed="rId2"/>
          <a:stretch>
            <a:fillRect/>
          </a:stretch>
        </p:blipFill>
        <p:spPr>
          <a:xfrm>
            <a:off x="10068027" y="6353780"/>
            <a:ext cx="4524219" cy="1853471"/>
          </a:xfrm>
          <a:prstGeom prst="rect">
            <a:avLst/>
          </a:prstGeom>
          <a:noFill/>
        </p:spPr>
      </p:pic>
      <p:sp>
        <p:nvSpPr>
          <p:cNvPr id="31" name="Shape 2">
            <a:extLst>
              <a:ext uri="{FF2B5EF4-FFF2-40B4-BE49-F238E27FC236}">
                <a16:creationId xmlns:a16="http://schemas.microsoft.com/office/drawing/2014/main" id="{9A91132F-3B17-8E40-D763-4307E6AE2388}"/>
              </a:ext>
            </a:extLst>
          </p:cNvPr>
          <p:cNvSpPr/>
          <p:nvPr/>
        </p:nvSpPr>
        <p:spPr>
          <a:xfrm>
            <a:off x="8382000" y="1138965"/>
            <a:ext cx="6823363" cy="5490435"/>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graphicFrame>
        <p:nvGraphicFramePr>
          <p:cNvPr id="25" name="Table 24">
            <a:extLst>
              <a:ext uri="{FF2B5EF4-FFF2-40B4-BE49-F238E27FC236}">
                <a16:creationId xmlns:a16="http://schemas.microsoft.com/office/drawing/2014/main" id="{F91B4F90-A536-D557-275A-468A111D8BCF}"/>
              </a:ext>
            </a:extLst>
          </p:cNvPr>
          <p:cNvGraphicFramePr>
            <a:graphicFrameLocks noGrp="1"/>
          </p:cNvGraphicFramePr>
          <p:nvPr>
            <p:extLst>
              <p:ext uri="{D42A27DB-BD31-4B8C-83A1-F6EECF244321}">
                <p14:modId xmlns:p14="http://schemas.microsoft.com/office/powerpoint/2010/main" val="4163409432"/>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4</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sp>
        <p:nvSpPr>
          <p:cNvPr id="3" name="Shape 2">
            <a:extLst>
              <a:ext uri="{FF2B5EF4-FFF2-40B4-BE49-F238E27FC236}">
                <a16:creationId xmlns:a16="http://schemas.microsoft.com/office/drawing/2014/main" id="{7FCEBEA8-F37B-0EB3-E1B9-684E4CB4BF45}"/>
              </a:ext>
            </a:extLst>
          </p:cNvPr>
          <p:cNvSpPr/>
          <p:nvPr/>
        </p:nvSpPr>
        <p:spPr>
          <a:xfrm>
            <a:off x="1209216" y="1441301"/>
            <a:ext cx="5873612" cy="2755058"/>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sp>
        <p:nvSpPr>
          <p:cNvPr id="9" name="page-1">
            <a:extLst>
              <a:ext uri="{FF2B5EF4-FFF2-40B4-BE49-F238E27FC236}">
                <a16:creationId xmlns:a16="http://schemas.microsoft.com/office/drawing/2014/main" id="{481E18CD-C566-067B-C2AA-3980969A8AB2}"/>
              </a:ext>
            </a:extLst>
          </p:cNvPr>
          <p:cNvSpPr>
            <a:spLocks noGrp="1"/>
          </p:cNvSpPr>
          <p:nvPr/>
        </p:nvSpPr>
        <p:spPr>
          <a:xfrm>
            <a:off x="11374735" y="7429500"/>
            <a:ext cx="361950" cy="190500"/>
          </a:xfrm>
          <a:prstGeom prst="rect">
            <a:avLst/>
          </a:prstGeom>
          <a:noFill/>
          <a:ln w="0">
            <a:noFill/>
            <a:prstDash val="solid"/>
          </a:ln>
        </p:spPr>
        <p:txBody>
          <a:bodyPr lIns="38100" tIns="19050" rIns="38100" bIns="19050" anchor="t">
            <a:normAutofit/>
          </a:bodyPr>
          <a:lstStyle/>
          <a:p>
            <a:pPr algn="r">
              <a:defRPr sz="900">
                <a:solidFill>
                  <a:srgbClr val="666666"/>
                </a:solidFill>
                <a:latin typeface="Arial"/>
                <a:ea typeface="Arial"/>
                <a:cs typeface="Arial"/>
              </a:defRPr>
            </a:pPr>
            <a:r>
              <a:rPr sz="900">
                <a:solidFill>
                  <a:srgbClr val="666666"/>
                </a:solidFill>
                <a:latin typeface="+mn-ea"/>
                <a:cs typeface="Arial"/>
              </a:rPr>
              <a:t>1</a:t>
            </a:r>
          </a:p>
        </p:txBody>
      </p:sp>
      <p:sp>
        <p:nvSpPr>
          <p:cNvPr id="11" name="laneatt-paper">
            <a:extLst>
              <a:ext uri="{FF2B5EF4-FFF2-40B4-BE49-F238E27FC236}">
                <a16:creationId xmlns:a16="http://schemas.microsoft.com/office/drawing/2014/main" id="{B17F0C19-72BE-88C8-84DF-754FE5E4AA38}"/>
              </a:ext>
            </a:extLst>
          </p:cNvPr>
          <p:cNvSpPr>
            <a:spLocks noGrp="1"/>
          </p:cNvSpPr>
          <p:nvPr/>
        </p:nvSpPr>
        <p:spPr>
          <a:xfrm>
            <a:off x="2139353" y="1288901"/>
            <a:ext cx="6286500" cy="304800"/>
          </a:xfrm>
          <a:prstGeom prst="rect">
            <a:avLst/>
          </a:prstGeom>
          <a:noFill/>
          <a:ln w="0">
            <a:noFill/>
            <a:prstDash val="solid"/>
          </a:ln>
        </p:spPr>
        <p:txBody>
          <a:bodyPr lIns="38100" tIns="19050" rIns="38100" bIns="19050" anchor="t">
            <a:normAutofit/>
          </a:bodyPr>
          <a:lstStyle/>
          <a:p>
            <a:pPr>
              <a:defRPr sz="1275" b="1">
                <a:solidFill>
                  <a:srgbClr val="0068A8"/>
                </a:solidFill>
                <a:latin typeface="Arial"/>
                <a:ea typeface="Arial"/>
                <a:cs typeface="Arial"/>
              </a:defRPr>
            </a:pPr>
            <a:endParaRPr sz="1275" b="1" dirty="0">
              <a:solidFill>
                <a:srgbClr val="0068A8"/>
              </a:solidFill>
              <a:latin typeface="+mn-ea"/>
              <a:cs typeface="Arial"/>
            </a:endParaRPr>
          </a:p>
        </p:txBody>
      </p:sp>
      <p:sp>
        <p:nvSpPr>
          <p:cNvPr id="13" name="laneatt-overview">
            <a:extLst>
              <a:ext uri="{FF2B5EF4-FFF2-40B4-BE49-F238E27FC236}">
                <a16:creationId xmlns:a16="http://schemas.microsoft.com/office/drawing/2014/main" id="{FE93E951-DA6D-170B-467F-49CA02D44557}"/>
              </a:ext>
            </a:extLst>
          </p:cNvPr>
          <p:cNvSpPr>
            <a:spLocks noGrp="1"/>
          </p:cNvSpPr>
          <p:nvPr/>
        </p:nvSpPr>
        <p:spPr>
          <a:xfrm>
            <a:off x="1340951" y="1593701"/>
            <a:ext cx="5334000" cy="4114800"/>
          </a:xfrm>
          <a:prstGeom prst="rect">
            <a:avLst/>
          </a:prstGeom>
          <a:noFill/>
          <a:ln w="0">
            <a:noFill/>
            <a:prstDash val="solid"/>
          </a:ln>
        </p:spPr>
        <p:txBody>
          <a:bodyPr lIns="38100" tIns="28575" rIns="38100" bIns="28575" anchor="t">
            <a:normAutofit/>
          </a:bodyPr>
          <a:lstStyle/>
          <a:p>
            <a:r>
              <a:rPr lang="en-US" sz="1400" b="1" dirty="0" err="1">
                <a:highlight>
                  <a:srgbClr val="FFFF00"/>
                </a:highlight>
                <a:latin typeface="+mn-ea"/>
              </a:rPr>
              <a:t>Vấn</a:t>
            </a:r>
            <a:r>
              <a:rPr lang="en-US" sz="1400" b="1" dirty="0">
                <a:highlight>
                  <a:srgbClr val="FFFF00"/>
                </a:highlight>
                <a:latin typeface="+mn-ea"/>
              </a:rPr>
              <a:t> </a:t>
            </a:r>
            <a:r>
              <a:rPr lang="en-US" sz="1400" b="1" dirty="0" err="1">
                <a:highlight>
                  <a:srgbClr val="FFFF00"/>
                </a:highlight>
                <a:latin typeface="+mn-ea"/>
              </a:rPr>
              <a:t>đề</a:t>
            </a:r>
            <a:r>
              <a:rPr lang="en-US" sz="1400" b="1" dirty="0">
                <a:highlight>
                  <a:srgbClr val="FFFF00"/>
                </a:highlight>
                <a:latin typeface="+mn-ea"/>
              </a:rPr>
              <a:t> </a:t>
            </a:r>
            <a:r>
              <a:rPr lang="en-US" sz="1400" b="1" dirty="0" err="1">
                <a:highlight>
                  <a:srgbClr val="FFFF00"/>
                </a:highlight>
                <a:latin typeface="+mn-ea"/>
              </a:rPr>
              <a:t>mà</a:t>
            </a:r>
            <a:r>
              <a:rPr lang="en-US" sz="1400" b="1" dirty="0">
                <a:highlight>
                  <a:srgbClr val="FFFF00"/>
                </a:highlight>
                <a:latin typeface="+mn-ea"/>
              </a:rPr>
              <a:t> </a:t>
            </a:r>
            <a:r>
              <a:rPr lang="en-US" sz="1400" b="1" dirty="0" err="1">
                <a:highlight>
                  <a:srgbClr val="FFFF00"/>
                </a:highlight>
                <a:latin typeface="+mn-ea"/>
              </a:rPr>
              <a:t>bài</a:t>
            </a:r>
            <a:r>
              <a:rPr lang="en-US" sz="1400" b="1" dirty="0">
                <a:highlight>
                  <a:srgbClr val="FFFF00"/>
                </a:highlight>
                <a:latin typeface="+mn-ea"/>
              </a:rPr>
              <a:t> </a:t>
            </a:r>
            <a:r>
              <a:rPr lang="en-US" sz="1400" b="1" dirty="0" err="1">
                <a:highlight>
                  <a:srgbClr val="FFFF00"/>
                </a:highlight>
                <a:latin typeface="+mn-ea"/>
              </a:rPr>
              <a:t>báo</a:t>
            </a:r>
            <a:r>
              <a:rPr lang="en-US" sz="1400" b="1" dirty="0">
                <a:highlight>
                  <a:srgbClr val="FFFF00"/>
                </a:highlight>
                <a:latin typeface="+mn-ea"/>
              </a:rPr>
              <a:t> </a:t>
            </a:r>
            <a:r>
              <a:rPr lang="en-US" sz="1400" b="1" dirty="0" err="1">
                <a:highlight>
                  <a:srgbClr val="FFFF00"/>
                </a:highlight>
                <a:latin typeface="+mn-ea"/>
              </a:rPr>
              <a:t>đặt</a:t>
            </a:r>
            <a:r>
              <a:rPr lang="en-US" sz="1400" b="1" dirty="0">
                <a:highlight>
                  <a:srgbClr val="FFFF00"/>
                </a:highlight>
                <a:latin typeface="+mn-ea"/>
              </a:rPr>
              <a:t> </a:t>
            </a:r>
            <a:r>
              <a:rPr lang="en-US" sz="1400" b="1" dirty="0" err="1">
                <a:highlight>
                  <a:srgbClr val="FFFF00"/>
                </a:highlight>
                <a:latin typeface="+mn-ea"/>
              </a:rPr>
              <a:t>ra</a:t>
            </a:r>
            <a:endParaRPr lang="en-US" sz="1400" b="1" dirty="0">
              <a:highlight>
                <a:srgbClr val="FFFF00"/>
              </a:highlight>
              <a:latin typeface="+mn-ea"/>
            </a:endParaRPr>
          </a:p>
          <a:p>
            <a:r>
              <a:rPr lang="en-US" sz="1400" dirty="0">
                <a:latin typeface="+mn-ea"/>
              </a:rPr>
              <a:t>Trong </a:t>
            </a:r>
            <a:r>
              <a:rPr lang="en-US" sz="1400" dirty="0" err="1">
                <a:latin typeface="+mn-ea"/>
              </a:rPr>
              <a:t>ảnh</a:t>
            </a:r>
            <a:r>
              <a:rPr lang="en-US" sz="1400" dirty="0">
                <a:latin typeface="+mn-ea"/>
              </a:rPr>
              <a:t> </a:t>
            </a:r>
            <a:r>
              <a:rPr lang="en-US" sz="1400" dirty="0" err="1">
                <a:latin typeface="+mn-ea"/>
              </a:rPr>
              <a:t>giao</a:t>
            </a:r>
            <a:r>
              <a:rPr lang="en-US" sz="1400" dirty="0">
                <a:latin typeface="+mn-ea"/>
              </a:rPr>
              <a:t> </a:t>
            </a:r>
            <a:r>
              <a:rPr lang="en-US" sz="1400" dirty="0" err="1">
                <a:latin typeface="+mn-ea"/>
              </a:rPr>
              <a:t>thông</a:t>
            </a:r>
            <a:r>
              <a:rPr lang="en-US" sz="1400" dirty="0">
                <a:latin typeface="+mn-ea"/>
              </a:rPr>
              <a:t> </a:t>
            </a:r>
            <a:r>
              <a:rPr lang="en-US" sz="1400" dirty="0" err="1">
                <a:latin typeface="+mn-ea"/>
              </a:rPr>
              <a:t>thực</a:t>
            </a:r>
            <a:r>
              <a:rPr lang="en-US" sz="1400" dirty="0">
                <a:latin typeface="+mn-ea"/>
              </a:rPr>
              <a:t> </a:t>
            </a:r>
            <a:r>
              <a:rPr lang="en-US" sz="1400" dirty="0" err="1">
                <a:latin typeface="+mn-ea"/>
              </a:rPr>
              <a:t>tế</a:t>
            </a:r>
            <a:r>
              <a:rPr lang="en-US" sz="1400" dirty="0">
                <a:latin typeface="+mn-ea"/>
              </a:rPr>
              <a:t>, </a:t>
            </a:r>
            <a:r>
              <a:rPr lang="en-US" sz="1400" dirty="0" err="1">
                <a:latin typeface="+mn-ea"/>
              </a:rPr>
              <a:t>một</a:t>
            </a:r>
            <a:r>
              <a:rPr lang="en-US" sz="1400" dirty="0">
                <a:latin typeface="+mn-ea"/>
              </a:rPr>
              <a:t> </a:t>
            </a:r>
            <a:r>
              <a:rPr lang="en-US" sz="1400" dirty="0" err="1">
                <a:latin typeface="+mn-ea"/>
              </a:rPr>
              <a:t>làn</a:t>
            </a:r>
            <a:r>
              <a:rPr lang="en-US" sz="1400" dirty="0">
                <a:latin typeface="+mn-ea"/>
              </a:rPr>
              <a:t> </a:t>
            </a:r>
            <a:r>
              <a:rPr lang="en-US" sz="1400" dirty="0" err="1">
                <a:latin typeface="+mn-ea"/>
              </a:rPr>
              <a:t>đường</a:t>
            </a:r>
            <a:r>
              <a:rPr lang="en-US" sz="1400" dirty="0">
                <a:latin typeface="+mn-ea"/>
              </a:rPr>
              <a:t> </a:t>
            </a:r>
            <a:r>
              <a:rPr lang="en-US" sz="1400" dirty="0" err="1">
                <a:latin typeface="+mn-ea"/>
              </a:rPr>
              <a:t>có</a:t>
            </a:r>
            <a:r>
              <a:rPr lang="en-US" sz="1400" dirty="0">
                <a:latin typeface="+mn-ea"/>
              </a:rPr>
              <a:t> </a:t>
            </a:r>
            <a:r>
              <a:rPr lang="en-US" sz="1400" dirty="0" err="1">
                <a:latin typeface="+mn-ea"/>
              </a:rPr>
              <a:t>thể</a:t>
            </a:r>
            <a:r>
              <a:rPr lang="en-US" sz="1400" dirty="0">
                <a:latin typeface="+mn-ea"/>
              </a:rPr>
              <a:t>:</a:t>
            </a:r>
          </a:p>
          <a:p>
            <a:pPr lvl="0"/>
            <a:r>
              <a:rPr lang="vi-VN" sz="1400" dirty="0">
                <a:latin typeface="+mn-ea"/>
              </a:rPr>
              <a:t>- </a:t>
            </a:r>
            <a:r>
              <a:rPr lang="en-US" sz="1400" dirty="0" err="1">
                <a:latin typeface="+mn-ea"/>
              </a:rPr>
              <a:t>Bị</a:t>
            </a:r>
            <a:r>
              <a:rPr lang="en-US" sz="1400" dirty="0">
                <a:latin typeface="+mn-ea"/>
              </a:rPr>
              <a:t> </a:t>
            </a:r>
            <a:r>
              <a:rPr lang="en-US" sz="1400" dirty="0" err="1">
                <a:latin typeface="+mn-ea"/>
              </a:rPr>
              <a:t>xe</a:t>
            </a:r>
            <a:r>
              <a:rPr lang="en-US" sz="1400" dirty="0">
                <a:latin typeface="+mn-ea"/>
              </a:rPr>
              <a:t> </a:t>
            </a:r>
            <a:r>
              <a:rPr lang="en-US" sz="1400" dirty="0" err="1">
                <a:latin typeface="+mn-ea"/>
              </a:rPr>
              <a:t>phía</a:t>
            </a:r>
            <a:r>
              <a:rPr lang="en-US" sz="1400" dirty="0">
                <a:latin typeface="+mn-ea"/>
              </a:rPr>
              <a:t> </a:t>
            </a:r>
            <a:r>
              <a:rPr lang="en-US" sz="1400" dirty="0" err="1">
                <a:latin typeface="+mn-ea"/>
              </a:rPr>
              <a:t>trước</a:t>
            </a:r>
            <a:r>
              <a:rPr lang="en-US" sz="1400" dirty="0">
                <a:latin typeface="+mn-ea"/>
              </a:rPr>
              <a:t> </a:t>
            </a:r>
            <a:r>
              <a:rPr lang="en-US" sz="1400" dirty="0" err="1">
                <a:latin typeface="+mn-ea"/>
              </a:rPr>
              <a:t>che</a:t>
            </a:r>
            <a:r>
              <a:rPr lang="en-US" sz="1400" dirty="0">
                <a:latin typeface="+mn-ea"/>
              </a:rPr>
              <a:t> </a:t>
            </a:r>
            <a:r>
              <a:rPr lang="en-US" sz="1400" dirty="0" err="1">
                <a:latin typeface="+mn-ea"/>
              </a:rPr>
              <a:t>khuất</a:t>
            </a:r>
            <a:r>
              <a:rPr lang="en-US" sz="1400" dirty="0">
                <a:latin typeface="+mn-ea"/>
              </a:rPr>
              <a:t>.</a:t>
            </a:r>
          </a:p>
          <a:p>
            <a:pPr lvl="0"/>
            <a:r>
              <a:rPr lang="vi-VN" sz="1400" dirty="0">
                <a:latin typeface="+mn-ea"/>
              </a:rPr>
              <a:t>- </a:t>
            </a:r>
            <a:r>
              <a:rPr lang="en-US" sz="1400" dirty="0" err="1">
                <a:latin typeface="+mn-ea"/>
              </a:rPr>
              <a:t>Bị</a:t>
            </a:r>
            <a:r>
              <a:rPr lang="en-US" sz="1400" dirty="0">
                <a:latin typeface="+mn-ea"/>
              </a:rPr>
              <a:t> </a:t>
            </a:r>
            <a:r>
              <a:rPr lang="en-US" sz="1400" dirty="0" err="1">
                <a:latin typeface="+mn-ea"/>
              </a:rPr>
              <a:t>mất</a:t>
            </a:r>
            <a:r>
              <a:rPr lang="en-US" sz="1400" dirty="0">
                <a:latin typeface="+mn-ea"/>
              </a:rPr>
              <a:t> </a:t>
            </a:r>
            <a:r>
              <a:rPr lang="en-US" sz="1400" dirty="0" err="1">
                <a:latin typeface="+mn-ea"/>
              </a:rPr>
              <a:t>một</a:t>
            </a:r>
            <a:r>
              <a:rPr lang="en-US" sz="1400" dirty="0">
                <a:latin typeface="+mn-ea"/>
              </a:rPr>
              <a:t> </a:t>
            </a:r>
            <a:r>
              <a:rPr lang="en-US" sz="1400" dirty="0" err="1">
                <a:latin typeface="+mn-ea"/>
              </a:rPr>
              <a:t>đoạn</a:t>
            </a:r>
            <a:r>
              <a:rPr lang="en-US" sz="1400" dirty="0">
                <a:latin typeface="+mn-ea"/>
              </a:rPr>
              <a:t> </a:t>
            </a:r>
            <a:r>
              <a:rPr lang="en-US" sz="1400" dirty="0" err="1">
                <a:latin typeface="+mn-ea"/>
              </a:rPr>
              <a:t>vạch</a:t>
            </a:r>
            <a:r>
              <a:rPr lang="en-US" sz="1400" dirty="0">
                <a:latin typeface="+mn-ea"/>
              </a:rPr>
              <a:t> </a:t>
            </a:r>
            <a:r>
              <a:rPr lang="en-US" sz="1400" dirty="0" err="1">
                <a:latin typeface="+mn-ea"/>
              </a:rPr>
              <a:t>kẻ</a:t>
            </a:r>
            <a:r>
              <a:rPr lang="en-US" sz="1400" dirty="0">
                <a:latin typeface="+mn-ea"/>
              </a:rPr>
              <a:t>.</a:t>
            </a:r>
          </a:p>
          <a:p>
            <a:pPr lvl="0"/>
            <a:r>
              <a:rPr lang="vi-VN" sz="1400" dirty="0">
                <a:latin typeface="+mn-ea"/>
              </a:rPr>
              <a:t>- </a:t>
            </a:r>
            <a:r>
              <a:rPr lang="en-US" sz="1400" dirty="0" err="1">
                <a:latin typeface="+mn-ea"/>
              </a:rPr>
              <a:t>Khó</a:t>
            </a:r>
            <a:r>
              <a:rPr lang="en-US" sz="1400" dirty="0">
                <a:latin typeface="+mn-ea"/>
              </a:rPr>
              <a:t> </a:t>
            </a:r>
            <a:r>
              <a:rPr lang="en-US" sz="1400" dirty="0" err="1">
                <a:latin typeface="+mn-ea"/>
              </a:rPr>
              <a:t>nhìn</a:t>
            </a:r>
            <a:r>
              <a:rPr lang="en-US" sz="1400" dirty="0">
                <a:latin typeface="+mn-ea"/>
              </a:rPr>
              <a:t> do </a:t>
            </a:r>
            <a:r>
              <a:rPr lang="en-US" sz="1400" dirty="0" err="1">
                <a:latin typeface="+mn-ea"/>
              </a:rPr>
              <a:t>bóng</a:t>
            </a:r>
            <a:r>
              <a:rPr lang="en-US" sz="1400" dirty="0">
                <a:latin typeface="+mn-ea"/>
              </a:rPr>
              <a:t> </a:t>
            </a:r>
            <a:r>
              <a:rPr lang="en-US" sz="1400" dirty="0" err="1">
                <a:latin typeface="+mn-ea"/>
              </a:rPr>
              <a:t>tối</a:t>
            </a:r>
            <a:r>
              <a:rPr lang="en-US" sz="1400" dirty="0">
                <a:latin typeface="+mn-ea"/>
              </a:rPr>
              <a:t>, </a:t>
            </a:r>
            <a:r>
              <a:rPr lang="en-US" sz="1400" dirty="0" err="1">
                <a:latin typeface="+mn-ea"/>
              </a:rPr>
              <a:t>bóng</a:t>
            </a:r>
            <a:r>
              <a:rPr lang="en-US" sz="1400" dirty="0">
                <a:latin typeface="+mn-ea"/>
              </a:rPr>
              <a:t> </a:t>
            </a:r>
            <a:r>
              <a:rPr lang="en-US" sz="1400" dirty="0" err="1">
                <a:latin typeface="+mn-ea"/>
              </a:rPr>
              <a:t>đổ</a:t>
            </a:r>
            <a:r>
              <a:rPr lang="en-US" sz="1400" dirty="0">
                <a:latin typeface="+mn-ea"/>
              </a:rPr>
              <a:t> </a:t>
            </a:r>
            <a:r>
              <a:rPr lang="en-US" sz="1400" dirty="0" err="1">
                <a:latin typeface="+mn-ea"/>
              </a:rPr>
              <a:t>hoặc</a:t>
            </a:r>
            <a:r>
              <a:rPr lang="en-US" sz="1400" dirty="0">
                <a:latin typeface="+mn-ea"/>
              </a:rPr>
              <a:t> </a:t>
            </a:r>
            <a:r>
              <a:rPr lang="en-US" sz="1400" dirty="0" err="1">
                <a:latin typeface="+mn-ea"/>
              </a:rPr>
              <a:t>ánh</a:t>
            </a:r>
            <a:r>
              <a:rPr lang="en-US" sz="1400" dirty="0">
                <a:latin typeface="+mn-ea"/>
              </a:rPr>
              <a:t> </a:t>
            </a:r>
            <a:r>
              <a:rPr lang="en-US" sz="1400" dirty="0" err="1">
                <a:latin typeface="+mn-ea"/>
              </a:rPr>
              <a:t>sáng</a:t>
            </a:r>
            <a:r>
              <a:rPr lang="en-US" sz="1400" dirty="0">
                <a:latin typeface="+mn-ea"/>
              </a:rPr>
              <a:t> </a:t>
            </a:r>
            <a:r>
              <a:rPr lang="en-US" sz="1400" dirty="0" err="1">
                <a:latin typeface="+mn-ea"/>
              </a:rPr>
              <a:t>chói</a:t>
            </a:r>
            <a:r>
              <a:rPr lang="en-US" sz="1400" dirty="0">
                <a:latin typeface="+mn-ea"/>
              </a:rPr>
              <a:t>.</a:t>
            </a:r>
          </a:p>
          <a:p>
            <a:pPr lvl="0"/>
            <a:r>
              <a:rPr lang="vi-VN" sz="1400" dirty="0">
                <a:latin typeface="+mn-ea"/>
              </a:rPr>
              <a:t>- </a:t>
            </a:r>
            <a:r>
              <a:rPr lang="en-US" sz="1400" dirty="0" err="1">
                <a:latin typeface="+mn-ea"/>
              </a:rPr>
              <a:t>Chỉ</a:t>
            </a:r>
            <a:r>
              <a:rPr lang="en-US" sz="1400" dirty="0">
                <a:latin typeface="+mn-ea"/>
              </a:rPr>
              <a:t> </a:t>
            </a:r>
            <a:r>
              <a:rPr lang="en-US" sz="1400" dirty="0" err="1">
                <a:latin typeface="+mn-ea"/>
              </a:rPr>
              <a:t>có</a:t>
            </a:r>
            <a:r>
              <a:rPr lang="en-US" sz="1400" dirty="0">
                <a:latin typeface="+mn-ea"/>
              </a:rPr>
              <a:t> </a:t>
            </a:r>
            <a:r>
              <a:rPr lang="en-US" sz="1400" dirty="0" err="1">
                <a:latin typeface="+mn-ea"/>
              </a:rPr>
              <a:t>một</a:t>
            </a:r>
            <a:r>
              <a:rPr lang="en-US" sz="1400" dirty="0">
                <a:latin typeface="+mn-ea"/>
              </a:rPr>
              <a:t> </a:t>
            </a:r>
            <a:r>
              <a:rPr lang="en-US" sz="1400" dirty="0" err="1">
                <a:latin typeface="+mn-ea"/>
              </a:rPr>
              <a:t>phần</a:t>
            </a:r>
            <a:r>
              <a:rPr lang="en-US" sz="1400" dirty="0">
                <a:latin typeface="+mn-ea"/>
              </a:rPr>
              <a:t> </a:t>
            </a:r>
            <a:r>
              <a:rPr lang="en-US" sz="1400" dirty="0" err="1">
                <a:latin typeface="+mn-ea"/>
              </a:rPr>
              <a:t>nhỏ</a:t>
            </a:r>
            <a:r>
              <a:rPr lang="en-US" sz="1400" dirty="0">
                <a:latin typeface="+mn-ea"/>
              </a:rPr>
              <a:t> </a:t>
            </a:r>
            <a:r>
              <a:rPr lang="en-US" sz="1400" dirty="0" err="1">
                <a:latin typeface="+mn-ea"/>
              </a:rPr>
              <a:t>xuất</a:t>
            </a:r>
            <a:r>
              <a:rPr lang="en-US" sz="1400" dirty="0">
                <a:latin typeface="+mn-ea"/>
              </a:rPr>
              <a:t> </a:t>
            </a:r>
            <a:r>
              <a:rPr lang="en-US" sz="1400" dirty="0" err="1">
                <a:latin typeface="+mn-ea"/>
              </a:rPr>
              <a:t>hiện</a:t>
            </a:r>
            <a:r>
              <a:rPr lang="en-US" sz="1400" dirty="0">
                <a:latin typeface="+mn-ea"/>
              </a:rPr>
              <a:t> </a:t>
            </a:r>
            <a:r>
              <a:rPr lang="en-US" sz="1400" dirty="0" err="1">
                <a:latin typeface="+mn-ea"/>
              </a:rPr>
              <a:t>trong</a:t>
            </a:r>
            <a:r>
              <a:rPr lang="en-US" sz="1400" dirty="0">
                <a:latin typeface="+mn-ea"/>
              </a:rPr>
              <a:t> </a:t>
            </a:r>
            <a:r>
              <a:rPr lang="en-US" sz="1400" dirty="0" err="1">
                <a:latin typeface="+mn-ea"/>
              </a:rPr>
              <a:t>ảnh</a:t>
            </a:r>
            <a:r>
              <a:rPr lang="en-US" sz="1400" dirty="0">
                <a:latin typeface="+mn-ea"/>
              </a:rPr>
              <a:t>.</a:t>
            </a:r>
          </a:p>
          <a:p>
            <a:pPr marL="25" indent="-15">
              <a:lnSpc>
                <a:spcPct val="100000"/>
              </a:lnSpc>
              <a:spcAft>
                <a:spcPts val="0"/>
              </a:spcAft>
              <a:buNone/>
              <a:defRPr sz="1575">
                <a:solidFill>
                  <a:srgbClr val="1A1A1A"/>
                </a:solidFill>
                <a:latin typeface="Arial"/>
                <a:ea typeface="Arial"/>
                <a:cs typeface="Arial"/>
              </a:defRPr>
            </a:pPr>
            <a:br>
              <a:rPr lang="vi-VN" sz="1400" b="1" dirty="0">
                <a:solidFill>
                  <a:srgbClr val="1A1A1A"/>
                </a:solidFill>
                <a:latin typeface="+mn-ea"/>
                <a:cs typeface="Arial"/>
              </a:rPr>
            </a:br>
            <a:r>
              <a:rPr sz="1400" b="1" dirty="0" err="1">
                <a:solidFill>
                  <a:srgbClr val="1A1A1A"/>
                </a:solidFill>
                <a:latin typeface="+mn-ea"/>
                <a:cs typeface="Arial"/>
              </a:rPr>
              <a:t>Đầu</a:t>
            </a:r>
            <a:r>
              <a:rPr sz="1400" b="1" dirty="0">
                <a:solidFill>
                  <a:srgbClr val="1A1A1A"/>
                </a:solidFill>
                <a:latin typeface="+mn-ea"/>
                <a:cs typeface="Arial"/>
              </a:rPr>
              <a:t> </a:t>
            </a:r>
            <a:r>
              <a:rPr sz="1400" b="1" dirty="0" err="1">
                <a:solidFill>
                  <a:srgbClr val="1A1A1A"/>
                </a:solidFill>
                <a:latin typeface="+mn-ea"/>
                <a:cs typeface="Arial"/>
              </a:rPr>
              <a:t>ra</a:t>
            </a:r>
            <a:r>
              <a:rPr sz="1400" b="1" dirty="0">
                <a:solidFill>
                  <a:srgbClr val="1A1A1A"/>
                </a:solidFill>
                <a:latin typeface="+mn-ea"/>
                <a:cs typeface="Arial"/>
              </a:rPr>
              <a:t>: </a:t>
            </a:r>
            <a:r>
              <a:rPr lang="en-US" sz="1400" dirty="0" err="1">
                <a:solidFill>
                  <a:srgbClr val="1A1A1A"/>
                </a:solidFill>
                <a:latin typeface="+mn-ea"/>
              </a:rPr>
              <a:t>duy</a:t>
            </a:r>
            <a:r>
              <a:rPr lang="en-US" sz="1400" dirty="0">
                <a:solidFill>
                  <a:srgbClr val="1A1A1A"/>
                </a:solidFill>
                <a:latin typeface="+mn-ea"/>
              </a:rPr>
              <a:t> </a:t>
            </a:r>
            <a:r>
              <a:rPr lang="en-US" sz="1400" dirty="0" err="1">
                <a:solidFill>
                  <a:srgbClr val="1A1A1A"/>
                </a:solidFill>
                <a:latin typeface="+mn-ea"/>
              </a:rPr>
              <a:t>trì</a:t>
            </a:r>
            <a:r>
              <a:rPr lang="en-US" sz="1400" dirty="0">
                <a:solidFill>
                  <a:srgbClr val="1A1A1A"/>
                </a:solidFill>
                <a:latin typeface="+mn-ea"/>
              </a:rPr>
              <a:t> </a:t>
            </a:r>
            <a:r>
              <a:rPr lang="en-US" sz="1400" dirty="0" err="1">
                <a:solidFill>
                  <a:srgbClr val="1A1A1A"/>
                </a:solidFill>
                <a:latin typeface="+mn-ea"/>
              </a:rPr>
              <a:t>tốc</a:t>
            </a:r>
            <a:r>
              <a:rPr lang="en-US" sz="1400" dirty="0">
                <a:solidFill>
                  <a:srgbClr val="1A1A1A"/>
                </a:solidFill>
                <a:latin typeface="+mn-ea"/>
              </a:rPr>
              <a:t> </a:t>
            </a:r>
            <a:r>
              <a:rPr lang="en-US" sz="1400" dirty="0" err="1">
                <a:solidFill>
                  <a:srgbClr val="1A1A1A"/>
                </a:solidFill>
                <a:latin typeface="+mn-ea"/>
              </a:rPr>
              <a:t>độ</a:t>
            </a:r>
            <a:r>
              <a:rPr lang="en-US" sz="1400" dirty="0">
                <a:solidFill>
                  <a:srgbClr val="1A1A1A"/>
                </a:solidFill>
                <a:latin typeface="+mn-ea"/>
              </a:rPr>
              <a:t> </a:t>
            </a:r>
            <a:r>
              <a:rPr lang="en-US" sz="1400" dirty="0" err="1">
                <a:solidFill>
                  <a:srgbClr val="1A1A1A"/>
                </a:solidFill>
                <a:latin typeface="+mn-ea"/>
              </a:rPr>
              <a:t>cao</a:t>
            </a:r>
            <a:r>
              <a:rPr lang="en-US" sz="1400" dirty="0">
                <a:solidFill>
                  <a:srgbClr val="1A1A1A"/>
                </a:solidFill>
                <a:latin typeface="+mn-ea"/>
              </a:rPr>
              <a:t> </a:t>
            </a:r>
            <a:r>
              <a:rPr lang="en-US" sz="1400" dirty="0" err="1">
                <a:solidFill>
                  <a:srgbClr val="1A1A1A"/>
                </a:solidFill>
                <a:latin typeface="+mn-ea"/>
              </a:rPr>
              <a:t>nhưng</a:t>
            </a:r>
            <a:r>
              <a:rPr lang="en-US" sz="1400" dirty="0">
                <a:solidFill>
                  <a:srgbClr val="1A1A1A"/>
                </a:solidFill>
                <a:latin typeface="+mn-ea"/>
              </a:rPr>
              <a:t> </a:t>
            </a:r>
            <a:r>
              <a:rPr lang="en-US" sz="1400" dirty="0" err="1">
                <a:solidFill>
                  <a:srgbClr val="1A1A1A"/>
                </a:solidFill>
                <a:latin typeface="+mn-ea"/>
              </a:rPr>
              <a:t>vẫn</a:t>
            </a:r>
            <a:r>
              <a:rPr lang="en-US" sz="1400" dirty="0">
                <a:solidFill>
                  <a:srgbClr val="1A1A1A"/>
                </a:solidFill>
                <a:latin typeface="+mn-ea"/>
              </a:rPr>
              <a:t> </a:t>
            </a:r>
            <a:r>
              <a:rPr lang="en-US" sz="1400" dirty="0" err="1">
                <a:solidFill>
                  <a:srgbClr val="1A1A1A"/>
                </a:solidFill>
                <a:latin typeface="+mn-ea"/>
              </a:rPr>
              <a:t>sử</a:t>
            </a:r>
            <a:r>
              <a:rPr lang="en-US" sz="1400" dirty="0">
                <a:solidFill>
                  <a:srgbClr val="1A1A1A"/>
                </a:solidFill>
                <a:latin typeface="+mn-ea"/>
              </a:rPr>
              <a:t> </a:t>
            </a:r>
            <a:r>
              <a:rPr lang="en-US" sz="1400" dirty="0" err="1">
                <a:solidFill>
                  <a:srgbClr val="1A1A1A"/>
                </a:solidFill>
                <a:latin typeface="+mn-ea"/>
              </a:rPr>
              <a:t>dụng</a:t>
            </a:r>
            <a:r>
              <a:rPr lang="en-US" sz="1400" dirty="0">
                <a:solidFill>
                  <a:srgbClr val="1A1A1A"/>
                </a:solidFill>
                <a:latin typeface="+mn-ea"/>
              </a:rPr>
              <a:t> </a:t>
            </a:r>
            <a:r>
              <a:rPr lang="en-US" sz="1400" dirty="0" err="1">
                <a:solidFill>
                  <a:srgbClr val="1A1A1A"/>
                </a:solidFill>
                <a:latin typeface="+mn-ea"/>
              </a:rPr>
              <a:t>ngữ</a:t>
            </a:r>
            <a:r>
              <a:rPr lang="en-US" sz="1400" dirty="0">
                <a:solidFill>
                  <a:srgbClr val="1A1A1A"/>
                </a:solidFill>
                <a:latin typeface="+mn-ea"/>
              </a:rPr>
              <a:t> </a:t>
            </a:r>
            <a:r>
              <a:rPr lang="en-US" sz="1400" dirty="0" err="1">
                <a:solidFill>
                  <a:srgbClr val="1A1A1A"/>
                </a:solidFill>
                <a:latin typeface="+mn-ea"/>
              </a:rPr>
              <a:t>cảnh</a:t>
            </a:r>
            <a:r>
              <a:rPr lang="en-US" sz="1400" dirty="0">
                <a:solidFill>
                  <a:srgbClr val="1A1A1A"/>
                </a:solidFill>
                <a:latin typeface="+mn-ea"/>
              </a:rPr>
              <a:t> </a:t>
            </a:r>
            <a:r>
              <a:rPr lang="en-US" sz="1400" dirty="0" err="1">
                <a:solidFill>
                  <a:srgbClr val="1A1A1A"/>
                </a:solidFill>
                <a:latin typeface="+mn-ea"/>
              </a:rPr>
              <a:t>toàn</a:t>
            </a:r>
            <a:r>
              <a:rPr lang="en-US" sz="1400" dirty="0">
                <a:solidFill>
                  <a:srgbClr val="1A1A1A"/>
                </a:solidFill>
                <a:latin typeface="+mn-ea"/>
              </a:rPr>
              <a:t> </a:t>
            </a:r>
            <a:r>
              <a:rPr lang="en-US" sz="1400" dirty="0" err="1">
                <a:solidFill>
                  <a:srgbClr val="1A1A1A"/>
                </a:solidFill>
                <a:latin typeface="+mn-ea"/>
              </a:rPr>
              <a:t>cục</a:t>
            </a:r>
            <a:r>
              <a:rPr lang="en-US" sz="1400" dirty="0">
                <a:solidFill>
                  <a:srgbClr val="1A1A1A"/>
                </a:solidFill>
                <a:latin typeface="+mn-ea"/>
              </a:rPr>
              <a:t> </a:t>
            </a:r>
            <a:r>
              <a:rPr lang="en-US" sz="1400" dirty="0" err="1">
                <a:solidFill>
                  <a:srgbClr val="1A1A1A"/>
                </a:solidFill>
                <a:latin typeface="+mn-ea"/>
              </a:rPr>
              <a:t>để</a:t>
            </a:r>
            <a:r>
              <a:rPr lang="en-US" sz="1400" dirty="0">
                <a:solidFill>
                  <a:srgbClr val="1A1A1A"/>
                </a:solidFill>
                <a:latin typeface="+mn-ea"/>
              </a:rPr>
              <a:t> </a:t>
            </a:r>
            <a:r>
              <a:rPr lang="en-US" sz="1400" dirty="0" err="1">
                <a:solidFill>
                  <a:srgbClr val="1A1A1A"/>
                </a:solidFill>
                <a:latin typeface="+mn-ea"/>
              </a:rPr>
              <a:t>xử</a:t>
            </a:r>
            <a:r>
              <a:rPr lang="en-US" sz="1400" dirty="0">
                <a:solidFill>
                  <a:srgbClr val="1A1A1A"/>
                </a:solidFill>
                <a:latin typeface="+mn-ea"/>
              </a:rPr>
              <a:t> </a:t>
            </a:r>
            <a:r>
              <a:rPr lang="en-US" sz="1400" dirty="0" err="1">
                <a:solidFill>
                  <a:srgbClr val="1A1A1A"/>
                </a:solidFill>
                <a:latin typeface="+mn-ea"/>
              </a:rPr>
              <a:t>lý</a:t>
            </a:r>
            <a:r>
              <a:rPr lang="en-US" sz="1400" dirty="0">
                <a:solidFill>
                  <a:srgbClr val="1A1A1A"/>
                </a:solidFill>
                <a:latin typeface="+mn-ea"/>
              </a:rPr>
              <a:t> lane </a:t>
            </a:r>
            <a:r>
              <a:rPr lang="en-US" sz="1400" dirty="0" err="1">
                <a:solidFill>
                  <a:srgbClr val="1A1A1A"/>
                </a:solidFill>
                <a:latin typeface="+mn-ea"/>
              </a:rPr>
              <a:t>bị</a:t>
            </a:r>
            <a:r>
              <a:rPr lang="en-US" sz="1400" dirty="0">
                <a:solidFill>
                  <a:srgbClr val="1A1A1A"/>
                </a:solidFill>
                <a:latin typeface="+mn-ea"/>
              </a:rPr>
              <a:t> </a:t>
            </a:r>
            <a:r>
              <a:rPr lang="en-US" sz="1400" dirty="0" err="1">
                <a:solidFill>
                  <a:srgbClr val="1A1A1A"/>
                </a:solidFill>
                <a:latin typeface="+mn-ea"/>
              </a:rPr>
              <a:t>che</a:t>
            </a:r>
            <a:r>
              <a:rPr lang="en-US" sz="1400" dirty="0">
                <a:solidFill>
                  <a:srgbClr val="1A1A1A"/>
                </a:solidFill>
                <a:latin typeface="+mn-ea"/>
              </a:rPr>
              <a:t>, </a:t>
            </a:r>
            <a:r>
              <a:rPr lang="en-US" sz="1400" dirty="0" err="1">
                <a:solidFill>
                  <a:srgbClr val="1A1A1A"/>
                </a:solidFill>
                <a:latin typeface="+mn-ea"/>
              </a:rPr>
              <a:t>thiếu</a:t>
            </a:r>
            <a:r>
              <a:rPr lang="en-US" sz="1400" dirty="0">
                <a:solidFill>
                  <a:srgbClr val="1A1A1A"/>
                </a:solidFill>
                <a:latin typeface="+mn-ea"/>
              </a:rPr>
              <a:t> </a:t>
            </a:r>
            <a:r>
              <a:rPr lang="en-US" sz="1400" dirty="0" err="1">
                <a:solidFill>
                  <a:srgbClr val="1A1A1A"/>
                </a:solidFill>
                <a:latin typeface="+mn-ea"/>
              </a:rPr>
              <a:t>vạch</a:t>
            </a:r>
            <a:r>
              <a:rPr lang="en-US" sz="1400" dirty="0">
                <a:solidFill>
                  <a:srgbClr val="1A1A1A"/>
                </a:solidFill>
                <a:latin typeface="+mn-ea"/>
              </a:rPr>
              <a:t> </a:t>
            </a:r>
            <a:r>
              <a:rPr lang="en-US" sz="1400" dirty="0" err="1">
                <a:solidFill>
                  <a:srgbClr val="1A1A1A"/>
                </a:solidFill>
                <a:latin typeface="+mn-ea"/>
              </a:rPr>
              <a:t>hoặc</a:t>
            </a:r>
            <a:r>
              <a:rPr lang="en-US" sz="1400" dirty="0">
                <a:solidFill>
                  <a:srgbClr val="1A1A1A"/>
                </a:solidFill>
                <a:latin typeface="+mn-ea"/>
              </a:rPr>
              <a:t> </a:t>
            </a:r>
            <a:r>
              <a:rPr lang="en-US" sz="1400" dirty="0" err="1">
                <a:solidFill>
                  <a:srgbClr val="1A1A1A"/>
                </a:solidFill>
                <a:latin typeface="+mn-ea"/>
              </a:rPr>
              <a:t>không</a:t>
            </a:r>
            <a:r>
              <a:rPr lang="en-US" sz="1400" dirty="0">
                <a:solidFill>
                  <a:srgbClr val="1A1A1A"/>
                </a:solidFill>
                <a:latin typeface="+mn-ea"/>
              </a:rPr>
              <a:t> </a:t>
            </a:r>
            <a:r>
              <a:rPr lang="en-US" sz="1400" dirty="0" err="1">
                <a:solidFill>
                  <a:srgbClr val="1A1A1A"/>
                </a:solidFill>
                <a:latin typeface="+mn-ea"/>
              </a:rPr>
              <a:t>đủ</a:t>
            </a:r>
            <a:r>
              <a:rPr lang="en-US" sz="1400" dirty="0">
                <a:solidFill>
                  <a:srgbClr val="1A1A1A"/>
                </a:solidFill>
                <a:latin typeface="+mn-ea"/>
              </a:rPr>
              <a:t> </a:t>
            </a:r>
            <a:r>
              <a:rPr lang="en-US" sz="1400" dirty="0" err="1">
                <a:solidFill>
                  <a:srgbClr val="1A1A1A"/>
                </a:solidFill>
                <a:latin typeface="+mn-ea"/>
              </a:rPr>
              <a:t>bằng</a:t>
            </a:r>
            <a:r>
              <a:rPr lang="en-US" sz="1400" dirty="0">
                <a:solidFill>
                  <a:srgbClr val="1A1A1A"/>
                </a:solidFill>
                <a:latin typeface="+mn-ea"/>
              </a:rPr>
              <a:t> </a:t>
            </a:r>
            <a:r>
              <a:rPr lang="en-US" sz="1400" dirty="0" err="1">
                <a:solidFill>
                  <a:srgbClr val="1A1A1A"/>
                </a:solidFill>
                <a:latin typeface="+mn-ea"/>
              </a:rPr>
              <a:t>chứng</a:t>
            </a:r>
            <a:r>
              <a:rPr lang="en-US" sz="1400" dirty="0">
                <a:solidFill>
                  <a:srgbClr val="1A1A1A"/>
                </a:solidFill>
                <a:latin typeface="+mn-ea"/>
              </a:rPr>
              <a:t> </a:t>
            </a:r>
            <a:r>
              <a:rPr lang="en-US" sz="1400" dirty="0" err="1">
                <a:solidFill>
                  <a:srgbClr val="1A1A1A"/>
                </a:solidFill>
                <a:latin typeface="+mn-ea"/>
              </a:rPr>
              <a:t>trực</a:t>
            </a:r>
            <a:r>
              <a:rPr lang="en-US" sz="1400" dirty="0">
                <a:solidFill>
                  <a:srgbClr val="1A1A1A"/>
                </a:solidFill>
                <a:latin typeface="+mn-ea"/>
              </a:rPr>
              <a:t> </a:t>
            </a:r>
            <a:r>
              <a:rPr lang="en-US" sz="1400" dirty="0" err="1">
                <a:solidFill>
                  <a:srgbClr val="1A1A1A"/>
                </a:solidFill>
                <a:latin typeface="+mn-ea"/>
              </a:rPr>
              <a:t>quan</a:t>
            </a:r>
            <a:r>
              <a:rPr lang="en-US" sz="1400" dirty="0">
                <a:solidFill>
                  <a:srgbClr val="1A1A1A"/>
                </a:solidFill>
                <a:latin typeface="+mn-ea"/>
              </a:rPr>
              <a:t>.</a:t>
            </a:r>
            <a:endParaRPr sz="1400" dirty="0">
              <a:solidFill>
                <a:srgbClr val="1A1A1A"/>
              </a:solidFill>
              <a:latin typeface="+mn-ea"/>
              <a:cs typeface="Arial"/>
            </a:endParaRPr>
          </a:p>
        </p:txBody>
      </p:sp>
      <p:pic>
        <p:nvPicPr>
          <p:cNvPr id="15" name="Hình ảnh 19">
            <a:extLst>
              <a:ext uri="{FF2B5EF4-FFF2-40B4-BE49-F238E27FC236}">
                <a16:creationId xmlns:a16="http://schemas.microsoft.com/office/drawing/2014/main" id="{C18AD93D-E483-0175-D2D6-5AE91BE9BEAA}"/>
              </a:ext>
            </a:extLst>
          </p:cNvPr>
          <p:cNvPicPr>
            <a:picLocks noChangeAspect="1"/>
          </p:cNvPicPr>
          <p:nvPr/>
        </p:nvPicPr>
        <p:blipFill>
          <a:blip r:embed="rId3"/>
          <a:stretch/>
        </p:blipFill>
        <p:spPr>
          <a:xfrm>
            <a:off x="1122036" y="4337347"/>
            <a:ext cx="6074101" cy="3805461"/>
          </a:xfrm>
          <a:prstGeom prst="rect">
            <a:avLst/>
          </a:prstGeom>
        </p:spPr>
      </p:pic>
      <p:sp>
        <p:nvSpPr>
          <p:cNvPr id="17" name="laneatt-takeaway-bg">
            <a:extLst>
              <a:ext uri="{FF2B5EF4-FFF2-40B4-BE49-F238E27FC236}">
                <a16:creationId xmlns:a16="http://schemas.microsoft.com/office/drawing/2014/main" id="{6106371D-B57F-1DD1-8EE4-F6F4BAE68E8F}"/>
              </a:ext>
            </a:extLst>
          </p:cNvPr>
          <p:cNvSpPr>
            <a:spLocks noGrp="1"/>
          </p:cNvSpPr>
          <p:nvPr/>
        </p:nvSpPr>
        <p:spPr>
          <a:xfrm>
            <a:off x="9368019" y="6969787"/>
            <a:ext cx="4876800" cy="704850"/>
          </a:xfrm>
          <a:prstGeom prst="rect">
            <a:avLst/>
          </a:prstGeom>
          <a:solidFill>
            <a:srgbClr val="EAF4FC"/>
          </a:solidFill>
          <a:ln w="9525">
            <a:solidFill>
              <a:srgbClr val="4A90D9"/>
            </a:solidFill>
            <a:prstDash val="solid"/>
          </a:ln>
        </p:spPr>
        <p:txBody>
          <a:bodyPr/>
          <a:lstStyle/>
          <a:p>
            <a:endParaRPr lang="en-US">
              <a:latin typeface="+mn-ea"/>
            </a:endParaRPr>
          </a:p>
        </p:txBody>
      </p:sp>
      <p:sp>
        <p:nvSpPr>
          <p:cNvPr id="19" name="laneatt-takeaway">
            <a:extLst>
              <a:ext uri="{FF2B5EF4-FFF2-40B4-BE49-F238E27FC236}">
                <a16:creationId xmlns:a16="http://schemas.microsoft.com/office/drawing/2014/main" id="{A795A037-A599-14DD-4362-28C56C0FE359}"/>
              </a:ext>
            </a:extLst>
          </p:cNvPr>
          <p:cNvSpPr>
            <a:spLocks noGrp="1"/>
          </p:cNvSpPr>
          <p:nvPr/>
        </p:nvSpPr>
        <p:spPr>
          <a:xfrm>
            <a:off x="9482319" y="6994766"/>
            <a:ext cx="4648200" cy="571500"/>
          </a:xfrm>
          <a:prstGeom prst="rect">
            <a:avLst/>
          </a:prstGeom>
          <a:noFill/>
          <a:ln w="0">
            <a:noFill/>
            <a:prstDash val="solid"/>
          </a:ln>
        </p:spPr>
        <p:txBody>
          <a:bodyPr lIns="38100" tIns="19050" rIns="38100" bIns="19050" anchor="ctr">
            <a:normAutofit/>
          </a:bodyPr>
          <a:lstStyle/>
          <a:p>
            <a:pPr algn="ctr">
              <a:defRPr sz="1350" b="1">
                <a:solidFill>
                  <a:srgbClr val="0068A8"/>
                </a:solidFill>
                <a:latin typeface="Arial"/>
                <a:ea typeface="Arial"/>
                <a:cs typeface="Arial"/>
              </a:defRPr>
            </a:pPr>
            <a:r>
              <a:rPr sz="1350" b="1" dirty="0" err="1">
                <a:solidFill>
                  <a:srgbClr val="0068A8"/>
                </a:solidFill>
                <a:latin typeface="+mn-ea"/>
                <a:cs typeface="Arial"/>
              </a:rPr>
              <a:t>Trọng</a:t>
            </a:r>
            <a:r>
              <a:rPr sz="1350" b="1" dirty="0">
                <a:solidFill>
                  <a:srgbClr val="0068A8"/>
                </a:solidFill>
                <a:latin typeface="+mn-ea"/>
                <a:cs typeface="Arial"/>
              </a:rPr>
              <a:t> </a:t>
            </a:r>
            <a:r>
              <a:rPr sz="1350" b="1" dirty="0" err="1">
                <a:solidFill>
                  <a:srgbClr val="0068A8"/>
                </a:solidFill>
                <a:latin typeface="+mn-ea"/>
                <a:cs typeface="Arial"/>
              </a:rPr>
              <a:t>tâm</a:t>
            </a:r>
            <a:r>
              <a:rPr sz="1350" b="1" dirty="0">
                <a:solidFill>
                  <a:srgbClr val="0068A8"/>
                </a:solidFill>
                <a:latin typeface="+mn-ea"/>
                <a:cs typeface="Arial"/>
              </a:rPr>
              <a:t>: </a:t>
            </a:r>
            <a:r>
              <a:rPr sz="1350" b="1" dirty="0" err="1">
                <a:solidFill>
                  <a:srgbClr val="0068A8"/>
                </a:solidFill>
                <a:latin typeface="+mn-ea"/>
                <a:cs typeface="Arial"/>
              </a:rPr>
              <a:t>dùng</a:t>
            </a:r>
            <a:r>
              <a:rPr sz="1350" b="1" dirty="0">
                <a:solidFill>
                  <a:srgbClr val="0068A8"/>
                </a:solidFill>
                <a:latin typeface="+mn-ea"/>
                <a:cs typeface="Arial"/>
              </a:rPr>
              <a:t> </a:t>
            </a:r>
            <a:r>
              <a:rPr sz="1350" b="1" dirty="0" err="1">
                <a:solidFill>
                  <a:srgbClr val="0068A8"/>
                </a:solidFill>
                <a:latin typeface="+mn-ea"/>
                <a:cs typeface="Arial"/>
              </a:rPr>
              <a:t>quan</a:t>
            </a:r>
            <a:r>
              <a:rPr sz="1350" b="1" dirty="0">
                <a:solidFill>
                  <a:srgbClr val="0068A8"/>
                </a:solidFill>
                <a:latin typeface="+mn-ea"/>
                <a:cs typeface="Arial"/>
              </a:rPr>
              <a:t> </a:t>
            </a:r>
            <a:r>
              <a:rPr sz="1350" b="1" dirty="0" err="1">
                <a:solidFill>
                  <a:srgbClr val="0068A8"/>
                </a:solidFill>
                <a:latin typeface="+mn-ea"/>
                <a:cs typeface="Arial"/>
              </a:rPr>
              <a:t>hệ</a:t>
            </a:r>
            <a:r>
              <a:rPr sz="1350" b="1" dirty="0">
                <a:solidFill>
                  <a:srgbClr val="0068A8"/>
                </a:solidFill>
                <a:latin typeface="+mn-ea"/>
                <a:cs typeface="Arial"/>
              </a:rPr>
              <a:t> </a:t>
            </a:r>
            <a:r>
              <a:rPr sz="1350" b="1" dirty="0" err="1">
                <a:solidFill>
                  <a:srgbClr val="0068A8"/>
                </a:solidFill>
                <a:latin typeface="+mn-ea"/>
                <a:cs typeface="Arial"/>
              </a:rPr>
              <a:t>giữa</a:t>
            </a:r>
            <a:r>
              <a:rPr sz="1350" b="1" dirty="0">
                <a:solidFill>
                  <a:srgbClr val="0068A8"/>
                </a:solidFill>
                <a:latin typeface="+mn-ea"/>
                <a:cs typeface="Arial"/>
              </a:rPr>
              <a:t> </a:t>
            </a:r>
            <a:r>
              <a:rPr sz="1350" b="1" dirty="0" err="1">
                <a:solidFill>
                  <a:srgbClr val="0068A8"/>
                </a:solidFill>
                <a:latin typeface="+mn-ea"/>
                <a:cs typeface="Arial"/>
              </a:rPr>
              <a:t>các</a:t>
            </a:r>
            <a:r>
              <a:rPr sz="1350" b="1" dirty="0">
                <a:solidFill>
                  <a:srgbClr val="0068A8"/>
                </a:solidFill>
                <a:latin typeface="+mn-ea"/>
                <a:cs typeface="Arial"/>
              </a:rPr>
              <a:t> lane </a:t>
            </a:r>
            <a:r>
              <a:rPr sz="1350" b="1" dirty="0" err="1">
                <a:solidFill>
                  <a:srgbClr val="0068A8"/>
                </a:solidFill>
                <a:latin typeface="+mn-ea"/>
                <a:cs typeface="Arial"/>
              </a:rPr>
              <a:t>để</a:t>
            </a:r>
            <a:r>
              <a:rPr sz="1350" b="1" dirty="0">
                <a:solidFill>
                  <a:srgbClr val="0068A8"/>
                </a:solidFill>
                <a:latin typeface="+mn-ea"/>
                <a:cs typeface="Arial"/>
              </a:rPr>
              <a:t> </a:t>
            </a:r>
            <a:r>
              <a:rPr sz="1350" b="1" dirty="0" err="1">
                <a:solidFill>
                  <a:srgbClr val="0068A8"/>
                </a:solidFill>
                <a:latin typeface="+mn-ea"/>
                <a:cs typeface="Arial"/>
              </a:rPr>
              <a:t>bù</a:t>
            </a:r>
            <a:r>
              <a:rPr sz="1350" b="1" dirty="0">
                <a:solidFill>
                  <a:srgbClr val="0068A8"/>
                </a:solidFill>
                <a:latin typeface="+mn-ea"/>
                <a:cs typeface="Arial"/>
              </a:rPr>
              <a:t> </a:t>
            </a:r>
            <a:r>
              <a:rPr sz="1350" b="1" dirty="0" err="1">
                <a:solidFill>
                  <a:srgbClr val="0068A8"/>
                </a:solidFill>
                <a:latin typeface="+mn-ea"/>
                <a:cs typeface="Arial"/>
              </a:rPr>
              <a:t>cho</a:t>
            </a:r>
            <a:r>
              <a:rPr sz="1350" b="1" dirty="0">
                <a:solidFill>
                  <a:srgbClr val="0068A8"/>
                </a:solidFill>
                <a:latin typeface="+mn-ea"/>
                <a:cs typeface="Arial"/>
              </a:rPr>
              <a:t> </a:t>
            </a:r>
            <a:r>
              <a:rPr sz="1350" b="1" dirty="0" err="1">
                <a:solidFill>
                  <a:srgbClr val="0068A8"/>
                </a:solidFill>
                <a:latin typeface="+mn-ea"/>
                <a:cs typeface="Arial"/>
              </a:rPr>
              <a:t>phần</a:t>
            </a:r>
            <a:r>
              <a:rPr sz="1350" b="1" dirty="0">
                <a:solidFill>
                  <a:srgbClr val="0068A8"/>
                </a:solidFill>
                <a:latin typeface="+mn-ea"/>
                <a:cs typeface="Arial"/>
              </a:rPr>
              <a:t> lane </a:t>
            </a:r>
            <a:r>
              <a:rPr sz="1350" b="1" dirty="0" err="1">
                <a:solidFill>
                  <a:srgbClr val="0068A8"/>
                </a:solidFill>
                <a:latin typeface="+mn-ea"/>
                <a:cs typeface="Arial"/>
              </a:rPr>
              <a:t>không</a:t>
            </a:r>
            <a:r>
              <a:rPr sz="1350" b="1" dirty="0">
                <a:solidFill>
                  <a:srgbClr val="0068A8"/>
                </a:solidFill>
                <a:latin typeface="+mn-ea"/>
                <a:cs typeface="Arial"/>
              </a:rPr>
              <a:t> </a:t>
            </a:r>
            <a:r>
              <a:rPr sz="1350" b="1" dirty="0" err="1">
                <a:solidFill>
                  <a:srgbClr val="0068A8"/>
                </a:solidFill>
                <a:latin typeface="+mn-ea"/>
                <a:cs typeface="Arial"/>
              </a:rPr>
              <a:t>quan</a:t>
            </a:r>
            <a:r>
              <a:rPr sz="1350" b="1" dirty="0">
                <a:solidFill>
                  <a:srgbClr val="0068A8"/>
                </a:solidFill>
                <a:latin typeface="+mn-ea"/>
                <a:cs typeface="Arial"/>
              </a:rPr>
              <a:t> </a:t>
            </a:r>
            <a:r>
              <a:rPr sz="1350" b="1" dirty="0" err="1">
                <a:solidFill>
                  <a:srgbClr val="0068A8"/>
                </a:solidFill>
                <a:latin typeface="+mn-ea"/>
                <a:cs typeface="Arial"/>
              </a:rPr>
              <a:t>sát</a:t>
            </a:r>
            <a:r>
              <a:rPr sz="1350" b="1" dirty="0">
                <a:solidFill>
                  <a:srgbClr val="0068A8"/>
                </a:solidFill>
                <a:latin typeface="+mn-ea"/>
                <a:cs typeface="Arial"/>
              </a:rPr>
              <a:t> </a:t>
            </a:r>
            <a:r>
              <a:rPr sz="1350" b="1" dirty="0" err="1">
                <a:solidFill>
                  <a:srgbClr val="0068A8"/>
                </a:solidFill>
                <a:latin typeface="+mn-ea"/>
                <a:cs typeface="Arial"/>
              </a:rPr>
              <a:t>được</a:t>
            </a:r>
            <a:r>
              <a:rPr sz="1350" b="1" dirty="0">
                <a:solidFill>
                  <a:srgbClr val="0068A8"/>
                </a:solidFill>
                <a:latin typeface="+mn-ea"/>
                <a:cs typeface="Arial"/>
              </a:rPr>
              <a:t>.</a:t>
            </a:r>
          </a:p>
        </p:txBody>
      </p:sp>
      <p:pic>
        <p:nvPicPr>
          <p:cNvPr id="21" name="Hình ảnh 15">
            <a:extLst>
              <a:ext uri="{FF2B5EF4-FFF2-40B4-BE49-F238E27FC236}">
                <a16:creationId xmlns:a16="http://schemas.microsoft.com/office/drawing/2014/main" id="{61A82507-CCC2-0EAC-255E-741BEAADD692}"/>
              </a:ext>
            </a:extLst>
          </p:cNvPr>
          <p:cNvPicPr>
            <a:picLocks noChangeAspect="1"/>
          </p:cNvPicPr>
          <p:nvPr/>
        </p:nvPicPr>
        <p:blipFill>
          <a:blip r:embed="rId4"/>
          <a:stretch>
            <a:fillRect/>
          </a:stretch>
        </p:blipFill>
        <p:spPr>
          <a:xfrm>
            <a:off x="8706764" y="1244960"/>
            <a:ext cx="6332345" cy="5110952"/>
          </a:xfrm>
          <a:prstGeom prst="rect">
            <a:avLst/>
          </a:prstGeom>
        </p:spPr>
      </p:pic>
      <p:pic>
        <p:nvPicPr>
          <p:cNvPr id="27" name="Picture 26">
            <a:extLst>
              <a:ext uri="{FF2B5EF4-FFF2-40B4-BE49-F238E27FC236}">
                <a16:creationId xmlns:a16="http://schemas.microsoft.com/office/drawing/2014/main" id="{816CB278-EF58-0F2E-EE3E-917788D46EDF}"/>
              </a:ext>
            </a:extLst>
          </p:cNvPr>
          <p:cNvPicPr/>
          <p:nvPr/>
        </p:nvPicPr>
        <p:blipFill>
          <a:blip r:embed="rId5"/>
          <a:stretch>
            <a:fillRect/>
          </a:stretch>
        </p:blipFill>
        <p:spPr>
          <a:xfrm>
            <a:off x="-118532" y="-145263"/>
            <a:ext cx="1371600" cy="1390223"/>
          </a:xfrm>
          <a:prstGeom prst="rect">
            <a:avLst/>
          </a:prstGeom>
        </p:spPr>
      </p:pic>
    </p:spTree>
    <p:extLst>
      <p:ext uri="{BB962C8B-B14F-4D97-AF65-F5344CB8AC3E}">
        <p14:creationId xmlns:p14="http://schemas.microsoft.com/office/powerpoint/2010/main" val="250360187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396C8C1B-8AE1-56EB-7B28-161D18E8CC5D}"/>
              </a:ext>
            </a:extLst>
          </p:cNvPr>
          <p:cNvPicPr>
            <a:picLocks noGrp="1" noRot="1" noChangeAspect="1" noMove="1" noResize="1" noEditPoints="1" noAdjustHandles="1" noChangeArrowheads="1" noChangeShapeType="1" noCrop="1"/>
          </p:cNvPicPr>
          <p:nvPr/>
        </p:nvPicPr>
        <p:blipFill>
          <a:blip r:embed="rId2"/>
          <a:stretch>
            <a:fillRect/>
          </a:stretch>
        </p:blipFill>
        <p:spPr>
          <a:xfrm>
            <a:off x="10106181" y="6376129"/>
            <a:ext cx="4524219" cy="1853471"/>
          </a:xfrm>
          <a:prstGeom prst="rect">
            <a:avLst/>
          </a:prstGeom>
          <a:noFill/>
        </p:spPr>
      </p:pic>
      <p:sp>
        <p:nvSpPr>
          <p:cNvPr id="27" name="Shape 2">
            <a:extLst>
              <a:ext uri="{FF2B5EF4-FFF2-40B4-BE49-F238E27FC236}">
                <a16:creationId xmlns:a16="http://schemas.microsoft.com/office/drawing/2014/main" id="{D60229A2-D790-C87E-E9FF-AE1C495C11DF}"/>
              </a:ext>
            </a:extLst>
          </p:cNvPr>
          <p:cNvSpPr/>
          <p:nvPr/>
        </p:nvSpPr>
        <p:spPr>
          <a:xfrm>
            <a:off x="6163733" y="1272022"/>
            <a:ext cx="9169400" cy="3215311"/>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pic>
        <p:nvPicPr>
          <p:cNvPr id="25" name="Picture 24">
            <a:extLst>
              <a:ext uri="{FF2B5EF4-FFF2-40B4-BE49-F238E27FC236}">
                <a16:creationId xmlns:a16="http://schemas.microsoft.com/office/drawing/2014/main" id="{EC12BDF8-9809-0B0E-F3B9-72EB65708B86}"/>
              </a:ext>
            </a:extLst>
          </p:cNvPr>
          <p:cNvPicPr>
            <a:picLocks noChangeAspect="1"/>
          </p:cNvPicPr>
          <p:nvPr/>
        </p:nvPicPr>
        <p:blipFill>
          <a:blip r:embed="rId2"/>
          <a:stretch>
            <a:fillRect/>
          </a:stretch>
        </p:blipFill>
        <p:spPr>
          <a:xfrm>
            <a:off x="7873840" y="5272771"/>
            <a:ext cx="4524219" cy="1853471"/>
          </a:xfrm>
          <a:prstGeom prst="rect">
            <a:avLst/>
          </a:prstGeom>
          <a:noFill/>
        </p:spPr>
      </p:pic>
      <p:sp>
        <p:nvSpPr>
          <p:cNvPr id="3" name="Shape 2">
            <a:extLst>
              <a:ext uri="{FF2B5EF4-FFF2-40B4-BE49-F238E27FC236}">
                <a16:creationId xmlns:a16="http://schemas.microsoft.com/office/drawing/2014/main" id="{CD502439-1143-7AF8-6268-3FC08022C2FE}"/>
              </a:ext>
            </a:extLst>
          </p:cNvPr>
          <p:cNvSpPr/>
          <p:nvPr/>
        </p:nvSpPr>
        <p:spPr>
          <a:xfrm>
            <a:off x="6163733" y="4895933"/>
            <a:ext cx="6092190" cy="2230309"/>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sp>
        <p:nvSpPr>
          <p:cNvPr id="5" name="Shape 2">
            <a:extLst>
              <a:ext uri="{FF2B5EF4-FFF2-40B4-BE49-F238E27FC236}">
                <a16:creationId xmlns:a16="http://schemas.microsoft.com/office/drawing/2014/main" id="{FC53E82F-F99A-000C-19FE-4AAF3AFD66BA}"/>
              </a:ext>
            </a:extLst>
          </p:cNvPr>
          <p:cNvSpPr/>
          <p:nvPr/>
        </p:nvSpPr>
        <p:spPr>
          <a:xfrm>
            <a:off x="355072" y="1267542"/>
            <a:ext cx="4549140" cy="5517833"/>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pic>
        <p:nvPicPr>
          <p:cNvPr id="11" name="Hình ảnh 15">
            <a:extLst>
              <a:ext uri="{FF2B5EF4-FFF2-40B4-BE49-F238E27FC236}">
                <a16:creationId xmlns:a16="http://schemas.microsoft.com/office/drawing/2014/main" id="{081E64A3-B9C9-18A3-00BB-E5E10DE5EC36}"/>
              </a:ext>
            </a:extLst>
          </p:cNvPr>
          <p:cNvPicPr>
            <a:picLocks noChangeAspect="1"/>
          </p:cNvPicPr>
          <p:nvPr/>
        </p:nvPicPr>
        <p:blipFill>
          <a:blip r:embed="rId3"/>
          <a:stretch/>
        </p:blipFill>
        <p:spPr>
          <a:xfrm>
            <a:off x="6297958" y="1441301"/>
            <a:ext cx="8197504" cy="2810573"/>
          </a:xfrm>
          <a:prstGeom prst="rect">
            <a:avLst/>
          </a:prstGeom>
        </p:spPr>
      </p:pic>
      <p:sp>
        <p:nvSpPr>
          <p:cNvPr id="13" name="laneatt-steps">
            <a:extLst>
              <a:ext uri="{FF2B5EF4-FFF2-40B4-BE49-F238E27FC236}">
                <a16:creationId xmlns:a16="http://schemas.microsoft.com/office/drawing/2014/main" id="{A83B0255-228E-655E-122D-AE94AC99ADDA}"/>
              </a:ext>
            </a:extLst>
          </p:cNvPr>
          <p:cNvSpPr>
            <a:spLocks noGrp="1"/>
          </p:cNvSpPr>
          <p:nvPr/>
        </p:nvSpPr>
        <p:spPr>
          <a:xfrm>
            <a:off x="426668" y="1579280"/>
            <a:ext cx="4549140" cy="4675551"/>
          </a:xfrm>
          <a:prstGeom prst="rect">
            <a:avLst/>
          </a:prstGeom>
          <a:noFill/>
          <a:ln w="0">
            <a:noFill/>
            <a:prstDash val="solid"/>
          </a:ln>
        </p:spPr>
        <p:txBody>
          <a:bodyPr lIns="38100" tIns="28575" rIns="38100" bIns="28575" anchor="t">
            <a:normAutofit/>
          </a:bodyPr>
          <a:lstStyle/>
          <a:p>
            <a:r>
              <a:rPr sz="1400" b="1" dirty="0">
                <a:solidFill>
                  <a:srgbClr val="1A1A1A"/>
                </a:solidFill>
                <a:highlight>
                  <a:srgbClr val="FFFF00"/>
                </a:highlight>
                <a:latin typeface="+mn-ea"/>
                <a:cs typeface="Arial"/>
              </a:rPr>
              <a:t>1. Backbone</a:t>
            </a:r>
            <a:r>
              <a:rPr sz="1400" b="1" dirty="0">
                <a:solidFill>
                  <a:srgbClr val="1A1A1A"/>
                </a:solidFill>
                <a:latin typeface="+mn-ea"/>
                <a:cs typeface="Arial"/>
              </a:rPr>
              <a:t>: </a:t>
            </a:r>
            <a:r>
              <a:rPr lang="en-US" sz="1400" dirty="0" err="1">
                <a:latin typeface="+mn-ea"/>
              </a:rPr>
              <a:t>Ảnh</a:t>
            </a:r>
            <a:r>
              <a:rPr lang="en-US" sz="1400" dirty="0">
                <a:latin typeface="+mn-ea"/>
              </a:rPr>
              <a:t> </a:t>
            </a:r>
            <a:r>
              <a:rPr lang="en-US" sz="1400" dirty="0" err="1">
                <a:latin typeface="+mn-ea"/>
              </a:rPr>
              <a:t>được</a:t>
            </a:r>
            <a:r>
              <a:rPr lang="en-US" sz="1400" dirty="0">
                <a:latin typeface="+mn-ea"/>
              </a:rPr>
              <a:t> </a:t>
            </a:r>
            <a:r>
              <a:rPr lang="en-US" sz="1400" dirty="0" err="1">
                <a:latin typeface="+mn-ea"/>
              </a:rPr>
              <a:t>đưa</a:t>
            </a:r>
            <a:r>
              <a:rPr lang="en-US" sz="1400" dirty="0">
                <a:latin typeface="+mn-ea"/>
              </a:rPr>
              <a:t> qua </a:t>
            </a:r>
            <a:r>
              <a:rPr lang="en-US" sz="1400" dirty="0" err="1">
                <a:latin typeface="+mn-ea"/>
              </a:rPr>
              <a:t>ResNet</a:t>
            </a:r>
            <a:r>
              <a:rPr lang="en-US" sz="1400" dirty="0">
                <a:latin typeface="+mn-ea"/>
              </a:rPr>
              <a:t> </a:t>
            </a:r>
            <a:r>
              <a:rPr lang="en-US" sz="1400" dirty="0" err="1">
                <a:latin typeface="+mn-ea"/>
              </a:rPr>
              <a:t>để</a:t>
            </a:r>
            <a:r>
              <a:rPr lang="en-US" sz="1400" dirty="0">
                <a:latin typeface="+mn-ea"/>
              </a:rPr>
              <a:t> </a:t>
            </a:r>
            <a:r>
              <a:rPr lang="en-US" sz="1400" dirty="0" err="1">
                <a:latin typeface="+mn-ea"/>
              </a:rPr>
              <a:t>tạo</a:t>
            </a:r>
            <a:r>
              <a:rPr lang="en-US" sz="1400" dirty="0">
                <a:latin typeface="+mn-ea"/>
              </a:rPr>
              <a:t> feature map. </a:t>
            </a:r>
            <a:r>
              <a:rPr lang="en-US" sz="1400" dirty="0" err="1">
                <a:latin typeface="+mn-ea"/>
              </a:rPr>
              <a:t>Bài</a:t>
            </a:r>
            <a:r>
              <a:rPr lang="en-US" sz="1400" dirty="0">
                <a:latin typeface="+mn-ea"/>
              </a:rPr>
              <a:t> </a:t>
            </a:r>
            <a:r>
              <a:rPr lang="en-US" sz="1400" dirty="0" err="1">
                <a:latin typeface="+mn-ea"/>
              </a:rPr>
              <a:t>báo</a:t>
            </a:r>
            <a:r>
              <a:rPr lang="en-US" sz="1400" dirty="0">
                <a:latin typeface="+mn-ea"/>
              </a:rPr>
              <a:t> </a:t>
            </a:r>
            <a:r>
              <a:rPr lang="en-US" sz="1400" dirty="0" err="1">
                <a:latin typeface="+mn-ea"/>
              </a:rPr>
              <a:t>khảo</a:t>
            </a:r>
            <a:r>
              <a:rPr lang="en-US" sz="1400" dirty="0">
                <a:latin typeface="+mn-ea"/>
              </a:rPr>
              <a:t> </a:t>
            </a:r>
            <a:r>
              <a:rPr lang="en-US" sz="1400" dirty="0" err="1">
                <a:latin typeface="+mn-ea"/>
              </a:rPr>
              <a:t>sát</a:t>
            </a:r>
            <a:r>
              <a:rPr lang="en-US" sz="1400" dirty="0">
                <a:latin typeface="+mn-ea"/>
              </a:rPr>
              <a:t> </a:t>
            </a:r>
            <a:r>
              <a:rPr lang="en-US" sz="1400" dirty="0" err="1">
                <a:latin typeface="+mn-ea"/>
              </a:rPr>
              <a:t>ba</a:t>
            </a:r>
            <a:r>
              <a:rPr lang="en-US" sz="1400" dirty="0">
                <a:latin typeface="+mn-ea"/>
              </a:rPr>
              <a:t> </a:t>
            </a:r>
            <a:r>
              <a:rPr lang="en-US" sz="1400" dirty="0" err="1">
                <a:latin typeface="+mn-ea"/>
              </a:rPr>
              <a:t>cấu</a:t>
            </a:r>
            <a:r>
              <a:rPr lang="en-US" sz="1400" dirty="0">
                <a:latin typeface="+mn-ea"/>
              </a:rPr>
              <a:t> </a:t>
            </a:r>
            <a:r>
              <a:rPr lang="en-US" sz="1400" dirty="0" err="1">
                <a:latin typeface="+mn-ea"/>
              </a:rPr>
              <a:t>hình</a:t>
            </a:r>
            <a:r>
              <a:rPr lang="en-US" sz="1400" dirty="0">
                <a:latin typeface="+mn-ea"/>
              </a:rPr>
              <a:t>:</a:t>
            </a:r>
          </a:p>
          <a:p>
            <a:pPr lvl="0"/>
            <a:r>
              <a:rPr lang="en-US" sz="1400" dirty="0">
                <a:latin typeface="+mn-ea"/>
              </a:rPr>
              <a:t>ResNet-18.</a:t>
            </a:r>
          </a:p>
          <a:p>
            <a:pPr lvl="0"/>
            <a:r>
              <a:rPr lang="en-US" sz="1400" dirty="0">
                <a:latin typeface="+mn-ea"/>
              </a:rPr>
              <a:t>ResNet-34.</a:t>
            </a:r>
          </a:p>
          <a:p>
            <a:pPr lvl="0"/>
            <a:r>
              <a:rPr lang="en-US" sz="1400" dirty="0">
                <a:latin typeface="+mn-ea"/>
              </a:rPr>
              <a:t>ResNet-122.</a:t>
            </a:r>
          </a:p>
          <a:p>
            <a:r>
              <a:rPr lang="en-US" sz="1400" dirty="0">
                <a:latin typeface="+mn-ea"/>
              </a:rPr>
              <a:t>ResNet-18 </a:t>
            </a:r>
            <a:r>
              <a:rPr lang="en-US" sz="1400" dirty="0" err="1">
                <a:latin typeface="+mn-ea"/>
              </a:rPr>
              <a:t>là</a:t>
            </a:r>
            <a:r>
              <a:rPr lang="en-US" sz="1400" dirty="0">
                <a:latin typeface="+mn-ea"/>
              </a:rPr>
              <a:t> </a:t>
            </a:r>
            <a:r>
              <a:rPr lang="en-US" sz="1400" dirty="0" err="1">
                <a:latin typeface="+mn-ea"/>
              </a:rPr>
              <a:t>phiên</a:t>
            </a:r>
            <a:r>
              <a:rPr lang="en-US" sz="1400" dirty="0">
                <a:latin typeface="+mn-ea"/>
              </a:rPr>
              <a:t> </a:t>
            </a:r>
            <a:r>
              <a:rPr lang="en-US" sz="1400" dirty="0" err="1">
                <a:latin typeface="+mn-ea"/>
              </a:rPr>
              <a:t>bản</a:t>
            </a:r>
            <a:r>
              <a:rPr lang="en-US" sz="1400" dirty="0">
                <a:latin typeface="+mn-ea"/>
              </a:rPr>
              <a:t> </a:t>
            </a:r>
            <a:r>
              <a:rPr lang="en-US" sz="1400" dirty="0" err="1">
                <a:latin typeface="+mn-ea"/>
              </a:rPr>
              <a:t>nhẹ</a:t>
            </a:r>
            <a:r>
              <a:rPr lang="en-US" sz="1400" dirty="0">
                <a:latin typeface="+mn-ea"/>
              </a:rPr>
              <a:t> </a:t>
            </a:r>
            <a:r>
              <a:rPr lang="en-US" sz="1400" dirty="0" err="1">
                <a:latin typeface="+mn-ea"/>
              </a:rPr>
              <a:t>nhất</a:t>
            </a:r>
            <a:r>
              <a:rPr lang="en-US" sz="1400" dirty="0">
                <a:latin typeface="+mn-ea"/>
              </a:rPr>
              <a:t> </a:t>
            </a:r>
            <a:r>
              <a:rPr lang="en-US" sz="1400" dirty="0" err="1">
                <a:latin typeface="+mn-ea"/>
              </a:rPr>
              <a:t>và</a:t>
            </a:r>
            <a:r>
              <a:rPr lang="en-US" sz="1400" dirty="0">
                <a:latin typeface="+mn-ea"/>
              </a:rPr>
              <a:t> </a:t>
            </a:r>
            <a:r>
              <a:rPr lang="en-US" sz="1400" dirty="0" err="1">
                <a:latin typeface="+mn-ea"/>
              </a:rPr>
              <a:t>có</a:t>
            </a:r>
            <a:r>
              <a:rPr lang="en-US" sz="1400" dirty="0">
                <a:latin typeface="+mn-ea"/>
              </a:rPr>
              <a:t> </a:t>
            </a:r>
            <a:r>
              <a:rPr lang="en-US" sz="1400" dirty="0" err="1">
                <a:latin typeface="+mn-ea"/>
              </a:rPr>
              <a:t>tốc</a:t>
            </a:r>
            <a:r>
              <a:rPr lang="en-US" sz="1400" dirty="0">
                <a:latin typeface="+mn-ea"/>
              </a:rPr>
              <a:t> </a:t>
            </a:r>
            <a:r>
              <a:rPr lang="en-US" sz="1400" dirty="0" err="1">
                <a:latin typeface="+mn-ea"/>
              </a:rPr>
              <a:t>độ</a:t>
            </a:r>
            <a:r>
              <a:rPr lang="en-US" sz="1400" dirty="0">
                <a:latin typeface="+mn-ea"/>
              </a:rPr>
              <a:t> </a:t>
            </a:r>
            <a:r>
              <a:rPr lang="en-US" sz="1400" dirty="0" err="1">
                <a:latin typeface="+mn-ea"/>
              </a:rPr>
              <a:t>cao</a:t>
            </a:r>
            <a:r>
              <a:rPr lang="en-US" sz="1400" dirty="0">
                <a:latin typeface="+mn-ea"/>
              </a:rPr>
              <a:t> </a:t>
            </a:r>
            <a:r>
              <a:rPr lang="en-US" sz="1400" dirty="0" err="1">
                <a:latin typeface="+mn-ea"/>
              </a:rPr>
              <a:t>nhất</a:t>
            </a:r>
            <a:r>
              <a:rPr lang="en-US" sz="1400" dirty="0">
                <a:latin typeface="+mn-ea"/>
              </a:rPr>
              <a:t>.</a:t>
            </a:r>
            <a:br>
              <a:rPr lang="vi-VN" sz="1400" dirty="0">
                <a:latin typeface="+mn-ea"/>
              </a:rPr>
            </a:br>
            <a:endParaRPr lang="en-US" sz="1400" dirty="0">
              <a:latin typeface="+mn-ea"/>
            </a:endParaRPr>
          </a:p>
          <a:p>
            <a:pPr marL="25" indent="-15">
              <a:lnSpc>
                <a:spcPct val="100000"/>
              </a:lnSpc>
              <a:spcAft>
                <a:spcPts val="8"/>
              </a:spcAft>
              <a:buNone/>
              <a:defRPr sz="1350">
                <a:solidFill>
                  <a:srgbClr val="1A1A1A"/>
                </a:solidFill>
                <a:latin typeface="Arial"/>
                <a:ea typeface="Arial"/>
                <a:cs typeface="Arial"/>
              </a:defRPr>
            </a:pPr>
            <a:r>
              <a:rPr lang="vi-VN" sz="1400" b="1" dirty="0">
                <a:solidFill>
                  <a:srgbClr val="1A1A1A"/>
                </a:solidFill>
                <a:highlight>
                  <a:srgbClr val="FFFF00"/>
                </a:highlight>
                <a:latin typeface="+mn-ea"/>
                <a:cs typeface="Arial"/>
              </a:rPr>
              <a:t>2. </a:t>
            </a:r>
            <a:r>
              <a:rPr lang="en-US" sz="1400" b="1" dirty="0">
                <a:solidFill>
                  <a:srgbClr val="1A1A1A"/>
                </a:solidFill>
                <a:highlight>
                  <a:srgbClr val="FFFF00"/>
                </a:highlight>
                <a:latin typeface="+mn-ea"/>
              </a:rPr>
              <a:t>Anchor-based feature </a:t>
            </a:r>
            <a:r>
              <a:rPr lang="vi-VN" sz="1400" b="1" dirty="0" err="1">
                <a:solidFill>
                  <a:srgbClr val="1A1A1A"/>
                </a:solidFill>
                <a:highlight>
                  <a:srgbClr val="FFFF00"/>
                </a:highlight>
                <a:latin typeface="+mn-ea"/>
              </a:rPr>
              <a:t>pooling</a:t>
            </a:r>
            <a:r>
              <a:rPr lang="vi-VN" sz="1400" b="1" dirty="0">
                <a:solidFill>
                  <a:srgbClr val="1A1A1A"/>
                </a:solidFill>
                <a:latin typeface="+mn-ea"/>
              </a:rPr>
              <a:t>: </a:t>
            </a:r>
            <a:r>
              <a:rPr lang="en-US" sz="1400" dirty="0" err="1">
                <a:solidFill>
                  <a:srgbClr val="1A1A1A"/>
                </a:solidFill>
                <a:latin typeface="+mn-ea"/>
              </a:rPr>
              <a:t>Với</a:t>
            </a:r>
            <a:r>
              <a:rPr lang="en-US" sz="1400" dirty="0">
                <a:solidFill>
                  <a:srgbClr val="1A1A1A"/>
                </a:solidFill>
                <a:latin typeface="+mn-ea"/>
              </a:rPr>
              <a:t> </a:t>
            </a:r>
            <a:r>
              <a:rPr lang="en-US" sz="1400" dirty="0" err="1">
                <a:solidFill>
                  <a:srgbClr val="1A1A1A"/>
                </a:solidFill>
                <a:latin typeface="+mn-ea"/>
              </a:rPr>
              <a:t>mỗi</a:t>
            </a:r>
            <a:r>
              <a:rPr lang="en-US" sz="1400" dirty="0">
                <a:solidFill>
                  <a:srgbClr val="1A1A1A"/>
                </a:solidFill>
                <a:latin typeface="+mn-ea"/>
              </a:rPr>
              <a:t> anchor, </a:t>
            </a:r>
            <a:r>
              <a:rPr lang="en-US" sz="1400" dirty="0" err="1">
                <a:solidFill>
                  <a:srgbClr val="1A1A1A"/>
                </a:solidFill>
                <a:latin typeface="+mn-ea"/>
              </a:rPr>
              <a:t>LaneATT</a:t>
            </a:r>
            <a:r>
              <a:rPr lang="en-US" sz="1400" dirty="0">
                <a:solidFill>
                  <a:srgbClr val="1A1A1A"/>
                </a:solidFill>
                <a:latin typeface="+mn-ea"/>
              </a:rPr>
              <a:t> </a:t>
            </a:r>
            <a:r>
              <a:rPr lang="en-US" sz="1400" dirty="0" err="1">
                <a:solidFill>
                  <a:srgbClr val="1A1A1A"/>
                </a:solidFill>
                <a:latin typeface="+mn-ea"/>
              </a:rPr>
              <a:t>chiếu</a:t>
            </a:r>
            <a:r>
              <a:rPr lang="en-US" sz="1400" dirty="0">
                <a:solidFill>
                  <a:srgbClr val="1A1A1A"/>
                </a:solidFill>
                <a:latin typeface="+mn-ea"/>
              </a:rPr>
              <a:t> </a:t>
            </a:r>
            <a:r>
              <a:rPr lang="en-US" sz="1400" dirty="0" err="1">
                <a:solidFill>
                  <a:srgbClr val="1A1A1A"/>
                </a:solidFill>
                <a:latin typeface="+mn-ea"/>
              </a:rPr>
              <a:t>các</a:t>
            </a:r>
            <a:r>
              <a:rPr lang="en-US" sz="1400" dirty="0">
                <a:solidFill>
                  <a:srgbClr val="1A1A1A"/>
                </a:solidFill>
                <a:latin typeface="+mn-ea"/>
              </a:rPr>
              <a:t> </a:t>
            </a:r>
            <a:r>
              <a:rPr lang="en-US" sz="1400" dirty="0" err="1">
                <a:solidFill>
                  <a:srgbClr val="1A1A1A"/>
                </a:solidFill>
                <a:latin typeface="+mn-ea"/>
              </a:rPr>
              <a:t>điểm</a:t>
            </a:r>
            <a:r>
              <a:rPr lang="en-US" sz="1400" dirty="0">
                <a:solidFill>
                  <a:srgbClr val="1A1A1A"/>
                </a:solidFill>
                <a:latin typeface="+mn-ea"/>
              </a:rPr>
              <a:t> </a:t>
            </a:r>
            <a:r>
              <a:rPr lang="en-US" sz="1400" dirty="0" err="1">
                <a:solidFill>
                  <a:srgbClr val="1A1A1A"/>
                </a:solidFill>
                <a:latin typeface="+mn-ea"/>
              </a:rPr>
              <a:t>của</a:t>
            </a:r>
            <a:r>
              <a:rPr lang="en-US" sz="1400" dirty="0">
                <a:solidFill>
                  <a:srgbClr val="1A1A1A"/>
                </a:solidFill>
                <a:latin typeface="+mn-ea"/>
              </a:rPr>
              <a:t> anchor </a:t>
            </a:r>
            <a:r>
              <a:rPr lang="en-US" sz="1400" dirty="0" err="1">
                <a:solidFill>
                  <a:srgbClr val="1A1A1A"/>
                </a:solidFill>
                <a:latin typeface="+mn-ea"/>
              </a:rPr>
              <a:t>lên</a:t>
            </a:r>
            <a:r>
              <a:rPr lang="en-US" sz="1400" dirty="0">
                <a:solidFill>
                  <a:srgbClr val="1A1A1A"/>
                </a:solidFill>
                <a:latin typeface="+mn-ea"/>
              </a:rPr>
              <a:t> feature map </a:t>
            </a:r>
            <a:r>
              <a:rPr lang="en-US" sz="1400" dirty="0" err="1">
                <a:solidFill>
                  <a:srgbClr val="1A1A1A"/>
                </a:solidFill>
                <a:latin typeface="+mn-ea"/>
              </a:rPr>
              <a:t>và</a:t>
            </a:r>
            <a:r>
              <a:rPr lang="en-US" sz="1400" dirty="0">
                <a:solidFill>
                  <a:srgbClr val="1A1A1A"/>
                </a:solidFill>
                <a:latin typeface="+mn-ea"/>
              </a:rPr>
              <a:t> </a:t>
            </a:r>
            <a:r>
              <a:rPr lang="en-US" sz="1400" dirty="0" err="1">
                <a:solidFill>
                  <a:srgbClr val="1A1A1A"/>
                </a:solidFill>
                <a:latin typeface="+mn-ea"/>
              </a:rPr>
              <a:t>lấy</a:t>
            </a:r>
            <a:r>
              <a:rPr lang="en-US" sz="1400" dirty="0">
                <a:solidFill>
                  <a:srgbClr val="1A1A1A"/>
                </a:solidFill>
                <a:latin typeface="+mn-ea"/>
              </a:rPr>
              <a:t> </a:t>
            </a:r>
            <a:r>
              <a:rPr lang="en-US" sz="1400" dirty="0" err="1">
                <a:solidFill>
                  <a:srgbClr val="1A1A1A"/>
                </a:solidFill>
                <a:latin typeface="+mn-ea"/>
              </a:rPr>
              <a:t>đặc</a:t>
            </a:r>
            <a:r>
              <a:rPr lang="en-US" sz="1400" dirty="0">
                <a:solidFill>
                  <a:srgbClr val="1A1A1A"/>
                </a:solidFill>
                <a:latin typeface="+mn-ea"/>
              </a:rPr>
              <a:t> </a:t>
            </a:r>
            <a:r>
              <a:rPr lang="en-US" sz="1400" dirty="0" err="1">
                <a:solidFill>
                  <a:srgbClr val="1A1A1A"/>
                </a:solidFill>
                <a:latin typeface="+mn-ea"/>
              </a:rPr>
              <a:t>trưng</a:t>
            </a:r>
            <a:r>
              <a:rPr lang="en-US" sz="1400" dirty="0">
                <a:solidFill>
                  <a:srgbClr val="1A1A1A"/>
                </a:solidFill>
                <a:latin typeface="+mn-ea"/>
              </a:rPr>
              <a:t> </a:t>
            </a:r>
            <a:r>
              <a:rPr lang="en-US" sz="1400" dirty="0" err="1">
                <a:solidFill>
                  <a:srgbClr val="1A1A1A"/>
                </a:solidFill>
                <a:latin typeface="+mn-ea"/>
              </a:rPr>
              <a:t>tại</a:t>
            </a:r>
            <a:r>
              <a:rPr lang="en-US" sz="1400" dirty="0">
                <a:solidFill>
                  <a:srgbClr val="1A1A1A"/>
                </a:solidFill>
                <a:latin typeface="+mn-ea"/>
              </a:rPr>
              <a:t> </a:t>
            </a:r>
            <a:r>
              <a:rPr lang="en-US" sz="1400" dirty="0" err="1">
                <a:solidFill>
                  <a:srgbClr val="1A1A1A"/>
                </a:solidFill>
                <a:latin typeface="+mn-ea"/>
              </a:rPr>
              <a:t>những</a:t>
            </a:r>
            <a:r>
              <a:rPr lang="en-US" sz="1400" dirty="0">
                <a:solidFill>
                  <a:srgbClr val="1A1A1A"/>
                </a:solidFill>
                <a:latin typeface="+mn-ea"/>
              </a:rPr>
              <a:t> </a:t>
            </a:r>
            <a:r>
              <a:rPr lang="en-US" sz="1400" dirty="0" err="1">
                <a:solidFill>
                  <a:srgbClr val="1A1A1A"/>
                </a:solidFill>
                <a:latin typeface="+mn-ea"/>
              </a:rPr>
              <a:t>vị</a:t>
            </a:r>
            <a:r>
              <a:rPr lang="en-US" sz="1400" dirty="0">
                <a:solidFill>
                  <a:srgbClr val="1A1A1A"/>
                </a:solidFill>
                <a:latin typeface="+mn-ea"/>
              </a:rPr>
              <a:t> </a:t>
            </a:r>
            <a:r>
              <a:rPr lang="en-US" sz="1400" dirty="0" err="1">
                <a:solidFill>
                  <a:srgbClr val="1A1A1A"/>
                </a:solidFill>
                <a:latin typeface="+mn-ea"/>
              </a:rPr>
              <a:t>trí</a:t>
            </a:r>
            <a:r>
              <a:rPr lang="en-US" sz="1400" dirty="0">
                <a:solidFill>
                  <a:srgbClr val="1A1A1A"/>
                </a:solidFill>
                <a:latin typeface="+mn-ea"/>
              </a:rPr>
              <a:t> </a:t>
            </a:r>
            <a:r>
              <a:rPr lang="en-US" sz="1400" dirty="0" err="1">
                <a:solidFill>
                  <a:srgbClr val="1A1A1A"/>
                </a:solidFill>
                <a:latin typeface="+mn-ea"/>
              </a:rPr>
              <a:t>đó</a:t>
            </a:r>
            <a:r>
              <a:rPr lang="en-US" sz="1400" dirty="0">
                <a:solidFill>
                  <a:srgbClr val="1A1A1A"/>
                </a:solidFill>
                <a:latin typeface="+mn-ea"/>
              </a:rPr>
              <a:t>.</a:t>
            </a:r>
            <a:r>
              <a:rPr lang="vi-VN" sz="1400" dirty="0">
                <a:solidFill>
                  <a:srgbClr val="1A1A1A"/>
                </a:solidFill>
                <a:latin typeface="+mn-ea"/>
              </a:rPr>
              <a:t> </a:t>
            </a:r>
            <a:r>
              <a:rPr lang="en-US" sz="1400" dirty="0" err="1">
                <a:solidFill>
                  <a:srgbClr val="1A1A1A"/>
                </a:solidFill>
                <a:latin typeface="+mn-ea"/>
              </a:rPr>
              <a:t>mô</a:t>
            </a:r>
            <a:r>
              <a:rPr lang="en-US" sz="1400" dirty="0">
                <a:solidFill>
                  <a:srgbClr val="1A1A1A"/>
                </a:solidFill>
                <a:latin typeface="+mn-ea"/>
              </a:rPr>
              <a:t> </a:t>
            </a:r>
            <a:r>
              <a:rPr lang="en-US" sz="1400" dirty="0" err="1">
                <a:solidFill>
                  <a:srgbClr val="1A1A1A"/>
                </a:solidFill>
                <a:latin typeface="+mn-ea"/>
              </a:rPr>
              <a:t>hình</a:t>
            </a:r>
            <a:r>
              <a:rPr lang="en-US" sz="1400" dirty="0">
                <a:solidFill>
                  <a:srgbClr val="1A1A1A"/>
                </a:solidFill>
                <a:latin typeface="+mn-ea"/>
              </a:rPr>
              <a:t> </a:t>
            </a:r>
            <a:r>
              <a:rPr lang="en-US" sz="1400" dirty="0" err="1">
                <a:solidFill>
                  <a:srgbClr val="1A1A1A"/>
                </a:solidFill>
                <a:latin typeface="+mn-ea"/>
              </a:rPr>
              <a:t>lấy</a:t>
            </a:r>
            <a:r>
              <a:rPr lang="en-US" sz="1400" dirty="0">
                <a:solidFill>
                  <a:srgbClr val="1A1A1A"/>
                </a:solidFill>
                <a:latin typeface="+mn-ea"/>
              </a:rPr>
              <a:t> </a:t>
            </a:r>
            <a:r>
              <a:rPr lang="en-US" sz="1400" dirty="0" err="1">
                <a:solidFill>
                  <a:srgbClr val="1A1A1A"/>
                </a:solidFill>
                <a:latin typeface="+mn-ea"/>
              </a:rPr>
              <a:t>đặc</a:t>
            </a:r>
            <a:r>
              <a:rPr lang="en-US" sz="1400" dirty="0">
                <a:solidFill>
                  <a:srgbClr val="1A1A1A"/>
                </a:solidFill>
                <a:latin typeface="+mn-ea"/>
              </a:rPr>
              <a:t> </a:t>
            </a:r>
            <a:r>
              <a:rPr lang="en-US" sz="1400" dirty="0" err="1">
                <a:solidFill>
                  <a:srgbClr val="1A1A1A"/>
                </a:solidFill>
                <a:latin typeface="+mn-ea"/>
              </a:rPr>
              <a:t>trưng</a:t>
            </a:r>
            <a:r>
              <a:rPr lang="en-US" sz="1400" dirty="0">
                <a:solidFill>
                  <a:srgbClr val="1A1A1A"/>
                </a:solidFill>
                <a:latin typeface="+mn-ea"/>
              </a:rPr>
              <a:t> </a:t>
            </a:r>
            <a:r>
              <a:rPr lang="en-US" sz="1400" dirty="0" err="1">
                <a:solidFill>
                  <a:srgbClr val="1A1A1A"/>
                </a:solidFill>
                <a:latin typeface="+mn-ea"/>
              </a:rPr>
              <a:t>dọc</a:t>
            </a:r>
            <a:r>
              <a:rPr lang="en-US" sz="1400" dirty="0">
                <a:solidFill>
                  <a:srgbClr val="1A1A1A"/>
                </a:solidFill>
                <a:latin typeface="+mn-ea"/>
              </a:rPr>
              <a:t> </a:t>
            </a:r>
            <a:r>
              <a:rPr lang="en-US" sz="1400" dirty="0" err="1">
                <a:solidFill>
                  <a:srgbClr val="1A1A1A"/>
                </a:solidFill>
                <a:latin typeface="+mn-ea"/>
              </a:rPr>
              <a:t>theo</a:t>
            </a:r>
            <a:r>
              <a:rPr lang="en-US" sz="1400" dirty="0">
                <a:solidFill>
                  <a:srgbClr val="1A1A1A"/>
                </a:solidFill>
                <a:latin typeface="+mn-ea"/>
              </a:rPr>
              <a:t> </a:t>
            </a:r>
            <a:r>
              <a:rPr lang="en-US" sz="1400" dirty="0" err="1">
                <a:solidFill>
                  <a:srgbClr val="1A1A1A"/>
                </a:solidFill>
                <a:latin typeface="+mn-ea"/>
              </a:rPr>
              <a:t>hình</a:t>
            </a:r>
            <a:r>
              <a:rPr lang="en-US" sz="1400" dirty="0">
                <a:solidFill>
                  <a:srgbClr val="1A1A1A"/>
                </a:solidFill>
                <a:latin typeface="+mn-ea"/>
              </a:rPr>
              <a:t> </a:t>
            </a:r>
            <a:r>
              <a:rPr lang="en-US" sz="1400" dirty="0" err="1">
                <a:solidFill>
                  <a:srgbClr val="1A1A1A"/>
                </a:solidFill>
                <a:latin typeface="+mn-ea"/>
              </a:rPr>
              <a:t>dạng</a:t>
            </a:r>
            <a:r>
              <a:rPr lang="en-US" sz="1400" dirty="0">
                <a:solidFill>
                  <a:srgbClr val="1A1A1A"/>
                </a:solidFill>
                <a:latin typeface="+mn-ea"/>
              </a:rPr>
              <a:t> lane </a:t>
            </a:r>
            <a:r>
              <a:rPr lang="en-US" sz="1400" dirty="0" err="1">
                <a:solidFill>
                  <a:srgbClr val="1A1A1A"/>
                </a:solidFill>
                <a:latin typeface="+mn-ea"/>
              </a:rPr>
              <a:t>giả</a:t>
            </a:r>
            <a:r>
              <a:rPr lang="en-US" sz="1400" dirty="0">
                <a:solidFill>
                  <a:srgbClr val="1A1A1A"/>
                </a:solidFill>
                <a:latin typeface="+mn-ea"/>
              </a:rPr>
              <a:t> </a:t>
            </a:r>
            <a:r>
              <a:rPr lang="en-US" sz="1400" dirty="0" err="1">
                <a:solidFill>
                  <a:srgbClr val="1A1A1A"/>
                </a:solidFill>
                <a:latin typeface="+mn-ea"/>
              </a:rPr>
              <a:t>định</a:t>
            </a:r>
            <a:r>
              <a:rPr lang="en-US" sz="1400" dirty="0">
                <a:solidFill>
                  <a:srgbClr val="1A1A1A"/>
                </a:solidFill>
                <a:latin typeface="+mn-ea"/>
              </a:rPr>
              <a:t>, </a:t>
            </a:r>
            <a:r>
              <a:rPr lang="en-US" sz="1400" dirty="0" err="1">
                <a:solidFill>
                  <a:srgbClr val="1A1A1A"/>
                </a:solidFill>
                <a:latin typeface="+mn-ea"/>
              </a:rPr>
              <a:t>thay</a:t>
            </a:r>
            <a:r>
              <a:rPr lang="en-US" sz="1400" dirty="0">
                <a:solidFill>
                  <a:srgbClr val="1A1A1A"/>
                </a:solidFill>
                <a:latin typeface="+mn-ea"/>
              </a:rPr>
              <a:t> </a:t>
            </a:r>
            <a:r>
              <a:rPr lang="en-US" sz="1400" dirty="0" err="1">
                <a:solidFill>
                  <a:srgbClr val="1A1A1A"/>
                </a:solidFill>
                <a:latin typeface="+mn-ea"/>
              </a:rPr>
              <a:t>vì</a:t>
            </a:r>
            <a:r>
              <a:rPr lang="en-US" sz="1400" dirty="0">
                <a:solidFill>
                  <a:srgbClr val="1A1A1A"/>
                </a:solidFill>
                <a:latin typeface="+mn-ea"/>
              </a:rPr>
              <a:t> </a:t>
            </a:r>
            <a:r>
              <a:rPr lang="en-US" sz="1400" dirty="0" err="1">
                <a:solidFill>
                  <a:srgbClr val="1A1A1A"/>
                </a:solidFill>
                <a:latin typeface="+mn-ea"/>
              </a:rPr>
              <a:t>sử</a:t>
            </a:r>
            <a:r>
              <a:rPr lang="en-US" sz="1400" dirty="0">
                <a:solidFill>
                  <a:srgbClr val="1A1A1A"/>
                </a:solidFill>
                <a:latin typeface="+mn-ea"/>
              </a:rPr>
              <a:t> </a:t>
            </a:r>
            <a:r>
              <a:rPr lang="en-US" sz="1400" dirty="0" err="1">
                <a:solidFill>
                  <a:srgbClr val="1A1A1A"/>
                </a:solidFill>
                <a:latin typeface="+mn-ea"/>
              </a:rPr>
              <a:t>dụng</a:t>
            </a:r>
            <a:r>
              <a:rPr lang="en-US" sz="1400" dirty="0">
                <a:solidFill>
                  <a:srgbClr val="1A1A1A"/>
                </a:solidFill>
                <a:latin typeface="+mn-ea"/>
              </a:rPr>
              <a:t> </a:t>
            </a:r>
            <a:r>
              <a:rPr lang="en-US" sz="1400" dirty="0" err="1">
                <a:solidFill>
                  <a:srgbClr val="1A1A1A"/>
                </a:solidFill>
                <a:latin typeface="+mn-ea"/>
              </a:rPr>
              <a:t>toàn</a:t>
            </a:r>
            <a:r>
              <a:rPr lang="en-US" sz="1400" dirty="0">
                <a:solidFill>
                  <a:srgbClr val="1A1A1A"/>
                </a:solidFill>
                <a:latin typeface="+mn-ea"/>
              </a:rPr>
              <a:t> </a:t>
            </a:r>
            <a:r>
              <a:rPr lang="en-US" sz="1400" dirty="0" err="1">
                <a:solidFill>
                  <a:srgbClr val="1A1A1A"/>
                </a:solidFill>
                <a:latin typeface="+mn-ea"/>
              </a:rPr>
              <a:t>bộ</a:t>
            </a:r>
            <a:r>
              <a:rPr lang="en-US" sz="1400" dirty="0">
                <a:solidFill>
                  <a:srgbClr val="1A1A1A"/>
                </a:solidFill>
                <a:latin typeface="+mn-ea"/>
              </a:rPr>
              <a:t> feature map </a:t>
            </a:r>
            <a:r>
              <a:rPr lang="en-US" sz="1400" dirty="0" err="1">
                <a:solidFill>
                  <a:srgbClr val="1A1A1A"/>
                </a:solidFill>
                <a:latin typeface="+mn-ea"/>
              </a:rPr>
              <a:t>hoặc</a:t>
            </a:r>
            <a:r>
              <a:rPr lang="en-US" sz="1400" dirty="0">
                <a:solidFill>
                  <a:srgbClr val="1A1A1A"/>
                </a:solidFill>
                <a:latin typeface="+mn-ea"/>
              </a:rPr>
              <a:t> </a:t>
            </a:r>
            <a:r>
              <a:rPr lang="en-US" sz="1400" dirty="0" err="1">
                <a:solidFill>
                  <a:srgbClr val="1A1A1A"/>
                </a:solidFill>
                <a:latin typeface="+mn-ea"/>
              </a:rPr>
              <a:t>chỉ</a:t>
            </a:r>
            <a:r>
              <a:rPr lang="en-US" sz="1400" dirty="0">
                <a:solidFill>
                  <a:srgbClr val="1A1A1A"/>
                </a:solidFill>
                <a:latin typeface="+mn-ea"/>
              </a:rPr>
              <a:t> </a:t>
            </a:r>
            <a:r>
              <a:rPr lang="en-US" sz="1400" dirty="0" err="1">
                <a:solidFill>
                  <a:srgbClr val="1A1A1A"/>
                </a:solidFill>
                <a:latin typeface="+mn-ea"/>
              </a:rPr>
              <a:t>lấy</a:t>
            </a:r>
            <a:r>
              <a:rPr lang="en-US" sz="1400" dirty="0">
                <a:solidFill>
                  <a:srgbClr val="1A1A1A"/>
                </a:solidFill>
                <a:latin typeface="+mn-ea"/>
              </a:rPr>
              <a:t> </a:t>
            </a:r>
            <a:r>
              <a:rPr lang="en-US" sz="1400" dirty="0" err="1">
                <a:solidFill>
                  <a:srgbClr val="1A1A1A"/>
                </a:solidFill>
                <a:latin typeface="+mn-ea"/>
              </a:rPr>
              <a:t>đặc</a:t>
            </a:r>
            <a:r>
              <a:rPr lang="en-US" sz="1400" dirty="0">
                <a:solidFill>
                  <a:srgbClr val="1A1A1A"/>
                </a:solidFill>
                <a:latin typeface="+mn-ea"/>
              </a:rPr>
              <a:t> </a:t>
            </a:r>
            <a:r>
              <a:rPr lang="en-US" sz="1400" dirty="0" err="1">
                <a:solidFill>
                  <a:srgbClr val="1A1A1A"/>
                </a:solidFill>
                <a:latin typeface="+mn-ea"/>
              </a:rPr>
              <a:t>trưng</a:t>
            </a:r>
            <a:r>
              <a:rPr lang="en-US" sz="1400" dirty="0">
                <a:solidFill>
                  <a:srgbClr val="1A1A1A"/>
                </a:solidFill>
                <a:latin typeface="+mn-ea"/>
              </a:rPr>
              <a:t> </a:t>
            </a:r>
            <a:r>
              <a:rPr lang="en-US" sz="1400" dirty="0" err="1">
                <a:solidFill>
                  <a:srgbClr val="1A1A1A"/>
                </a:solidFill>
                <a:latin typeface="+mn-ea"/>
              </a:rPr>
              <a:t>tại</a:t>
            </a:r>
            <a:r>
              <a:rPr lang="en-US" sz="1400" dirty="0">
                <a:solidFill>
                  <a:srgbClr val="1A1A1A"/>
                </a:solidFill>
                <a:latin typeface="+mn-ea"/>
              </a:rPr>
              <a:t> </a:t>
            </a:r>
            <a:r>
              <a:rPr lang="en-US" sz="1400" dirty="0" err="1">
                <a:solidFill>
                  <a:srgbClr val="1A1A1A"/>
                </a:solidFill>
                <a:latin typeface="+mn-ea"/>
              </a:rPr>
              <a:t>một</a:t>
            </a:r>
            <a:r>
              <a:rPr lang="en-US" sz="1400" dirty="0">
                <a:solidFill>
                  <a:srgbClr val="1A1A1A"/>
                </a:solidFill>
                <a:latin typeface="+mn-ea"/>
              </a:rPr>
              <a:t> </a:t>
            </a:r>
            <a:r>
              <a:rPr lang="en-US" sz="1400" dirty="0" err="1">
                <a:solidFill>
                  <a:srgbClr val="1A1A1A"/>
                </a:solidFill>
                <a:latin typeface="+mn-ea"/>
              </a:rPr>
              <a:t>điểm</a:t>
            </a:r>
            <a:r>
              <a:rPr lang="en-US" sz="1400" dirty="0">
                <a:solidFill>
                  <a:srgbClr val="1A1A1A"/>
                </a:solidFill>
                <a:latin typeface="+mn-ea"/>
              </a:rPr>
              <a:t>.</a:t>
            </a:r>
            <a:br>
              <a:rPr lang="vi-VN" sz="1400" dirty="0">
                <a:solidFill>
                  <a:srgbClr val="1A1A1A"/>
                </a:solidFill>
                <a:latin typeface="+mn-ea"/>
              </a:rPr>
            </a:br>
            <a:endParaRPr lang="vi-VN" sz="1400" dirty="0">
              <a:solidFill>
                <a:srgbClr val="1A1A1A"/>
              </a:solidFill>
              <a:latin typeface="+mn-ea"/>
            </a:endParaRPr>
          </a:p>
          <a:p>
            <a:r>
              <a:rPr lang="vi-VN" sz="1400" b="1" dirty="0">
                <a:solidFill>
                  <a:srgbClr val="1A1A1A"/>
                </a:solidFill>
                <a:highlight>
                  <a:srgbClr val="FFFF00"/>
                </a:highlight>
                <a:latin typeface="+mn-ea"/>
                <a:cs typeface="Arial"/>
              </a:rPr>
              <a:t>3.</a:t>
            </a:r>
            <a:r>
              <a:rPr lang="en-US" sz="1400" dirty="0">
                <a:solidFill>
                  <a:srgbClr val="1A1A1A"/>
                </a:solidFill>
                <a:highlight>
                  <a:srgbClr val="FFFF00"/>
                </a:highlight>
                <a:latin typeface="+mn-ea"/>
              </a:rPr>
              <a:t> </a:t>
            </a:r>
            <a:r>
              <a:rPr lang="en-US" sz="1400" b="1" dirty="0">
                <a:solidFill>
                  <a:srgbClr val="1A1A1A"/>
                </a:solidFill>
                <a:highlight>
                  <a:srgbClr val="FFFF00"/>
                </a:highlight>
                <a:latin typeface="+mn-ea"/>
              </a:rPr>
              <a:t>Attention </a:t>
            </a:r>
            <a:r>
              <a:rPr lang="en-US" sz="1400" b="1" dirty="0" err="1">
                <a:solidFill>
                  <a:srgbClr val="1A1A1A"/>
                </a:solidFill>
                <a:highlight>
                  <a:srgbClr val="FFFF00"/>
                </a:highlight>
                <a:latin typeface="+mn-ea"/>
              </a:rPr>
              <a:t>giữa</a:t>
            </a:r>
            <a:r>
              <a:rPr lang="en-US" sz="1400" b="1" dirty="0">
                <a:solidFill>
                  <a:srgbClr val="1A1A1A"/>
                </a:solidFill>
                <a:highlight>
                  <a:srgbClr val="FFFF00"/>
                </a:highlight>
                <a:latin typeface="+mn-ea"/>
              </a:rPr>
              <a:t> </a:t>
            </a:r>
            <a:r>
              <a:rPr lang="en-US" sz="1400" b="1" dirty="0" err="1">
                <a:solidFill>
                  <a:srgbClr val="1A1A1A"/>
                </a:solidFill>
                <a:highlight>
                  <a:srgbClr val="FFFF00"/>
                </a:highlight>
                <a:latin typeface="+mn-ea"/>
              </a:rPr>
              <a:t>các</a:t>
            </a:r>
            <a:r>
              <a:rPr lang="en-US" sz="1400" b="1" dirty="0">
                <a:solidFill>
                  <a:srgbClr val="1A1A1A"/>
                </a:solidFill>
                <a:highlight>
                  <a:srgbClr val="FFFF00"/>
                </a:highlight>
                <a:latin typeface="+mn-ea"/>
              </a:rPr>
              <a:t> </a:t>
            </a:r>
            <a:r>
              <a:rPr lang="vi-VN" sz="1400" b="1" dirty="0" err="1">
                <a:solidFill>
                  <a:srgbClr val="1A1A1A"/>
                </a:solidFill>
                <a:highlight>
                  <a:srgbClr val="FFFF00"/>
                </a:highlight>
                <a:latin typeface="+mn-ea"/>
              </a:rPr>
              <a:t>anchor</a:t>
            </a:r>
            <a:r>
              <a:rPr lang="vi-VN" sz="1400" b="1" dirty="0">
                <a:solidFill>
                  <a:srgbClr val="1A1A1A"/>
                </a:solidFill>
                <a:latin typeface="+mn-ea"/>
              </a:rPr>
              <a:t>: </a:t>
            </a:r>
            <a:r>
              <a:rPr lang="en-US" sz="1400" dirty="0" err="1">
                <a:solidFill>
                  <a:srgbClr val="1A1A1A"/>
                </a:solidFill>
                <a:latin typeface="+mn-ea"/>
              </a:rPr>
              <a:t>Mỗi</a:t>
            </a:r>
            <a:r>
              <a:rPr lang="en-US" sz="1400" dirty="0">
                <a:solidFill>
                  <a:srgbClr val="1A1A1A"/>
                </a:solidFill>
                <a:latin typeface="+mn-ea"/>
              </a:rPr>
              <a:t> anchor </a:t>
            </a:r>
            <a:r>
              <a:rPr lang="en-US" sz="1400" dirty="0" err="1">
                <a:solidFill>
                  <a:srgbClr val="1A1A1A"/>
                </a:solidFill>
                <a:latin typeface="+mn-ea"/>
              </a:rPr>
              <a:t>được</a:t>
            </a:r>
            <a:r>
              <a:rPr lang="en-US" sz="1400" dirty="0">
                <a:solidFill>
                  <a:srgbClr val="1A1A1A"/>
                </a:solidFill>
                <a:latin typeface="+mn-ea"/>
              </a:rPr>
              <a:t> </a:t>
            </a:r>
            <a:r>
              <a:rPr lang="en-US" sz="1400" dirty="0" err="1">
                <a:solidFill>
                  <a:srgbClr val="1A1A1A"/>
                </a:solidFill>
                <a:latin typeface="+mn-ea"/>
              </a:rPr>
              <a:t>phép</a:t>
            </a:r>
            <a:r>
              <a:rPr lang="en-US" sz="1400" dirty="0">
                <a:solidFill>
                  <a:srgbClr val="1A1A1A"/>
                </a:solidFill>
                <a:latin typeface="+mn-ea"/>
              </a:rPr>
              <a:t> </a:t>
            </a:r>
            <a:r>
              <a:rPr lang="en-US" sz="1400" dirty="0" err="1">
                <a:solidFill>
                  <a:srgbClr val="1A1A1A"/>
                </a:solidFill>
                <a:latin typeface="+mn-ea"/>
              </a:rPr>
              <a:t>thu</a:t>
            </a:r>
            <a:r>
              <a:rPr lang="en-US" sz="1400" dirty="0">
                <a:solidFill>
                  <a:srgbClr val="1A1A1A"/>
                </a:solidFill>
                <a:latin typeface="+mn-ea"/>
              </a:rPr>
              <a:t> </a:t>
            </a:r>
            <a:r>
              <a:rPr lang="en-US" sz="1400" dirty="0" err="1">
                <a:solidFill>
                  <a:srgbClr val="1A1A1A"/>
                </a:solidFill>
                <a:latin typeface="+mn-ea"/>
              </a:rPr>
              <a:t>nhận</a:t>
            </a:r>
            <a:r>
              <a:rPr lang="en-US" sz="1400" dirty="0">
                <a:solidFill>
                  <a:srgbClr val="1A1A1A"/>
                </a:solidFill>
                <a:latin typeface="+mn-ea"/>
              </a:rPr>
              <a:t> </a:t>
            </a:r>
            <a:r>
              <a:rPr lang="en-US" sz="1400" dirty="0" err="1">
                <a:solidFill>
                  <a:srgbClr val="1A1A1A"/>
                </a:solidFill>
                <a:latin typeface="+mn-ea"/>
              </a:rPr>
              <a:t>thông</a:t>
            </a:r>
            <a:r>
              <a:rPr lang="en-US" sz="1400" dirty="0">
                <a:solidFill>
                  <a:srgbClr val="1A1A1A"/>
                </a:solidFill>
                <a:latin typeface="+mn-ea"/>
              </a:rPr>
              <a:t> tin </a:t>
            </a:r>
            <a:r>
              <a:rPr lang="en-US" sz="1400" dirty="0" err="1">
                <a:solidFill>
                  <a:srgbClr val="1A1A1A"/>
                </a:solidFill>
                <a:latin typeface="+mn-ea"/>
              </a:rPr>
              <a:t>từ</a:t>
            </a:r>
            <a:r>
              <a:rPr lang="en-US" sz="1400" dirty="0">
                <a:solidFill>
                  <a:srgbClr val="1A1A1A"/>
                </a:solidFill>
                <a:latin typeface="+mn-ea"/>
              </a:rPr>
              <a:t> </a:t>
            </a:r>
            <a:r>
              <a:rPr lang="en-US" sz="1400" dirty="0" err="1">
                <a:solidFill>
                  <a:srgbClr val="1A1A1A"/>
                </a:solidFill>
                <a:latin typeface="+mn-ea"/>
              </a:rPr>
              <a:t>các</a:t>
            </a:r>
            <a:r>
              <a:rPr lang="en-US" sz="1400" dirty="0">
                <a:solidFill>
                  <a:srgbClr val="1A1A1A"/>
                </a:solidFill>
                <a:latin typeface="+mn-ea"/>
              </a:rPr>
              <a:t> anchor </a:t>
            </a:r>
            <a:r>
              <a:rPr lang="en-US" sz="1400" dirty="0" err="1">
                <a:solidFill>
                  <a:srgbClr val="1A1A1A"/>
                </a:solidFill>
                <a:latin typeface="+mn-ea"/>
              </a:rPr>
              <a:t>khác</a:t>
            </a:r>
            <a:r>
              <a:rPr lang="en-US" sz="1400" dirty="0">
                <a:solidFill>
                  <a:srgbClr val="1A1A1A"/>
                </a:solidFill>
                <a:latin typeface="+mn-ea"/>
              </a:rPr>
              <a:t> </a:t>
            </a:r>
            <a:r>
              <a:rPr lang="en-US" sz="1400" dirty="0" err="1">
                <a:solidFill>
                  <a:srgbClr val="1A1A1A"/>
                </a:solidFill>
                <a:latin typeface="+mn-ea"/>
              </a:rPr>
              <a:t>thông</a:t>
            </a:r>
            <a:r>
              <a:rPr lang="en-US" sz="1400" dirty="0">
                <a:solidFill>
                  <a:srgbClr val="1A1A1A"/>
                </a:solidFill>
                <a:latin typeface="+mn-ea"/>
              </a:rPr>
              <a:t> qua attention.</a:t>
            </a:r>
            <a:br>
              <a:rPr lang="vi-VN" sz="1400" dirty="0">
                <a:solidFill>
                  <a:srgbClr val="1A1A1A"/>
                </a:solidFill>
                <a:latin typeface="+mn-ea"/>
              </a:rPr>
            </a:br>
            <a:r>
              <a:rPr lang="en-US" sz="1400" dirty="0" err="1">
                <a:latin typeface="+mn-ea"/>
              </a:rPr>
              <a:t>Ví</a:t>
            </a:r>
            <a:r>
              <a:rPr lang="en-US" sz="1400" dirty="0">
                <a:latin typeface="+mn-ea"/>
              </a:rPr>
              <a:t> </a:t>
            </a:r>
            <a:r>
              <a:rPr lang="en-US" sz="1400" dirty="0" err="1">
                <a:latin typeface="+mn-ea"/>
              </a:rPr>
              <a:t>dụ</a:t>
            </a:r>
            <a:r>
              <a:rPr lang="en-US" sz="1400" dirty="0">
                <a:latin typeface="+mn-ea"/>
              </a:rPr>
              <a:t>, </a:t>
            </a:r>
            <a:r>
              <a:rPr lang="en-US" sz="1400" dirty="0" err="1">
                <a:latin typeface="+mn-ea"/>
              </a:rPr>
              <a:t>nếu</a:t>
            </a:r>
            <a:r>
              <a:rPr lang="en-US" sz="1400" dirty="0">
                <a:latin typeface="+mn-ea"/>
              </a:rPr>
              <a:t> lane </a:t>
            </a:r>
            <a:r>
              <a:rPr lang="en-US" sz="1400" dirty="0" err="1">
                <a:latin typeface="+mn-ea"/>
              </a:rPr>
              <a:t>bên</a:t>
            </a:r>
            <a:r>
              <a:rPr lang="en-US" sz="1400" dirty="0">
                <a:latin typeface="+mn-ea"/>
              </a:rPr>
              <a:t> </a:t>
            </a:r>
            <a:r>
              <a:rPr lang="en-US" sz="1400" dirty="0" err="1">
                <a:latin typeface="+mn-ea"/>
              </a:rPr>
              <a:t>trái</a:t>
            </a:r>
            <a:r>
              <a:rPr lang="en-US" sz="1400" dirty="0">
                <a:latin typeface="+mn-ea"/>
              </a:rPr>
              <a:t> </a:t>
            </a:r>
            <a:r>
              <a:rPr lang="en-US" sz="1400" dirty="0" err="1">
                <a:latin typeface="+mn-ea"/>
              </a:rPr>
              <a:t>bị</a:t>
            </a:r>
            <a:r>
              <a:rPr lang="en-US" sz="1400" dirty="0">
                <a:latin typeface="+mn-ea"/>
              </a:rPr>
              <a:t> </a:t>
            </a:r>
            <a:r>
              <a:rPr lang="en-US" sz="1400" dirty="0" err="1">
                <a:latin typeface="+mn-ea"/>
              </a:rPr>
              <a:t>xe</a:t>
            </a:r>
            <a:r>
              <a:rPr lang="en-US" sz="1400" dirty="0">
                <a:latin typeface="+mn-ea"/>
              </a:rPr>
              <a:t> </a:t>
            </a:r>
            <a:r>
              <a:rPr lang="en-US" sz="1400" dirty="0" err="1">
                <a:latin typeface="+mn-ea"/>
              </a:rPr>
              <a:t>che</a:t>
            </a:r>
            <a:r>
              <a:rPr lang="en-US" sz="1400" dirty="0">
                <a:latin typeface="+mn-ea"/>
              </a:rPr>
              <a:t> </a:t>
            </a:r>
            <a:r>
              <a:rPr lang="en-US" sz="1400" dirty="0" err="1">
                <a:latin typeface="+mn-ea"/>
              </a:rPr>
              <a:t>một</a:t>
            </a:r>
            <a:r>
              <a:rPr lang="en-US" sz="1400" dirty="0">
                <a:latin typeface="+mn-ea"/>
              </a:rPr>
              <a:t> </a:t>
            </a:r>
            <a:r>
              <a:rPr lang="en-US" sz="1400" dirty="0" err="1">
                <a:latin typeface="+mn-ea"/>
              </a:rPr>
              <a:t>phần</a:t>
            </a:r>
            <a:r>
              <a:rPr lang="en-US" sz="1400" dirty="0">
                <a:latin typeface="+mn-ea"/>
              </a:rPr>
              <a:t>, </a:t>
            </a:r>
            <a:r>
              <a:rPr lang="en-US" sz="1400" dirty="0" err="1">
                <a:latin typeface="+mn-ea"/>
              </a:rPr>
              <a:t>đặc</a:t>
            </a:r>
            <a:r>
              <a:rPr lang="en-US" sz="1400" dirty="0">
                <a:latin typeface="+mn-ea"/>
              </a:rPr>
              <a:t> </a:t>
            </a:r>
            <a:r>
              <a:rPr lang="en-US" sz="1400" dirty="0" err="1">
                <a:latin typeface="+mn-ea"/>
              </a:rPr>
              <a:t>trưng</a:t>
            </a:r>
            <a:r>
              <a:rPr lang="en-US" sz="1400" dirty="0">
                <a:latin typeface="+mn-ea"/>
              </a:rPr>
              <a:t> </a:t>
            </a:r>
            <a:r>
              <a:rPr lang="en-US" sz="1400" dirty="0" err="1">
                <a:latin typeface="+mn-ea"/>
              </a:rPr>
              <a:t>của</a:t>
            </a:r>
            <a:r>
              <a:rPr lang="en-US" sz="1400" dirty="0">
                <a:latin typeface="+mn-ea"/>
              </a:rPr>
              <a:t> </a:t>
            </a:r>
            <a:r>
              <a:rPr lang="en-US" sz="1400" dirty="0" err="1">
                <a:latin typeface="+mn-ea"/>
              </a:rPr>
              <a:t>các</a:t>
            </a:r>
            <a:r>
              <a:rPr lang="en-US" sz="1400" dirty="0">
                <a:latin typeface="+mn-ea"/>
              </a:rPr>
              <a:t> lane </a:t>
            </a:r>
            <a:r>
              <a:rPr lang="en-US" sz="1400" dirty="0" err="1">
                <a:latin typeface="+mn-ea"/>
              </a:rPr>
              <a:t>còn</a:t>
            </a:r>
            <a:r>
              <a:rPr lang="en-US" sz="1400" dirty="0">
                <a:latin typeface="+mn-ea"/>
              </a:rPr>
              <a:t> </a:t>
            </a:r>
            <a:r>
              <a:rPr lang="en-US" sz="1400" dirty="0" err="1">
                <a:latin typeface="+mn-ea"/>
              </a:rPr>
              <a:t>lại</a:t>
            </a:r>
            <a:r>
              <a:rPr lang="en-US" sz="1400" dirty="0">
                <a:latin typeface="+mn-ea"/>
              </a:rPr>
              <a:t> </a:t>
            </a:r>
            <a:r>
              <a:rPr lang="en-US" sz="1400" dirty="0" err="1">
                <a:latin typeface="+mn-ea"/>
              </a:rPr>
              <a:t>có</a:t>
            </a:r>
            <a:r>
              <a:rPr lang="en-US" sz="1400" dirty="0">
                <a:latin typeface="+mn-ea"/>
              </a:rPr>
              <a:t> </a:t>
            </a:r>
            <a:r>
              <a:rPr lang="en-US" sz="1400" dirty="0" err="1">
                <a:latin typeface="+mn-ea"/>
              </a:rPr>
              <a:t>thể</a:t>
            </a:r>
            <a:r>
              <a:rPr lang="en-US" sz="1400" dirty="0">
                <a:latin typeface="+mn-ea"/>
              </a:rPr>
              <a:t> </a:t>
            </a:r>
            <a:r>
              <a:rPr lang="en-US" sz="1400" dirty="0" err="1">
                <a:latin typeface="+mn-ea"/>
              </a:rPr>
              <a:t>cung</a:t>
            </a:r>
            <a:r>
              <a:rPr lang="en-US" sz="1400" dirty="0">
                <a:latin typeface="+mn-ea"/>
              </a:rPr>
              <a:t> </a:t>
            </a:r>
            <a:r>
              <a:rPr lang="en-US" sz="1400" dirty="0" err="1">
                <a:latin typeface="+mn-ea"/>
              </a:rPr>
              <a:t>cấp</a:t>
            </a:r>
            <a:r>
              <a:rPr lang="en-US" sz="1400" dirty="0">
                <a:latin typeface="+mn-ea"/>
              </a:rPr>
              <a:t> </a:t>
            </a:r>
            <a:r>
              <a:rPr lang="en-US" sz="1400" dirty="0" err="1">
                <a:latin typeface="+mn-ea"/>
              </a:rPr>
              <a:t>ngữ</a:t>
            </a:r>
            <a:r>
              <a:rPr lang="en-US" sz="1400" dirty="0">
                <a:latin typeface="+mn-ea"/>
              </a:rPr>
              <a:t> </a:t>
            </a:r>
            <a:r>
              <a:rPr lang="en-US" sz="1400" dirty="0" err="1">
                <a:latin typeface="+mn-ea"/>
              </a:rPr>
              <a:t>cảnh</a:t>
            </a:r>
            <a:r>
              <a:rPr lang="en-US" sz="1400" dirty="0">
                <a:latin typeface="+mn-ea"/>
              </a:rPr>
              <a:t> </a:t>
            </a:r>
            <a:r>
              <a:rPr lang="en-US" sz="1400" dirty="0" err="1">
                <a:latin typeface="+mn-ea"/>
              </a:rPr>
              <a:t>về</a:t>
            </a:r>
            <a:r>
              <a:rPr lang="en-US" sz="1400" dirty="0">
                <a:latin typeface="+mn-ea"/>
              </a:rPr>
              <a:t>:</a:t>
            </a:r>
          </a:p>
          <a:p>
            <a:pPr lvl="0"/>
            <a:r>
              <a:rPr lang="en-US" sz="1400" dirty="0" err="1">
                <a:latin typeface="+mn-ea"/>
              </a:rPr>
              <a:t>Hướng</a:t>
            </a:r>
            <a:r>
              <a:rPr lang="en-US" sz="1400" dirty="0">
                <a:latin typeface="+mn-ea"/>
              </a:rPr>
              <a:t> </a:t>
            </a:r>
            <a:r>
              <a:rPr lang="en-US" sz="1400" dirty="0" err="1">
                <a:latin typeface="+mn-ea"/>
              </a:rPr>
              <a:t>chung</a:t>
            </a:r>
            <a:r>
              <a:rPr lang="en-US" sz="1400" dirty="0">
                <a:latin typeface="+mn-ea"/>
              </a:rPr>
              <a:t> </a:t>
            </a:r>
            <a:r>
              <a:rPr lang="en-US" sz="1400" dirty="0" err="1">
                <a:latin typeface="+mn-ea"/>
              </a:rPr>
              <a:t>của</a:t>
            </a:r>
            <a:r>
              <a:rPr lang="en-US" sz="1400" dirty="0">
                <a:latin typeface="+mn-ea"/>
              </a:rPr>
              <a:t> </a:t>
            </a:r>
            <a:r>
              <a:rPr lang="en-US" sz="1400" dirty="0" err="1">
                <a:latin typeface="+mn-ea"/>
              </a:rPr>
              <a:t>mặt</a:t>
            </a:r>
            <a:r>
              <a:rPr lang="en-US" sz="1400" dirty="0">
                <a:latin typeface="+mn-ea"/>
              </a:rPr>
              <a:t> </a:t>
            </a:r>
            <a:r>
              <a:rPr lang="en-US" sz="1400" dirty="0" err="1">
                <a:latin typeface="+mn-ea"/>
              </a:rPr>
              <a:t>đường</a:t>
            </a:r>
            <a:r>
              <a:rPr lang="en-US" sz="1400" dirty="0">
                <a:latin typeface="+mn-ea"/>
              </a:rPr>
              <a:t>.</a:t>
            </a:r>
          </a:p>
          <a:p>
            <a:pPr lvl="0"/>
            <a:r>
              <a:rPr lang="en-US" sz="1400" dirty="0" err="1">
                <a:latin typeface="+mn-ea"/>
              </a:rPr>
              <a:t>Độ</a:t>
            </a:r>
            <a:r>
              <a:rPr lang="en-US" sz="1400" dirty="0">
                <a:latin typeface="+mn-ea"/>
              </a:rPr>
              <a:t> </a:t>
            </a:r>
            <a:r>
              <a:rPr lang="en-US" sz="1400" dirty="0" err="1">
                <a:latin typeface="+mn-ea"/>
              </a:rPr>
              <a:t>cong</a:t>
            </a:r>
            <a:r>
              <a:rPr lang="en-US" sz="1400" dirty="0">
                <a:latin typeface="+mn-ea"/>
              </a:rPr>
              <a:t> </a:t>
            </a:r>
            <a:r>
              <a:rPr lang="en-US" sz="1400" dirty="0" err="1">
                <a:latin typeface="+mn-ea"/>
              </a:rPr>
              <a:t>của</a:t>
            </a:r>
            <a:r>
              <a:rPr lang="en-US" sz="1400" dirty="0">
                <a:latin typeface="+mn-ea"/>
              </a:rPr>
              <a:t> </a:t>
            </a:r>
            <a:r>
              <a:rPr lang="en-US" sz="1400" dirty="0" err="1">
                <a:latin typeface="+mn-ea"/>
              </a:rPr>
              <a:t>hệ</a:t>
            </a:r>
            <a:r>
              <a:rPr lang="en-US" sz="1400" dirty="0">
                <a:latin typeface="+mn-ea"/>
              </a:rPr>
              <a:t> </a:t>
            </a:r>
            <a:r>
              <a:rPr lang="en-US" sz="1400" dirty="0" err="1">
                <a:latin typeface="+mn-ea"/>
              </a:rPr>
              <a:t>thống</a:t>
            </a:r>
            <a:r>
              <a:rPr lang="en-US" sz="1400" dirty="0">
                <a:latin typeface="+mn-ea"/>
              </a:rPr>
              <a:t> lane.</a:t>
            </a:r>
          </a:p>
          <a:p>
            <a:pPr lvl="0"/>
            <a:r>
              <a:rPr lang="en-US" sz="1400" dirty="0">
                <a:latin typeface="+mn-ea"/>
              </a:rPr>
              <a:t>Quan </a:t>
            </a:r>
            <a:r>
              <a:rPr lang="en-US" sz="1400" dirty="0" err="1">
                <a:latin typeface="+mn-ea"/>
              </a:rPr>
              <a:t>hệ</a:t>
            </a:r>
            <a:r>
              <a:rPr lang="en-US" sz="1400" dirty="0">
                <a:latin typeface="+mn-ea"/>
              </a:rPr>
              <a:t> </a:t>
            </a:r>
            <a:r>
              <a:rPr lang="en-US" sz="1400" dirty="0" err="1">
                <a:latin typeface="+mn-ea"/>
              </a:rPr>
              <a:t>không</a:t>
            </a:r>
            <a:r>
              <a:rPr lang="en-US" sz="1400" dirty="0">
                <a:latin typeface="+mn-ea"/>
              </a:rPr>
              <a:t> </a:t>
            </a:r>
            <a:r>
              <a:rPr lang="en-US" sz="1400" dirty="0" err="1">
                <a:latin typeface="+mn-ea"/>
              </a:rPr>
              <a:t>gian</a:t>
            </a:r>
            <a:r>
              <a:rPr lang="en-US" sz="1400" dirty="0">
                <a:latin typeface="+mn-ea"/>
              </a:rPr>
              <a:t> </a:t>
            </a:r>
            <a:r>
              <a:rPr lang="en-US" sz="1400" dirty="0" err="1">
                <a:latin typeface="+mn-ea"/>
              </a:rPr>
              <a:t>giữa</a:t>
            </a:r>
            <a:r>
              <a:rPr lang="en-US" sz="1400" dirty="0">
                <a:latin typeface="+mn-ea"/>
              </a:rPr>
              <a:t> </a:t>
            </a:r>
            <a:r>
              <a:rPr lang="en-US" sz="1400" dirty="0" err="1">
                <a:latin typeface="+mn-ea"/>
              </a:rPr>
              <a:t>các</a:t>
            </a:r>
            <a:r>
              <a:rPr lang="en-US" sz="1400" dirty="0">
                <a:latin typeface="+mn-ea"/>
              </a:rPr>
              <a:t> </a:t>
            </a:r>
            <a:r>
              <a:rPr lang="en-US" sz="1400" dirty="0" err="1">
                <a:latin typeface="+mn-ea"/>
              </a:rPr>
              <a:t>làn</a:t>
            </a:r>
            <a:r>
              <a:rPr lang="en-US" sz="1400" dirty="0">
                <a:latin typeface="+mn-ea"/>
              </a:rPr>
              <a:t>.</a:t>
            </a:r>
          </a:p>
          <a:p>
            <a:pPr marL="25" indent="-15">
              <a:lnSpc>
                <a:spcPct val="100000"/>
              </a:lnSpc>
              <a:spcAft>
                <a:spcPts val="8"/>
              </a:spcAft>
              <a:buNone/>
              <a:defRPr sz="1350">
                <a:solidFill>
                  <a:srgbClr val="1A1A1A"/>
                </a:solidFill>
                <a:latin typeface="Arial"/>
                <a:ea typeface="Arial"/>
                <a:cs typeface="Arial"/>
              </a:defRPr>
            </a:pPr>
            <a:endParaRPr sz="1350" b="1" dirty="0">
              <a:solidFill>
                <a:srgbClr val="1A1A1A"/>
              </a:solidFill>
              <a:latin typeface="+mn-ea"/>
              <a:cs typeface="Arial"/>
            </a:endParaRPr>
          </a:p>
        </p:txBody>
      </p:sp>
      <p:sp>
        <p:nvSpPr>
          <p:cNvPr id="15" name="Hộp Văn bản 11">
            <a:extLst>
              <a:ext uri="{FF2B5EF4-FFF2-40B4-BE49-F238E27FC236}">
                <a16:creationId xmlns:a16="http://schemas.microsoft.com/office/drawing/2014/main" id="{69B9C577-DA68-9F9C-5CC8-DAC510D9D4E2}"/>
              </a:ext>
            </a:extLst>
          </p:cNvPr>
          <p:cNvSpPr txBox="1"/>
          <p:nvPr/>
        </p:nvSpPr>
        <p:spPr>
          <a:xfrm>
            <a:off x="6230991" y="4977188"/>
            <a:ext cx="6096000" cy="1808187"/>
          </a:xfrm>
          <a:prstGeom prst="rect">
            <a:avLst/>
          </a:prstGeom>
          <a:noFill/>
        </p:spPr>
        <p:txBody>
          <a:bodyPr wrap="square">
            <a:spAutoFit/>
          </a:bodyPr>
          <a:lstStyle/>
          <a:p>
            <a:pPr marL="25" indent="-15">
              <a:lnSpc>
                <a:spcPct val="100000"/>
              </a:lnSpc>
              <a:spcAft>
                <a:spcPts val="8"/>
              </a:spcAft>
              <a:buNone/>
              <a:defRPr sz="1350">
                <a:solidFill>
                  <a:srgbClr val="1A1A1A"/>
                </a:solidFill>
                <a:latin typeface="Arial"/>
                <a:ea typeface="Arial"/>
                <a:cs typeface="Arial"/>
              </a:defRPr>
            </a:pPr>
            <a:r>
              <a:rPr lang="vi-VN" sz="1400" b="1" dirty="0">
                <a:solidFill>
                  <a:srgbClr val="1A1A1A"/>
                </a:solidFill>
                <a:highlight>
                  <a:srgbClr val="FFFF00"/>
                </a:highlight>
                <a:latin typeface="+mn-ea"/>
                <a:cs typeface="Arial"/>
              </a:rPr>
              <a:t>4.</a:t>
            </a:r>
            <a:r>
              <a:rPr lang="en-US" sz="1400" dirty="0">
                <a:solidFill>
                  <a:srgbClr val="1A1A1A"/>
                </a:solidFill>
                <a:highlight>
                  <a:srgbClr val="FFFF00"/>
                </a:highlight>
                <a:latin typeface="+mn-ea"/>
              </a:rPr>
              <a:t> </a:t>
            </a:r>
            <a:r>
              <a:rPr lang="en-US" sz="1400" b="1" dirty="0" err="1">
                <a:solidFill>
                  <a:srgbClr val="1A1A1A"/>
                </a:solidFill>
                <a:highlight>
                  <a:srgbClr val="FFFF00"/>
                </a:highlight>
                <a:latin typeface="+mn-ea"/>
              </a:rPr>
              <a:t>Dự</a:t>
            </a:r>
            <a:r>
              <a:rPr lang="en-US" sz="1400" b="1" dirty="0">
                <a:solidFill>
                  <a:srgbClr val="1A1A1A"/>
                </a:solidFill>
                <a:highlight>
                  <a:srgbClr val="FFFF00"/>
                </a:highlight>
                <a:latin typeface="+mn-ea"/>
              </a:rPr>
              <a:t> </a:t>
            </a:r>
            <a:r>
              <a:rPr lang="en-US" sz="1400" b="1" dirty="0" err="1">
                <a:solidFill>
                  <a:srgbClr val="1A1A1A"/>
                </a:solidFill>
                <a:highlight>
                  <a:srgbClr val="FFFF00"/>
                </a:highlight>
                <a:latin typeface="+mn-ea"/>
              </a:rPr>
              <a:t>đoán</a:t>
            </a:r>
            <a:r>
              <a:rPr lang="en-US" sz="1400" b="1" dirty="0">
                <a:solidFill>
                  <a:srgbClr val="1A1A1A"/>
                </a:solidFill>
                <a:highlight>
                  <a:srgbClr val="FFFF00"/>
                </a:highlight>
                <a:latin typeface="+mn-ea"/>
              </a:rPr>
              <a:t> </a:t>
            </a:r>
            <a:r>
              <a:rPr lang="en-US" sz="1400" b="1" dirty="0" err="1">
                <a:solidFill>
                  <a:srgbClr val="1A1A1A"/>
                </a:solidFill>
                <a:highlight>
                  <a:srgbClr val="FFFF00"/>
                </a:highlight>
                <a:latin typeface="+mn-ea"/>
              </a:rPr>
              <a:t>và</a:t>
            </a:r>
            <a:r>
              <a:rPr lang="en-US" sz="1400" b="1" dirty="0">
                <a:solidFill>
                  <a:srgbClr val="1A1A1A"/>
                </a:solidFill>
                <a:highlight>
                  <a:srgbClr val="FFFF00"/>
                </a:highlight>
                <a:latin typeface="+mn-ea"/>
              </a:rPr>
              <a:t> </a:t>
            </a:r>
            <a:r>
              <a:rPr lang="vi-VN" sz="1400" b="1" dirty="0">
                <a:solidFill>
                  <a:srgbClr val="1A1A1A"/>
                </a:solidFill>
                <a:highlight>
                  <a:srgbClr val="FFFF00"/>
                </a:highlight>
                <a:latin typeface="+mn-ea"/>
              </a:rPr>
              <a:t>NMS</a:t>
            </a:r>
            <a:r>
              <a:rPr lang="vi-VN" sz="1400" b="1" dirty="0">
                <a:solidFill>
                  <a:srgbClr val="1A1A1A"/>
                </a:solidFill>
                <a:latin typeface="+mn-ea"/>
              </a:rPr>
              <a:t>:</a:t>
            </a:r>
          </a:p>
          <a:p>
            <a:r>
              <a:rPr lang="en-US" sz="1400" dirty="0" err="1">
                <a:latin typeface="+mn-ea"/>
              </a:rPr>
              <a:t>Với</a:t>
            </a:r>
            <a:r>
              <a:rPr lang="en-US" sz="1400" dirty="0">
                <a:latin typeface="+mn-ea"/>
              </a:rPr>
              <a:t> </a:t>
            </a:r>
            <a:r>
              <a:rPr lang="en-US" sz="1400" dirty="0" err="1">
                <a:latin typeface="+mn-ea"/>
              </a:rPr>
              <a:t>mỗi</a:t>
            </a:r>
            <a:r>
              <a:rPr lang="en-US" sz="1400" dirty="0">
                <a:latin typeface="+mn-ea"/>
              </a:rPr>
              <a:t> anchor, </a:t>
            </a:r>
            <a:r>
              <a:rPr lang="en-US" sz="1400" dirty="0" err="1">
                <a:latin typeface="+mn-ea"/>
              </a:rPr>
              <a:t>mô</a:t>
            </a:r>
            <a:r>
              <a:rPr lang="en-US" sz="1400" dirty="0">
                <a:latin typeface="+mn-ea"/>
              </a:rPr>
              <a:t> </a:t>
            </a:r>
            <a:r>
              <a:rPr lang="en-US" sz="1400" dirty="0" err="1">
                <a:latin typeface="+mn-ea"/>
              </a:rPr>
              <a:t>hình</a:t>
            </a:r>
            <a:r>
              <a:rPr lang="en-US" sz="1400" dirty="0">
                <a:latin typeface="+mn-ea"/>
              </a:rPr>
              <a:t> </a:t>
            </a:r>
            <a:r>
              <a:rPr lang="en-US" sz="1400" dirty="0" err="1">
                <a:latin typeface="+mn-ea"/>
              </a:rPr>
              <a:t>dự</a:t>
            </a:r>
            <a:r>
              <a:rPr lang="en-US" sz="1400" dirty="0">
                <a:latin typeface="+mn-ea"/>
              </a:rPr>
              <a:t> </a:t>
            </a:r>
            <a:r>
              <a:rPr lang="en-US" sz="1400" dirty="0" err="1">
                <a:latin typeface="+mn-ea"/>
              </a:rPr>
              <a:t>đoán</a:t>
            </a:r>
            <a:r>
              <a:rPr lang="en-US" sz="1400" dirty="0">
                <a:latin typeface="+mn-ea"/>
              </a:rPr>
              <a:t>:</a:t>
            </a:r>
          </a:p>
          <a:p>
            <a:pPr lvl="0"/>
            <a:r>
              <a:rPr lang="en-US" sz="1400" dirty="0" err="1">
                <a:latin typeface="+mn-ea"/>
              </a:rPr>
              <a:t>Xác</a:t>
            </a:r>
            <a:r>
              <a:rPr lang="en-US" sz="1400" dirty="0">
                <a:latin typeface="+mn-ea"/>
              </a:rPr>
              <a:t> </a:t>
            </a:r>
            <a:r>
              <a:rPr lang="en-US" sz="1400" dirty="0" err="1">
                <a:latin typeface="+mn-ea"/>
              </a:rPr>
              <a:t>suất</a:t>
            </a:r>
            <a:r>
              <a:rPr lang="en-US" sz="1400" dirty="0">
                <a:latin typeface="+mn-ea"/>
              </a:rPr>
              <a:t> anchor </a:t>
            </a:r>
            <a:r>
              <a:rPr lang="en-US" sz="1400" dirty="0" err="1">
                <a:latin typeface="+mn-ea"/>
              </a:rPr>
              <a:t>chứa</a:t>
            </a:r>
            <a:r>
              <a:rPr lang="en-US" sz="1400" dirty="0">
                <a:latin typeface="+mn-ea"/>
              </a:rPr>
              <a:t> lane.</a:t>
            </a:r>
          </a:p>
          <a:p>
            <a:pPr lvl="0"/>
            <a:r>
              <a:rPr lang="en-US" sz="1400" dirty="0" err="1">
                <a:latin typeface="+mn-ea"/>
              </a:rPr>
              <a:t>Tọa</a:t>
            </a:r>
            <a:r>
              <a:rPr lang="en-US" sz="1400" dirty="0">
                <a:latin typeface="+mn-ea"/>
              </a:rPr>
              <a:t> </a:t>
            </a:r>
            <a:r>
              <a:rPr lang="en-US" sz="1400" dirty="0" err="1">
                <a:latin typeface="+mn-ea"/>
              </a:rPr>
              <a:t>độ</a:t>
            </a:r>
            <a:r>
              <a:rPr lang="en-US" sz="1400" dirty="0">
                <a:latin typeface="+mn-ea"/>
              </a:rPr>
              <a:t> </a:t>
            </a:r>
            <a:r>
              <a:rPr lang="en-US" sz="1400" dirty="0" err="1">
                <a:latin typeface="+mn-ea"/>
              </a:rPr>
              <a:t>hiệu</a:t>
            </a:r>
            <a:r>
              <a:rPr lang="en-US" sz="1400" dirty="0">
                <a:latin typeface="+mn-ea"/>
              </a:rPr>
              <a:t> </a:t>
            </a:r>
            <a:r>
              <a:rPr lang="en-US" sz="1400" dirty="0" err="1">
                <a:latin typeface="+mn-ea"/>
              </a:rPr>
              <a:t>chỉnh</a:t>
            </a:r>
            <a:r>
              <a:rPr lang="en-US" sz="1400" dirty="0">
                <a:latin typeface="+mn-ea"/>
              </a:rPr>
              <a:t> </a:t>
            </a:r>
            <a:r>
              <a:rPr lang="en-US" sz="1400" dirty="0" err="1">
                <a:latin typeface="+mn-ea"/>
              </a:rPr>
              <a:t>cho</a:t>
            </a:r>
            <a:r>
              <a:rPr lang="en-US" sz="1400" dirty="0">
                <a:latin typeface="+mn-ea"/>
              </a:rPr>
              <a:t> </a:t>
            </a:r>
            <a:r>
              <a:rPr lang="en-US" sz="1400" dirty="0" err="1">
                <a:latin typeface="+mn-ea"/>
              </a:rPr>
              <a:t>hình</a:t>
            </a:r>
            <a:r>
              <a:rPr lang="en-US" sz="1400" dirty="0">
                <a:latin typeface="+mn-ea"/>
              </a:rPr>
              <a:t> </a:t>
            </a:r>
            <a:r>
              <a:rPr lang="en-US" sz="1400" dirty="0" err="1">
                <a:latin typeface="+mn-ea"/>
              </a:rPr>
              <a:t>dạng</a:t>
            </a:r>
            <a:r>
              <a:rPr lang="en-US" sz="1400" dirty="0">
                <a:latin typeface="+mn-ea"/>
              </a:rPr>
              <a:t> lane.</a:t>
            </a:r>
          </a:p>
          <a:p>
            <a:pPr lvl="0"/>
            <a:r>
              <a:rPr lang="en-US" sz="1400" dirty="0" err="1">
                <a:latin typeface="+mn-ea"/>
              </a:rPr>
              <a:t>Phần</a:t>
            </a:r>
            <a:r>
              <a:rPr lang="en-US" sz="1400" dirty="0">
                <a:latin typeface="+mn-ea"/>
              </a:rPr>
              <a:t> </a:t>
            </a:r>
            <a:r>
              <a:rPr lang="en-US" sz="1400" dirty="0" err="1">
                <a:latin typeface="+mn-ea"/>
              </a:rPr>
              <a:t>bắt</a:t>
            </a:r>
            <a:r>
              <a:rPr lang="en-US" sz="1400" dirty="0">
                <a:latin typeface="+mn-ea"/>
              </a:rPr>
              <a:t> </a:t>
            </a:r>
            <a:r>
              <a:rPr lang="en-US" sz="1400" dirty="0" err="1">
                <a:latin typeface="+mn-ea"/>
              </a:rPr>
              <a:t>đầu</a:t>
            </a:r>
            <a:r>
              <a:rPr lang="en-US" sz="1400" dirty="0">
                <a:latin typeface="+mn-ea"/>
              </a:rPr>
              <a:t> </a:t>
            </a:r>
            <a:r>
              <a:rPr lang="en-US" sz="1400" dirty="0" err="1">
                <a:latin typeface="+mn-ea"/>
              </a:rPr>
              <a:t>và</a:t>
            </a:r>
            <a:r>
              <a:rPr lang="en-US" sz="1400" dirty="0">
                <a:latin typeface="+mn-ea"/>
              </a:rPr>
              <a:t> </a:t>
            </a:r>
            <a:r>
              <a:rPr lang="en-US" sz="1400" dirty="0" err="1">
                <a:latin typeface="+mn-ea"/>
              </a:rPr>
              <a:t>chiều</a:t>
            </a:r>
            <a:r>
              <a:rPr lang="en-US" sz="1400" dirty="0">
                <a:latin typeface="+mn-ea"/>
              </a:rPr>
              <a:t> </a:t>
            </a:r>
            <a:r>
              <a:rPr lang="en-US" sz="1400" dirty="0" err="1">
                <a:latin typeface="+mn-ea"/>
              </a:rPr>
              <a:t>dài</a:t>
            </a:r>
            <a:r>
              <a:rPr lang="en-US" sz="1400" dirty="0">
                <a:latin typeface="+mn-ea"/>
              </a:rPr>
              <a:t> </a:t>
            </a:r>
            <a:r>
              <a:rPr lang="en-US" sz="1400" dirty="0" err="1">
                <a:latin typeface="+mn-ea"/>
              </a:rPr>
              <a:t>của</a:t>
            </a:r>
            <a:r>
              <a:rPr lang="en-US" sz="1400" dirty="0">
                <a:latin typeface="+mn-ea"/>
              </a:rPr>
              <a:t> lane.</a:t>
            </a:r>
          </a:p>
          <a:p>
            <a:r>
              <a:rPr lang="en-US" sz="1400" dirty="0">
                <a:latin typeface="+mn-ea"/>
              </a:rPr>
              <a:t>Sau </a:t>
            </a:r>
            <a:r>
              <a:rPr lang="en-US" sz="1400" dirty="0" err="1">
                <a:latin typeface="+mn-ea"/>
              </a:rPr>
              <a:t>đó</a:t>
            </a:r>
            <a:r>
              <a:rPr lang="en-US" sz="1400" dirty="0">
                <a:latin typeface="+mn-ea"/>
              </a:rPr>
              <a:t>, NMS </a:t>
            </a:r>
            <a:r>
              <a:rPr lang="en-US" sz="1400" dirty="0" err="1">
                <a:latin typeface="+mn-ea"/>
              </a:rPr>
              <a:t>loại</a:t>
            </a:r>
            <a:r>
              <a:rPr lang="en-US" sz="1400" dirty="0">
                <a:latin typeface="+mn-ea"/>
              </a:rPr>
              <a:t> </a:t>
            </a:r>
            <a:r>
              <a:rPr lang="en-US" sz="1400" dirty="0" err="1">
                <a:latin typeface="+mn-ea"/>
              </a:rPr>
              <a:t>bỏ</a:t>
            </a:r>
            <a:r>
              <a:rPr lang="en-US" sz="1400" dirty="0">
                <a:latin typeface="+mn-ea"/>
              </a:rPr>
              <a:t> </a:t>
            </a:r>
            <a:r>
              <a:rPr lang="en-US" sz="1400" dirty="0" err="1">
                <a:latin typeface="+mn-ea"/>
              </a:rPr>
              <a:t>các</a:t>
            </a:r>
            <a:r>
              <a:rPr lang="en-US" sz="1400" dirty="0">
                <a:latin typeface="+mn-ea"/>
              </a:rPr>
              <a:t> lane </a:t>
            </a:r>
            <a:r>
              <a:rPr lang="en-US" sz="1400" dirty="0" err="1">
                <a:latin typeface="+mn-ea"/>
              </a:rPr>
              <a:t>trùng</a:t>
            </a:r>
            <a:r>
              <a:rPr lang="en-US" sz="1400" dirty="0">
                <a:latin typeface="+mn-ea"/>
              </a:rPr>
              <a:t> </a:t>
            </a:r>
            <a:r>
              <a:rPr lang="en-US" sz="1400" dirty="0" err="1">
                <a:latin typeface="+mn-ea"/>
              </a:rPr>
              <a:t>nhau</a:t>
            </a:r>
            <a:r>
              <a:rPr lang="en-US" sz="1400" dirty="0">
                <a:latin typeface="+mn-ea"/>
              </a:rPr>
              <a:t>. </a:t>
            </a:r>
            <a:r>
              <a:rPr lang="en-US" sz="1400" dirty="0" err="1">
                <a:latin typeface="+mn-ea"/>
              </a:rPr>
              <a:t>Tác</a:t>
            </a:r>
            <a:r>
              <a:rPr lang="en-US" sz="1400" dirty="0">
                <a:latin typeface="+mn-ea"/>
              </a:rPr>
              <a:t> </a:t>
            </a:r>
            <a:r>
              <a:rPr lang="en-US" sz="1400" dirty="0" err="1">
                <a:latin typeface="+mn-ea"/>
              </a:rPr>
              <a:t>giả</a:t>
            </a:r>
            <a:r>
              <a:rPr lang="en-US" sz="1400" dirty="0">
                <a:latin typeface="+mn-ea"/>
              </a:rPr>
              <a:t> </a:t>
            </a:r>
            <a:r>
              <a:rPr lang="en-US" sz="1400" dirty="0" err="1">
                <a:latin typeface="+mn-ea"/>
              </a:rPr>
              <a:t>chỉ</a:t>
            </a:r>
            <a:r>
              <a:rPr lang="en-US" sz="1400" dirty="0">
                <a:latin typeface="+mn-ea"/>
              </a:rPr>
              <a:t> </a:t>
            </a:r>
            <a:r>
              <a:rPr lang="en-US" sz="1400" dirty="0" err="1">
                <a:latin typeface="+mn-ea"/>
              </a:rPr>
              <a:t>ra</a:t>
            </a:r>
            <a:r>
              <a:rPr lang="en-US" sz="1400" dirty="0">
                <a:latin typeface="+mn-ea"/>
              </a:rPr>
              <a:t> </a:t>
            </a:r>
            <a:r>
              <a:rPr lang="en-US" sz="1400" dirty="0" err="1">
                <a:latin typeface="+mn-ea"/>
              </a:rPr>
              <a:t>rằng</a:t>
            </a:r>
            <a:r>
              <a:rPr lang="en-US" sz="1400" dirty="0">
                <a:latin typeface="+mn-ea"/>
              </a:rPr>
              <a:t> NMS </a:t>
            </a:r>
            <a:r>
              <a:rPr lang="en-US" sz="1400" dirty="0" err="1">
                <a:latin typeface="+mn-ea"/>
              </a:rPr>
              <a:t>là</a:t>
            </a:r>
            <a:r>
              <a:rPr lang="en-US" sz="1400" dirty="0">
                <a:latin typeface="+mn-ea"/>
              </a:rPr>
              <a:t> </a:t>
            </a:r>
            <a:r>
              <a:rPr lang="en-US" sz="1400" dirty="0" err="1">
                <a:latin typeface="+mn-ea"/>
              </a:rPr>
              <a:t>một</a:t>
            </a:r>
            <a:r>
              <a:rPr lang="en-US" sz="1400" dirty="0">
                <a:latin typeface="+mn-ea"/>
              </a:rPr>
              <a:t> </a:t>
            </a:r>
            <a:r>
              <a:rPr lang="en-US" sz="1400" dirty="0" err="1">
                <a:latin typeface="+mn-ea"/>
              </a:rPr>
              <a:t>trong</a:t>
            </a:r>
            <a:r>
              <a:rPr lang="en-US" sz="1400" dirty="0">
                <a:latin typeface="+mn-ea"/>
              </a:rPr>
              <a:t> </a:t>
            </a:r>
            <a:r>
              <a:rPr lang="en-US" sz="1400" dirty="0" err="1">
                <a:latin typeface="+mn-ea"/>
              </a:rPr>
              <a:t>những</a:t>
            </a:r>
            <a:r>
              <a:rPr lang="en-US" sz="1400" dirty="0">
                <a:latin typeface="+mn-ea"/>
              </a:rPr>
              <a:t> </a:t>
            </a:r>
            <a:r>
              <a:rPr lang="en-US" sz="1400" dirty="0" err="1">
                <a:latin typeface="+mn-ea"/>
              </a:rPr>
              <a:t>nút</a:t>
            </a:r>
            <a:r>
              <a:rPr lang="en-US" sz="1400" dirty="0">
                <a:latin typeface="+mn-ea"/>
              </a:rPr>
              <a:t> </a:t>
            </a:r>
            <a:r>
              <a:rPr lang="en-US" sz="1400" dirty="0" err="1">
                <a:latin typeface="+mn-ea"/>
              </a:rPr>
              <a:t>thắt</a:t>
            </a:r>
            <a:r>
              <a:rPr lang="en-US" sz="1400" dirty="0">
                <a:latin typeface="+mn-ea"/>
              </a:rPr>
              <a:t> inference </a:t>
            </a:r>
            <a:r>
              <a:rPr lang="en-US" sz="1400" dirty="0" err="1">
                <a:latin typeface="+mn-ea"/>
              </a:rPr>
              <a:t>vì</a:t>
            </a:r>
            <a:r>
              <a:rPr lang="en-US" sz="1400" dirty="0">
                <a:latin typeface="+mn-ea"/>
              </a:rPr>
              <a:t> </a:t>
            </a:r>
            <a:r>
              <a:rPr lang="en-US" sz="1400" dirty="0" err="1">
                <a:latin typeface="+mn-ea"/>
              </a:rPr>
              <a:t>thời</a:t>
            </a:r>
            <a:r>
              <a:rPr lang="en-US" sz="1400" dirty="0">
                <a:latin typeface="+mn-ea"/>
              </a:rPr>
              <a:t> </a:t>
            </a:r>
            <a:r>
              <a:rPr lang="en-US" sz="1400" dirty="0" err="1">
                <a:latin typeface="+mn-ea"/>
              </a:rPr>
              <a:t>gian</a:t>
            </a:r>
            <a:r>
              <a:rPr lang="en-US" sz="1400" dirty="0">
                <a:latin typeface="+mn-ea"/>
              </a:rPr>
              <a:t> </a:t>
            </a:r>
            <a:r>
              <a:rPr lang="en-US" sz="1400" dirty="0" err="1">
                <a:latin typeface="+mn-ea"/>
              </a:rPr>
              <a:t>xử</a:t>
            </a:r>
            <a:r>
              <a:rPr lang="en-US" sz="1400" dirty="0">
                <a:latin typeface="+mn-ea"/>
              </a:rPr>
              <a:t> </a:t>
            </a:r>
            <a:r>
              <a:rPr lang="en-US" sz="1400" dirty="0" err="1">
                <a:latin typeface="+mn-ea"/>
              </a:rPr>
              <a:t>lý</a:t>
            </a:r>
            <a:r>
              <a:rPr lang="en-US" sz="1400" dirty="0">
                <a:latin typeface="+mn-ea"/>
              </a:rPr>
              <a:t> </a:t>
            </a:r>
            <a:r>
              <a:rPr lang="en-US" sz="1400" dirty="0" err="1">
                <a:latin typeface="+mn-ea"/>
              </a:rPr>
              <a:t>phụ</a:t>
            </a:r>
            <a:r>
              <a:rPr lang="en-US" sz="1400" dirty="0">
                <a:latin typeface="+mn-ea"/>
              </a:rPr>
              <a:t> </a:t>
            </a:r>
            <a:r>
              <a:rPr lang="en-US" sz="1400" dirty="0" err="1">
                <a:latin typeface="+mn-ea"/>
              </a:rPr>
              <a:t>thuộc</a:t>
            </a:r>
            <a:r>
              <a:rPr lang="en-US" sz="1400" dirty="0">
                <a:latin typeface="+mn-ea"/>
              </a:rPr>
              <a:t> </a:t>
            </a:r>
            <a:r>
              <a:rPr lang="en-US" sz="1400" dirty="0" err="1">
                <a:latin typeface="+mn-ea"/>
              </a:rPr>
              <a:t>vào</a:t>
            </a:r>
            <a:r>
              <a:rPr lang="en-US" sz="1400" dirty="0">
                <a:latin typeface="+mn-ea"/>
              </a:rPr>
              <a:t> </a:t>
            </a:r>
            <a:r>
              <a:rPr lang="en-US" sz="1400" dirty="0" err="1">
                <a:latin typeface="+mn-ea"/>
              </a:rPr>
              <a:t>số</a:t>
            </a:r>
            <a:r>
              <a:rPr lang="en-US" sz="1400" dirty="0">
                <a:latin typeface="+mn-ea"/>
              </a:rPr>
              <a:t> </a:t>
            </a:r>
            <a:r>
              <a:rPr lang="en-US" sz="1400" dirty="0" err="1">
                <a:latin typeface="+mn-ea"/>
              </a:rPr>
              <a:t>lượng</a:t>
            </a:r>
            <a:r>
              <a:rPr lang="en-US" sz="1400" dirty="0">
                <a:latin typeface="+mn-ea"/>
              </a:rPr>
              <a:t> proposal </a:t>
            </a:r>
            <a:r>
              <a:rPr lang="en-US" sz="1400" dirty="0" err="1">
                <a:latin typeface="+mn-ea"/>
              </a:rPr>
              <a:t>được</a:t>
            </a:r>
            <a:r>
              <a:rPr lang="en-US" sz="1400" dirty="0">
                <a:latin typeface="+mn-ea"/>
              </a:rPr>
              <a:t> </a:t>
            </a:r>
            <a:r>
              <a:rPr lang="en-US" sz="1400" dirty="0" err="1">
                <a:latin typeface="+mn-ea"/>
              </a:rPr>
              <a:t>giữ</a:t>
            </a:r>
            <a:r>
              <a:rPr lang="en-US" sz="1400" dirty="0">
                <a:latin typeface="+mn-ea"/>
              </a:rPr>
              <a:t> </a:t>
            </a:r>
            <a:r>
              <a:rPr lang="en-US" sz="1400" dirty="0" err="1">
                <a:latin typeface="+mn-ea"/>
              </a:rPr>
              <a:t>lại</a:t>
            </a:r>
            <a:r>
              <a:rPr lang="en-US" sz="1400" dirty="0">
                <a:latin typeface="+mn-ea"/>
              </a:rPr>
              <a:t>.</a:t>
            </a:r>
          </a:p>
        </p:txBody>
      </p:sp>
      <p:graphicFrame>
        <p:nvGraphicFramePr>
          <p:cNvPr id="19" name="Table 18">
            <a:extLst>
              <a:ext uri="{FF2B5EF4-FFF2-40B4-BE49-F238E27FC236}">
                <a16:creationId xmlns:a16="http://schemas.microsoft.com/office/drawing/2014/main" id="{A8FB5888-9045-AB8F-1F9B-58264F76A241}"/>
              </a:ext>
            </a:extLst>
          </p:cNvPr>
          <p:cNvGraphicFramePr>
            <a:graphicFrameLocks noGrp="1"/>
          </p:cNvGraphicFramePr>
          <p:nvPr>
            <p:extLst>
              <p:ext uri="{D42A27DB-BD31-4B8C-83A1-F6EECF244321}">
                <p14:modId xmlns:p14="http://schemas.microsoft.com/office/powerpoint/2010/main" val="356503762"/>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4</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sp>
        <p:nvSpPr>
          <p:cNvPr id="21" name="laneatt-paper">
            <a:extLst>
              <a:ext uri="{FF2B5EF4-FFF2-40B4-BE49-F238E27FC236}">
                <a16:creationId xmlns:a16="http://schemas.microsoft.com/office/drawing/2014/main" id="{84F27C99-6910-A796-0EE6-E5ABD21086CE}"/>
              </a:ext>
            </a:extLst>
          </p:cNvPr>
          <p:cNvSpPr>
            <a:spLocks noGrp="1"/>
          </p:cNvSpPr>
          <p:nvPr/>
        </p:nvSpPr>
        <p:spPr>
          <a:xfrm>
            <a:off x="2139353" y="1288901"/>
            <a:ext cx="6286500" cy="304800"/>
          </a:xfrm>
          <a:prstGeom prst="rect">
            <a:avLst/>
          </a:prstGeom>
          <a:noFill/>
          <a:ln w="0">
            <a:noFill/>
            <a:prstDash val="solid"/>
          </a:ln>
        </p:spPr>
        <p:txBody>
          <a:bodyPr lIns="38100" tIns="19050" rIns="38100" bIns="19050" anchor="t">
            <a:normAutofit/>
          </a:bodyPr>
          <a:lstStyle/>
          <a:p>
            <a:pPr>
              <a:defRPr sz="1275" b="1">
                <a:solidFill>
                  <a:srgbClr val="0068A8"/>
                </a:solidFill>
                <a:latin typeface="Arial"/>
                <a:ea typeface="Arial"/>
                <a:cs typeface="Arial"/>
              </a:defRPr>
            </a:pPr>
            <a:endParaRPr sz="1275" b="1" dirty="0">
              <a:solidFill>
                <a:srgbClr val="0068A8"/>
              </a:solidFill>
              <a:latin typeface="+mn-ea"/>
              <a:cs typeface="Arial"/>
            </a:endParaRPr>
          </a:p>
        </p:txBody>
      </p:sp>
      <p:pic>
        <p:nvPicPr>
          <p:cNvPr id="23" name="Picture 22">
            <a:extLst>
              <a:ext uri="{FF2B5EF4-FFF2-40B4-BE49-F238E27FC236}">
                <a16:creationId xmlns:a16="http://schemas.microsoft.com/office/drawing/2014/main" id="{99633E00-3D41-AA02-554E-862B50C002FE}"/>
              </a:ext>
            </a:extLst>
          </p:cNvPr>
          <p:cNvPicPr/>
          <p:nvPr/>
        </p:nvPicPr>
        <p:blipFill>
          <a:blip r:embed="rId4"/>
          <a:stretch>
            <a:fillRect/>
          </a:stretch>
        </p:blipFill>
        <p:spPr>
          <a:xfrm>
            <a:off x="-118532" y="-145263"/>
            <a:ext cx="1371600" cy="1390223"/>
          </a:xfrm>
          <a:prstGeom prst="rect">
            <a:avLst/>
          </a:prstGeom>
        </p:spPr>
      </p:pic>
    </p:spTree>
    <p:extLst>
      <p:ext uri="{BB962C8B-B14F-4D97-AF65-F5344CB8AC3E}">
        <p14:creationId xmlns:p14="http://schemas.microsoft.com/office/powerpoint/2010/main" val="351296468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2">
            <a:extLst>
              <a:ext uri="{FF2B5EF4-FFF2-40B4-BE49-F238E27FC236}">
                <a16:creationId xmlns:a16="http://schemas.microsoft.com/office/drawing/2014/main" id="{F7AD4582-F1AB-0F35-7523-C5C6AE92AF4B}"/>
              </a:ext>
            </a:extLst>
          </p:cNvPr>
          <p:cNvSpPr/>
          <p:nvPr/>
        </p:nvSpPr>
        <p:spPr>
          <a:xfrm>
            <a:off x="5960533" y="1288901"/>
            <a:ext cx="9465734" cy="3377840"/>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sp>
        <p:nvSpPr>
          <p:cNvPr id="3" name="Shape 2">
            <a:extLst>
              <a:ext uri="{FF2B5EF4-FFF2-40B4-BE49-F238E27FC236}">
                <a16:creationId xmlns:a16="http://schemas.microsoft.com/office/drawing/2014/main" id="{98A18887-3893-B3E8-66F1-1F6ED4E2F3E2}"/>
              </a:ext>
            </a:extLst>
          </p:cNvPr>
          <p:cNvSpPr/>
          <p:nvPr/>
        </p:nvSpPr>
        <p:spPr>
          <a:xfrm>
            <a:off x="134939" y="1298806"/>
            <a:ext cx="5571594" cy="5866573"/>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pic>
        <p:nvPicPr>
          <p:cNvPr id="9" name="Hình ảnh 19">
            <a:extLst>
              <a:ext uri="{FF2B5EF4-FFF2-40B4-BE49-F238E27FC236}">
                <a16:creationId xmlns:a16="http://schemas.microsoft.com/office/drawing/2014/main" id="{A5293F18-38C8-0355-5BD5-3EC162E012F5}"/>
              </a:ext>
            </a:extLst>
          </p:cNvPr>
          <p:cNvPicPr>
            <a:picLocks noChangeAspect="1"/>
          </p:cNvPicPr>
          <p:nvPr/>
        </p:nvPicPr>
        <p:blipFill>
          <a:blip r:embed="rId2"/>
          <a:stretch/>
        </p:blipFill>
        <p:spPr>
          <a:xfrm>
            <a:off x="6286339" y="1736542"/>
            <a:ext cx="8268389" cy="2495550"/>
          </a:xfrm>
          <a:prstGeom prst="rect">
            <a:avLst/>
          </a:prstGeom>
        </p:spPr>
      </p:pic>
      <p:sp>
        <p:nvSpPr>
          <p:cNvPr id="11" name="Hộp Văn bản 13">
            <a:extLst>
              <a:ext uri="{FF2B5EF4-FFF2-40B4-BE49-F238E27FC236}">
                <a16:creationId xmlns:a16="http://schemas.microsoft.com/office/drawing/2014/main" id="{E9527259-FDB3-4A0C-74A1-502824CBA4C6}"/>
              </a:ext>
            </a:extLst>
          </p:cNvPr>
          <p:cNvSpPr txBox="1"/>
          <p:nvPr/>
        </p:nvSpPr>
        <p:spPr>
          <a:xfrm>
            <a:off x="462378" y="1575482"/>
            <a:ext cx="5364886" cy="5355312"/>
          </a:xfrm>
          <a:prstGeom prst="rect">
            <a:avLst/>
          </a:prstGeom>
          <a:noFill/>
        </p:spPr>
        <p:txBody>
          <a:bodyPr wrap="square">
            <a:spAutoFit/>
          </a:bodyPr>
          <a:lstStyle/>
          <a:p>
            <a:r>
              <a:rPr lang="vi-VN" b="1" dirty="0">
                <a:highlight>
                  <a:srgbClr val="FFFF00"/>
                </a:highlight>
              </a:rPr>
              <a:t>Kết luận</a:t>
            </a:r>
            <a:r>
              <a:rPr lang="en-US" dirty="0"/>
              <a:t>:</a:t>
            </a:r>
            <a:br>
              <a:rPr lang="vi-VN" dirty="0"/>
            </a:br>
            <a:r>
              <a:rPr lang="en-US" dirty="0" err="1"/>
              <a:t>Đối</a:t>
            </a:r>
            <a:r>
              <a:rPr lang="en-US" dirty="0"/>
              <a:t> </a:t>
            </a:r>
            <a:r>
              <a:rPr lang="en-US" dirty="0" err="1"/>
              <a:t>với</a:t>
            </a:r>
            <a:r>
              <a:rPr lang="en-US" dirty="0"/>
              <a:t> </a:t>
            </a:r>
            <a:r>
              <a:rPr lang="en-US" dirty="0" err="1"/>
              <a:t>hệ</a:t>
            </a:r>
            <a:r>
              <a:rPr lang="en-US" dirty="0"/>
              <a:t> </a:t>
            </a:r>
            <a:r>
              <a:rPr lang="en-US" dirty="0" err="1"/>
              <a:t>thống</a:t>
            </a:r>
            <a:r>
              <a:rPr lang="en-US" dirty="0"/>
              <a:t> </a:t>
            </a:r>
            <a:r>
              <a:rPr lang="en-US" dirty="0" err="1"/>
              <a:t>hạn</a:t>
            </a:r>
            <a:r>
              <a:rPr lang="en-US" dirty="0"/>
              <a:t> </a:t>
            </a:r>
            <a:r>
              <a:rPr lang="en-US" dirty="0" err="1"/>
              <a:t>chế</a:t>
            </a:r>
            <a:r>
              <a:rPr lang="en-US" dirty="0"/>
              <a:t> </a:t>
            </a:r>
            <a:r>
              <a:rPr lang="en-US" dirty="0" err="1"/>
              <a:t>tài</a:t>
            </a:r>
            <a:r>
              <a:rPr lang="en-US" dirty="0"/>
              <a:t> </a:t>
            </a:r>
            <a:r>
              <a:rPr lang="en-US" dirty="0" err="1"/>
              <a:t>nguyên</a:t>
            </a:r>
            <a:r>
              <a:rPr lang="en-US" dirty="0"/>
              <a:t>, </a:t>
            </a:r>
            <a:r>
              <a:rPr lang="en-US" b="1" dirty="0"/>
              <a:t>LaneATT-ResNet18</a:t>
            </a:r>
            <a:r>
              <a:rPr lang="en-US" dirty="0"/>
              <a:t> </a:t>
            </a:r>
            <a:r>
              <a:rPr lang="en-US" dirty="0" err="1"/>
              <a:t>là</a:t>
            </a:r>
            <a:r>
              <a:rPr lang="en-US" dirty="0"/>
              <a:t> </a:t>
            </a:r>
            <a:r>
              <a:rPr lang="en-US" dirty="0" err="1"/>
              <a:t>cấu</a:t>
            </a:r>
            <a:r>
              <a:rPr lang="en-US" dirty="0"/>
              <a:t> </a:t>
            </a:r>
            <a:r>
              <a:rPr lang="en-US" dirty="0" err="1"/>
              <a:t>hình</a:t>
            </a:r>
            <a:r>
              <a:rPr lang="en-US" dirty="0"/>
              <a:t> </a:t>
            </a:r>
            <a:r>
              <a:rPr lang="en-US" dirty="0" err="1"/>
              <a:t>đáng</a:t>
            </a:r>
            <a:r>
              <a:rPr lang="en-US" dirty="0"/>
              <a:t> </a:t>
            </a:r>
            <a:r>
              <a:rPr lang="en-US" dirty="0" err="1"/>
              <a:t>khảo</a:t>
            </a:r>
            <a:r>
              <a:rPr lang="en-US" dirty="0"/>
              <a:t> </a:t>
            </a:r>
            <a:r>
              <a:rPr lang="en-US" dirty="0" err="1"/>
              <a:t>sát</a:t>
            </a:r>
            <a:r>
              <a:rPr lang="en-US" dirty="0"/>
              <a:t> </a:t>
            </a:r>
            <a:r>
              <a:rPr lang="en-US" dirty="0" err="1"/>
              <a:t>nhất</a:t>
            </a:r>
            <a:r>
              <a:rPr lang="en-US" dirty="0"/>
              <a:t> </a:t>
            </a:r>
            <a:r>
              <a:rPr lang="en-US" dirty="0" err="1"/>
              <a:t>vì</a:t>
            </a:r>
            <a:r>
              <a:rPr lang="en-US" dirty="0"/>
              <a:t>:</a:t>
            </a:r>
          </a:p>
          <a:p>
            <a:pPr marL="342900" lvl="0" indent="-342900">
              <a:buFont typeface="Arial" panose="020B0604020202020204" pitchFamily="34" charset="0"/>
              <a:buChar char="•"/>
            </a:pPr>
            <a:r>
              <a:rPr lang="en-US" dirty="0"/>
              <a:t>9,3 G MACs, </a:t>
            </a:r>
            <a:r>
              <a:rPr lang="en-US" dirty="0" err="1"/>
              <a:t>thấp</a:t>
            </a:r>
            <a:r>
              <a:rPr lang="en-US" dirty="0"/>
              <a:t> </a:t>
            </a:r>
            <a:r>
              <a:rPr lang="en-US" dirty="0" err="1"/>
              <a:t>nhất</a:t>
            </a:r>
            <a:r>
              <a:rPr lang="en-US" dirty="0"/>
              <a:t> </a:t>
            </a:r>
            <a:r>
              <a:rPr lang="en-US" dirty="0" err="1"/>
              <a:t>trong</a:t>
            </a:r>
            <a:r>
              <a:rPr lang="en-US" dirty="0"/>
              <a:t> </a:t>
            </a:r>
            <a:r>
              <a:rPr lang="en-US" dirty="0" err="1"/>
              <a:t>ba</a:t>
            </a:r>
            <a:r>
              <a:rPr lang="en-US" dirty="0"/>
              <a:t> </a:t>
            </a:r>
            <a:r>
              <a:rPr lang="en-US" dirty="0" err="1"/>
              <a:t>cấu</a:t>
            </a:r>
            <a:r>
              <a:rPr lang="en-US" dirty="0"/>
              <a:t> </a:t>
            </a:r>
            <a:r>
              <a:rPr lang="en-US" dirty="0" err="1"/>
              <a:t>hình</a:t>
            </a:r>
            <a:r>
              <a:rPr lang="en-US" dirty="0"/>
              <a:t>.</a:t>
            </a:r>
          </a:p>
          <a:p>
            <a:pPr marL="342900" lvl="0" indent="-342900">
              <a:buFont typeface="Arial" panose="020B0604020202020204" pitchFamily="34" charset="0"/>
              <a:buChar char="•"/>
            </a:pPr>
            <a:r>
              <a:rPr lang="en-US" dirty="0" err="1"/>
              <a:t>CULane</a:t>
            </a:r>
            <a:r>
              <a:rPr lang="en-US" dirty="0"/>
              <a:t> F1 75,09 </a:t>
            </a:r>
            <a:r>
              <a:rPr lang="en-US" dirty="0" err="1"/>
              <a:t>tại</a:t>
            </a:r>
            <a:r>
              <a:rPr lang="en-US" dirty="0"/>
              <a:t> 250 FPS </a:t>
            </a:r>
            <a:r>
              <a:rPr lang="en-US" dirty="0" err="1"/>
              <a:t>theo</a:t>
            </a:r>
            <a:r>
              <a:rPr lang="en-US" dirty="0"/>
              <a:t> </a:t>
            </a:r>
            <a:r>
              <a:rPr lang="en-US" dirty="0" err="1"/>
              <a:t>báo</a:t>
            </a:r>
            <a:r>
              <a:rPr lang="en-US" dirty="0"/>
              <a:t> </a:t>
            </a:r>
            <a:r>
              <a:rPr lang="en-US" dirty="0" err="1"/>
              <a:t>cáo</a:t>
            </a:r>
            <a:r>
              <a:rPr lang="en-US" dirty="0"/>
              <a:t>.</a:t>
            </a:r>
          </a:p>
          <a:p>
            <a:pPr marL="342900" lvl="0" indent="-342900">
              <a:buFont typeface="Arial" panose="020B0604020202020204" pitchFamily="34" charset="0"/>
              <a:buChar char="•"/>
            </a:pPr>
            <a:r>
              <a:rPr lang="en-US" dirty="0" err="1"/>
              <a:t>Chênh</a:t>
            </a:r>
            <a:r>
              <a:rPr lang="en-US" dirty="0"/>
              <a:t> </a:t>
            </a:r>
            <a:r>
              <a:rPr lang="en-US" dirty="0" err="1"/>
              <a:t>lệch</a:t>
            </a:r>
            <a:r>
              <a:rPr lang="en-US" dirty="0"/>
              <a:t> </a:t>
            </a:r>
            <a:r>
              <a:rPr lang="en-US" dirty="0" err="1"/>
              <a:t>độ</a:t>
            </a:r>
            <a:r>
              <a:rPr lang="en-US" dirty="0"/>
              <a:t> </a:t>
            </a:r>
            <a:r>
              <a:rPr lang="en-US" dirty="0" err="1"/>
              <a:t>chính</a:t>
            </a:r>
            <a:r>
              <a:rPr lang="en-US" dirty="0"/>
              <a:t> </a:t>
            </a:r>
            <a:r>
              <a:rPr lang="en-US" dirty="0" err="1"/>
              <a:t>xác</a:t>
            </a:r>
            <a:r>
              <a:rPr lang="en-US" dirty="0"/>
              <a:t> </a:t>
            </a:r>
            <a:r>
              <a:rPr lang="en-US" dirty="0" err="1"/>
              <a:t>với</a:t>
            </a:r>
            <a:r>
              <a:rPr lang="en-US" dirty="0"/>
              <a:t> ResNet-34 </a:t>
            </a:r>
            <a:r>
              <a:rPr lang="en-US" dirty="0" err="1"/>
              <a:t>không</a:t>
            </a:r>
            <a:r>
              <a:rPr lang="en-US" dirty="0"/>
              <a:t> </a:t>
            </a:r>
            <a:r>
              <a:rPr lang="en-US" dirty="0" err="1"/>
              <a:t>quá</a:t>
            </a:r>
            <a:r>
              <a:rPr lang="en-US" dirty="0"/>
              <a:t> </a:t>
            </a:r>
            <a:r>
              <a:rPr lang="en-US" dirty="0" err="1"/>
              <a:t>lớn</a:t>
            </a:r>
            <a:r>
              <a:rPr lang="en-US" dirty="0"/>
              <a:t>.</a:t>
            </a:r>
          </a:p>
          <a:p>
            <a:pPr marL="342900" lvl="0" indent="-342900">
              <a:buFont typeface="Arial" panose="020B0604020202020204" pitchFamily="34" charset="0"/>
              <a:buChar char="•"/>
            </a:pPr>
            <a:r>
              <a:rPr lang="en-US" dirty="0" err="1"/>
              <a:t>Dùng</a:t>
            </a:r>
            <a:r>
              <a:rPr lang="en-US" dirty="0"/>
              <a:t> lane representation </a:t>
            </a:r>
            <a:r>
              <a:rPr lang="en-US" dirty="0" err="1"/>
              <a:t>thay</a:t>
            </a:r>
            <a:r>
              <a:rPr lang="en-US" dirty="0"/>
              <a:t> </a:t>
            </a:r>
            <a:r>
              <a:rPr lang="en-US" dirty="0" err="1"/>
              <a:t>vì</a:t>
            </a:r>
            <a:r>
              <a:rPr lang="en-US" dirty="0"/>
              <a:t> dense segmentation mask.</a:t>
            </a:r>
          </a:p>
          <a:p>
            <a:pPr>
              <a:buNone/>
            </a:pPr>
            <a:r>
              <a:rPr lang="en-US" b="1" dirty="0" err="1">
                <a:highlight>
                  <a:srgbClr val="FFFF00"/>
                </a:highlight>
              </a:rPr>
              <a:t>Những</a:t>
            </a:r>
            <a:r>
              <a:rPr lang="en-US" b="1" dirty="0">
                <a:highlight>
                  <a:srgbClr val="FFFF00"/>
                </a:highlight>
              </a:rPr>
              <a:t> </a:t>
            </a:r>
            <a:r>
              <a:rPr lang="en-US" b="1" dirty="0" err="1">
                <a:highlight>
                  <a:srgbClr val="FFFF00"/>
                </a:highlight>
              </a:rPr>
              <a:t>hạn</a:t>
            </a:r>
            <a:r>
              <a:rPr lang="en-US" b="1" dirty="0">
                <a:highlight>
                  <a:srgbClr val="FFFF00"/>
                </a:highlight>
              </a:rPr>
              <a:t> </a:t>
            </a:r>
            <a:r>
              <a:rPr lang="en-US" b="1" dirty="0" err="1">
                <a:highlight>
                  <a:srgbClr val="FFFF00"/>
                </a:highlight>
              </a:rPr>
              <a:t>chế</a:t>
            </a:r>
            <a:r>
              <a:rPr lang="en-US" dirty="0"/>
              <a:t>:</a:t>
            </a:r>
          </a:p>
          <a:p>
            <a:pPr marL="342900" lvl="0" indent="-342900">
              <a:buFont typeface="Arial" panose="020B0604020202020204" pitchFamily="34" charset="0"/>
              <a:buChar char="•"/>
            </a:pPr>
            <a:r>
              <a:rPr lang="en-US" dirty="0"/>
              <a:t>FPS </a:t>
            </a:r>
            <a:r>
              <a:rPr lang="en-US" dirty="0" err="1"/>
              <a:t>được</a:t>
            </a:r>
            <a:r>
              <a:rPr lang="en-US" dirty="0"/>
              <a:t> </a:t>
            </a:r>
            <a:r>
              <a:rPr lang="en-US" dirty="0" err="1"/>
              <a:t>đo</a:t>
            </a:r>
            <a:r>
              <a:rPr lang="en-US" dirty="0"/>
              <a:t> </a:t>
            </a:r>
            <a:r>
              <a:rPr lang="en-US" dirty="0" err="1"/>
              <a:t>trên</a:t>
            </a:r>
            <a:r>
              <a:rPr lang="en-US" dirty="0"/>
              <a:t> GPU </a:t>
            </a:r>
            <a:r>
              <a:rPr lang="en-US" dirty="0" err="1"/>
              <a:t>trong</a:t>
            </a:r>
            <a:r>
              <a:rPr lang="en-US" dirty="0"/>
              <a:t> </a:t>
            </a:r>
            <a:r>
              <a:rPr lang="en-US" dirty="0" err="1"/>
              <a:t>môi</a:t>
            </a:r>
            <a:r>
              <a:rPr lang="en-US" dirty="0"/>
              <a:t> </a:t>
            </a:r>
            <a:r>
              <a:rPr lang="en-US" dirty="0" err="1"/>
              <a:t>trường</a:t>
            </a:r>
            <a:r>
              <a:rPr lang="en-US" dirty="0"/>
              <a:t> </a:t>
            </a:r>
            <a:r>
              <a:rPr lang="en-US" dirty="0" err="1"/>
              <a:t>thực</a:t>
            </a:r>
            <a:r>
              <a:rPr lang="en-US" dirty="0"/>
              <a:t> </a:t>
            </a:r>
            <a:r>
              <a:rPr lang="en-US" dirty="0" err="1"/>
              <a:t>nghiệm</a:t>
            </a:r>
            <a:r>
              <a:rPr lang="en-US" dirty="0"/>
              <a:t> </a:t>
            </a:r>
            <a:r>
              <a:rPr lang="en-US" dirty="0" err="1"/>
              <a:t>của</a:t>
            </a:r>
            <a:r>
              <a:rPr lang="en-US" dirty="0"/>
              <a:t> </a:t>
            </a:r>
            <a:r>
              <a:rPr lang="en-US" dirty="0" err="1"/>
              <a:t>bài</a:t>
            </a:r>
            <a:r>
              <a:rPr lang="en-US" dirty="0"/>
              <a:t> </a:t>
            </a:r>
            <a:r>
              <a:rPr lang="en-US" dirty="0" err="1"/>
              <a:t>báo</a:t>
            </a:r>
            <a:r>
              <a:rPr lang="en-US" dirty="0"/>
              <a:t>, </a:t>
            </a:r>
            <a:r>
              <a:rPr lang="en-US" dirty="0" err="1"/>
              <a:t>không</a:t>
            </a:r>
            <a:r>
              <a:rPr lang="en-US" dirty="0"/>
              <a:t> </a:t>
            </a:r>
            <a:r>
              <a:rPr lang="en-US" dirty="0" err="1"/>
              <a:t>phải</a:t>
            </a:r>
            <a:r>
              <a:rPr lang="en-US" dirty="0"/>
              <a:t> vi </a:t>
            </a:r>
            <a:r>
              <a:rPr lang="en-US" dirty="0" err="1"/>
              <a:t>điều</a:t>
            </a:r>
            <a:r>
              <a:rPr lang="en-US" dirty="0"/>
              <a:t> </a:t>
            </a:r>
            <a:r>
              <a:rPr lang="en-US" dirty="0" err="1"/>
              <a:t>khiển</a:t>
            </a:r>
            <a:r>
              <a:rPr lang="en-US" dirty="0"/>
              <a:t>, FPGA hay embedded </a:t>
            </a:r>
            <a:r>
              <a:rPr lang="en-US" dirty="0" err="1"/>
              <a:t>SoC.</a:t>
            </a:r>
            <a:endParaRPr lang="en-US" dirty="0"/>
          </a:p>
          <a:p>
            <a:pPr marL="342900" lvl="0" indent="-342900">
              <a:buFont typeface="Arial" panose="020B0604020202020204" pitchFamily="34" charset="0"/>
              <a:buChar char="•"/>
            </a:pPr>
            <a:r>
              <a:rPr lang="en-US" dirty="0" err="1"/>
              <a:t>Bài</a:t>
            </a:r>
            <a:r>
              <a:rPr lang="en-US" dirty="0"/>
              <a:t> </a:t>
            </a:r>
            <a:r>
              <a:rPr lang="en-US" dirty="0" err="1"/>
              <a:t>báo</a:t>
            </a:r>
            <a:r>
              <a:rPr lang="en-US" dirty="0"/>
              <a:t> </a:t>
            </a:r>
            <a:r>
              <a:rPr lang="en-US" dirty="0" err="1"/>
              <a:t>không</a:t>
            </a:r>
            <a:r>
              <a:rPr lang="en-US" dirty="0"/>
              <a:t> </a:t>
            </a:r>
            <a:r>
              <a:rPr lang="en-US" dirty="0" err="1"/>
              <a:t>báo</a:t>
            </a:r>
            <a:r>
              <a:rPr lang="en-US" dirty="0"/>
              <a:t> </a:t>
            </a:r>
            <a:r>
              <a:rPr lang="en-US" dirty="0" err="1"/>
              <a:t>cáo</a:t>
            </a:r>
            <a:r>
              <a:rPr lang="en-US" dirty="0"/>
              <a:t> </a:t>
            </a:r>
            <a:r>
              <a:rPr lang="en-US" dirty="0" err="1"/>
              <a:t>công</a:t>
            </a:r>
            <a:r>
              <a:rPr lang="en-US" dirty="0"/>
              <a:t> </a:t>
            </a:r>
            <a:r>
              <a:rPr lang="en-US" dirty="0" err="1"/>
              <a:t>suất</a:t>
            </a:r>
            <a:r>
              <a:rPr lang="en-US" dirty="0"/>
              <a:t>, RAM, </a:t>
            </a:r>
            <a:r>
              <a:rPr lang="en-US" dirty="0" err="1"/>
              <a:t>mức</a:t>
            </a:r>
            <a:r>
              <a:rPr lang="en-US" dirty="0"/>
              <a:t> </a:t>
            </a:r>
            <a:r>
              <a:rPr lang="en-US" dirty="0" err="1"/>
              <a:t>tiêu</a:t>
            </a:r>
            <a:r>
              <a:rPr lang="en-US" dirty="0"/>
              <a:t> </a:t>
            </a:r>
            <a:r>
              <a:rPr lang="en-US" dirty="0" err="1"/>
              <a:t>thụ</a:t>
            </a:r>
            <a:r>
              <a:rPr lang="en-US" dirty="0"/>
              <a:t> </a:t>
            </a:r>
            <a:r>
              <a:rPr lang="en-US" dirty="0" err="1"/>
              <a:t>năng</a:t>
            </a:r>
            <a:r>
              <a:rPr lang="en-US" dirty="0"/>
              <a:t> </a:t>
            </a:r>
            <a:r>
              <a:rPr lang="en-US" dirty="0" err="1"/>
              <a:t>lượng</a:t>
            </a:r>
            <a:r>
              <a:rPr lang="en-US" dirty="0"/>
              <a:t> </a:t>
            </a:r>
            <a:r>
              <a:rPr lang="en-US" dirty="0" err="1"/>
              <a:t>hoặc</a:t>
            </a:r>
            <a:r>
              <a:rPr lang="en-US" dirty="0"/>
              <a:t> </a:t>
            </a:r>
            <a:r>
              <a:rPr lang="en-US" dirty="0" err="1"/>
              <a:t>kết</a:t>
            </a:r>
            <a:r>
              <a:rPr lang="en-US" dirty="0"/>
              <a:t> </a:t>
            </a:r>
            <a:r>
              <a:rPr lang="en-US" dirty="0" err="1"/>
              <a:t>quả</a:t>
            </a:r>
            <a:r>
              <a:rPr lang="en-US" dirty="0"/>
              <a:t> INT8.</a:t>
            </a:r>
          </a:p>
          <a:p>
            <a:pPr marL="342900" lvl="0" indent="-342900">
              <a:buFont typeface="Arial" panose="020B0604020202020204" pitchFamily="34" charset="0"/>
              <a:buChar char="•"/>
            </a:pPr>
            <a:r>
              <a:rPr lang="en-US" dirty="0"/>
              <a:t>NMS </a:t>
            </a:r>
            <a:r>
              <a:rPr lang="en-US" dirty="0" err="1"/>
              <a:t>vẫn</a:t>
            </a:r>
            <a:r>
              <a:rPr lang="en-US" dirty="0"/>
              <a:t> </a:t>
            </a:r>
            <a:r>
              <a:rPr lang="en-US" dirty="0" err="1"/>
              <a:t>là</a:t>
            </a:r>
            <a:r>
              <a:rPr lang="en-US" dirty="0"/>
              <a:t> </a:t>
            </a:r>
            <a:r>
              <a:rPr lang="en-US" dirty="0" err="1"/>
              <a:t>thành</a:t>
            </a:r>
            <a:r>
              <a:rPr lang="en-US" dirty="0"/>
              <a:t> </a:t>
            </a:r>
            <a:r>
              <a:rPr lang="en-US" dirty="0" err="1"/>
              <a:t>phần</a:t>
            </a:r>
            <a:r>
              <a:rPr lang="en-US" dirty="0"/>
              <a:t> </a:t>
            </a:r>
            <a:r>
              <a:rPr lang="en-US" dirty="0" err="1"/>
              <a:t>hậu</a:t>
            </a:r>
            <a:r>
              <a:rPr lang="en-US" dirty="0"/>
              <a:t> </a:t>
            </a:r>
            <a:r>
              <a:rPr lang="en-US" dirty="0" err="1"/>
              <a:t>xử</a:t>
            </a:r>
            <a:r>
              <a:rPr lang="en-US" dirty="0"/>
              <a:t> </a:t>
            </a:r>
            <a:r>
              <a:rPr lang="en-US" dirty="0" err="1"/>
              <a:t>lý</a:t>
            </a:r>
            <a:r>
              <a:rPr lang="en-US" dirty="0"/>
              <a:t> </a:t>
            </a:r>
            <a:r>
              <a:rPr lang="en-US" dirty="0" err="1"/>
              <a:t>và</a:t>
            </a:r>
            <a:r>
              <a:rPr lang="en-US" dirty="0"/>
              <a:t> </a:t>
            </a:r>
            <a:r>
              <a:rPr lang="en-US" dirty="0" err="1"/>
              <a:t>được</a:t>
            </a:r>
            <a:r>
              <a:rPr lang="en-US" dirty="0"/>
              <a:t> </a:t>
            </a:r>
            <a:r>
              <a:rPr lang="en-US" dirty="0" err="1"/>
              <a:t>tác</a:t>
            </a:r>
            <a:r>
              <a:rPr lang="en-US" dirty="0"/>
              <a:t> </a:t>
            </a:r>
            <a:r>
              <a:rPr lang="en-US" dirty="0" err="1"/>
              <a:t>giả</a:t>
            </a:r>
            <a:r>
              <a:rPr lang="en-US" dirty="0"/>
              <a:t> </a:t>
            </a:r>
            <a:r>
              <a:rPr lang="en-US" dirty="0" err="1"/>
              <a:t>xác</a:t>
            </a:r>
            <a:r>
              <a:rPr lang="en-US" dirty="0"/>
              <a:t> </a:t>
            </a:r>
            <a:r>
              <a:rPr lang="en-US" dirty="0" err="1"/>
              <a:t>định</a:t>
            </a:r>
            <a:r>
              <a:rPr lang="en-US" dirty="0"/>
              <a:t> </a:t>
            </a:r>
            <a:r>
              <a:rPr lang="en-US" dirty="0" err="1"/>
              <a:t>là</a:t>
            </a:r>
            <a:r>
              <a:rPr lang="en-US" dirty="0"/>
              <a:t> </a:t>
            </a:r>
            <a:r>
              <a:rPr lang="en-US" dirty="0" err="1"/>
              <a:t>nút</a:t>
            </a:r>
            <a:r>
              <a:rPr lang="en-US" dirty="0"/>
              <a:t> </a:t>
            </a:r>
            <a:r>
              <a:rPr lang="en-US" dirty="0" err="1"/>
              <a:t>thắt</a:t>
            </a:r>
            <a:r>
              <a:rPr lang="en-US" dirty="0"/>
              <a:t>.</a:t>
            </a:r>
          </a:p>
          <a:p>
            <a:pPr marL="342900" lvl="0" indent="-342900">
              <a:buFont typeface="Arial" panose="020B0604020202020204" pitchFamily="34" charset="0"/>
              <a:buChar char="•"/>
            </a:pPr>
            <a:r>
              <a:rPr lang="en-US" dirty="0" err="1"/>
              <a:t>Cấu</a:t>
            </a:r>
            <a:r>
              <a:rPr lang="en-US" dirty="0"/>
              <a:t> </a:t>
            </a:r>
            <a:r>
              <a:rPr lang="en-US" dirty="0" err="1"/>
              <a:t>hình</a:t>
            </a:r>
            <a:r>
              <a:rPr lang="en-US" dirty="0"/>
              <a:t> </a:t>
            </a:r>
            <a:r>
              <a:rPr lang="en-US" dirty="0" err="1"/>
              <a:t>có</a:t>
            </a:r>
            <a:r>
              <a:rPr lang="en-US" dirty="0"/>
              <a:t> </a:t>
            </a:r>
            <a:r>
              <a:rPr lang="en-US" dirty="0" err="1"/>
              <a:t>nhiều</a:t>
            </a:r>
            <a:r>
              <a:rPr lang="en-US" dirty="0"/>
              <a:t> anchor </a:t>
            </a:r>
            <a:r>
              <a:rPr lang="en-US" dirty="0" err="1"/>
              <a:t>hơn</a:t>
            </a:r>
            <a:r>
              <a:rPr lang="en-US" dirty="0"/>
              <a:t> </a:t>
            </a:r>
            <a:r>
              <a:rPr lang="en-US" dirty="0" err="1"/>
              <a:t>không</a:t>
            </a:r>
            <a:r>
              <a:rPr lang="en-US" dirty="0"/>
              <a:t> </a:t>
            </a:r>
            <a:r>
              <a:rPr lang="en-US" dirty="0" err="1"/>
              <a:t>phải</a:t>
            </a:r>
            <a:r>
              <a:rPr lang="en-US" dirty="0"/>
              <a:t> </a:t>
            </a:r>
            <a:r>
              <a:rPr lang="en-US" dirty="0" err="1"/>
              <a:t>lúc</a:t>
            </a:r>
            <a:r>
              <a:rPr lang="en-US" dirty="0"/>
              <a:t> </a:t>
            </a:r>
            <a:r>
              <a:rPr lang="en-US" dirty="0" err="1"/>
              <a:t>nào</a:t>
            </a:r>
            <a:r>
              <a:rPr lang="en-US" dirty="0"/>
              <a:t> </a:t>
            </a:r>
            <a:r>
              <a:rPr lang="en-US" dirty="0" err="1"/>
              <a:t>cũng</a:t>
            </a:r>
            <a:r>
              <a:rPr lang="en-US" dirty="0"/>
              <a:t> </a:t>
            </a:r>
            <a:r>
              <a:rPr lang="en-US" dirty="0" err="1"/>
              <a:t>tốt</a:t>
            </a:r>
            <a:r>
              <a:rPr lang="en-US" dirty="0"/>
              <a:t> </a:t>
            </a:r>
            <a:r>
              <a:rPr lang="en-US" dirty="0" err="1"/>
              <a:t>hơn</a:t>
            </a:r>
            <a:r>
              <a:rPr lang="en-US" dirty="0"/>
              <a:t>.</a:t>
            </a:r>
          </a:p>
        </p:txBody>
      </p:sp>
      <p:graphicFrame>
        <p:nvGraphicFramePr>
          <p:cNvPr id="15" name="Table 14">
            <a:extLst>
              <a:ext uri="{FF2B5EF4-FFF2-40B4-BE49-F238E27FC236}">
                <a16:creationId xmlns:a16="http://schemas.microsoft.com/office/drawing/2014/main" id="{47A0A0BD-1144-7D75-EB4F-68ADEC0C05F6}"/>
              </a:ext>
            </a:extLst>
          </p:cNvPr>
          <p:cNvGraphicFramePr>
            <a:graphicFrameLocks noGrp="1"/>
          </p:cNvGraphicFramePr>
          <p:nvPr>
            <p:extLst>
              <p:ext uri="{D42A27DB-BD31-4B8C-83A1-F6EECF244321}">
                <p14:modId xmlns:p14="http://schemas.microsoft.com/office/powerpoint/2010/main" val="3105388430"/>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4</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sp>
        <p:nvSpPr>
          <p:cNvPr id="17" name="laneatt-paper">
            <a:extLst>
              <a:ext uri="{FF2B5EF4-FFF2-40B4-BE49-F238E27FC236}">
                <a16:creationId xmlns:a16="http://schemas.microsoft.com/office/drawing/2014/main" id="{61F93007-4C00-5254-7C15-BF3BF1A94AF7}"/>
              </a:ext>
            </a:extLst>
          </p:cNvPr>
          <p:cNvSpPr>
            <a:spLocks noGrp="1"/>
          </p:cNvSpPr>
          <p:nvPr/>
        </p:nvSpPr>
        <p:spPr>
          <a:xfrm>
            <a:off x="2139353" y="1288901"/>
            <a:ext cx="6286500" cy="304800"/>
          </a:xfrm>
          <a:prstGeom prst="rect">
            <a:avLst/>
          </a:prstGeom>
          <a:noFill/>
          <a:ln w="0">
            <a:noFill/>
            <a:prstDash val="solid"/>
          </a:ln>
        </p:spPr>
        <p:txBody>
          <a:bodyPr lIns="38100" tIns="19050" rIns="38100" bIns="19050" anchor="t">
            <a:normAutofit/>
          </a:bodyPr>
          <a:lstStyle/>
          <a:p>
            <a:pPr>
              <a:defRPr sz="1275" b="1">
                <a:solidFill>
                  <a:srgbClr val="0068A8"/>
                </a:solidFill>
                <a:latin typeface="Arial"/>
                <a:ea typeface="Arial"/>
                <a:cs typeface="Arial"/>
              </a:defRPr>
            </a:pPr>
            <a:endParaRPr sz="1275" b="1" dirty="0">
              <a:solidFill>
                <a:srgbClr val="0068A8"/>
              </a:solidFill>
              <a:latin typeface="+mn-ea"/>
              <a:cs typeface="Arial"/>
            </a:endParaRPr>
          </a:p>
        </p:txBody>
      </p:sp>
      <p:pic>
        <p:nvPicPr>
          <p:cNvPr id="19" name="Picture 18">
            <a:extLst>
              <a:ext uri="{FF2B5EF4-FFF2-40B4-BE49-F238E27FC236}">
                <a16:creationId xmlns:a16="http://schemas.microsoft.com/office/drawing/2014/main" id="{A094F310-4FA7-0083-1C6D-025674E091D5}"/>
              </a:ext>
            </a:extLst>
          </p:cNvPr>
          <p:cNvPicPr/>
          <p:nvPr/>
        </p:nvPicPr>
        <p:blipFill>
          <a:blip r:embed="rId3"/>
          <a:stretch>
            <a:fillRect/>
          </a:stretch>
        </p:blipFill>
        <p:spPr>
          <a:xfrm>
            <a:off x="-118532" y="-145263"/>
            <a:ext cx="1371600" cy="1390223"/>
          </a:xfrm>
          <a:prstGeom prst="rect">
            <a:avLst/>
          </a:prstGeom>
        </p:spPr>
      </p:pic>
      <p:pic>
        <p:nvPicPr>
          <p:cNvPr id="25" name="Picture 24">
            <a:extLst>
              <a:ext uri="{FF2B5EF4-FFF2-40B4-BE49-F238E27FC236}">
                <a16:creationId xmlns:a16="http://schemas.microsoft.com/office/drawing/2014/main" id="{C9885266-A0DB-9659-631A-03F29AEDC9B1}"/>
              </a:ext>
            </a:extLst>
          </p:cNvPr>
          <p:cNvPicPr/>
          <p:nvPr/>
        </p:nvPicPr>
        <p:blipFill>
          <a:blip r:embed="rId4"/>
          <a:stretch>
            <a:fillRect/>
          </a:stretch>
        </p:blipFill>
        <p:spPr>
          <a:xfrm>
            <a:off x="10106181" y="6376129"/>
            <a:ext cx="4524219" cy="1853471"/>
          </a:xfrm>
          <a:prstGeom prst="rect">
            <a:avLst/>
          </a:prstGeom>
          <a:noFill/>
        </p:spPr>
      </p:pic>
    </p:spTree>
    <p:extLst>
      <p:ext uri="{BB962C8B-B14F-4D97-AF65-F5344CB8AC3E}">
        <p14:creationId xmlns:p14="http://schemas.microsoft.com/office/powerpoint/2010/main" val="262546279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hape 2">
            <a:extLst>
              <a:ext uri="{FF2B5EF4-FFF2-40B4-BE49-F238E27FC236}">
                <a16:creationId xmlns:a16="http://schemas.microsoft.com/office/drawing/2014/main" id="{1F0EA94E-BF17-54EF-184D-2495EAC94B7D}"/>
              </a:ext>
            </a:extLst>
          </p:cNvPr>
          <p:cNvSpPr/>
          <p:nvPr/>
        </p:nvSpPr>
        <p:spPr>
          <a:xfrm>
            <a:off x="447084" y="4452816"/>
            <a:ext cx="7915089" cy="3735069"/>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27" name="Picture 26">
            <a:extLst>
              <a:ext uri="{FF2B5EF4-FFF2-40B4-BE49-F238E27FC236}">
                <a16:creationId xmlns:a16="http://schemas.microsoft.com/office/drawing/2014/main" id="{71B9F7F5-4B09-9AE5-36DC-591B6C47A713}"/>
              </a:ext>
            </a:extLst>
          </p:cNvPr>
          <p:cNvPicPr/>
          <p:nvPr/>
        </p:nvPicPr>
        <p:blipFill>
          <a:blip r:embed="rId2"/>
          <a:stretch>
            <a:fillRect/>
          </a:stretch>
        </p:blipFill>
        <p:spPr>
          <a:xfrm>
            <a:off x="10106181" y="6334414"/>
            <a:ext cx="4524219" cy="1853471"/>
          </a:xfrm>
          <a:prstGeom prst="rect">
            <a:avLst/>
          </a:prstGeom>
          <a:noFill/>
        </p:spPr>
      </p:pic>
      <p:sp>
        <p:nvSpPr>
          <p:cNvPr id="29" name="Shape 2">
            <a:extLst>
              <a:ext uri="{FF2B5EF4-FFF2-40B4-BE49-F238E27FC236}">
                <a16:creationId xmlns:a16="http://schemas.microsoft.com/office/drawing/2014/main" id="{6B9729B2-133D-148E-D47B-494379B35080}"/>
              </a:ext>
            </a:extLst>
          </p:cNvPr>
          <p:cNvSpPr/>
          <p:nvPr/>
        </p:nvSpPr>
        <p:spPr>
          <a:xfrm>
            <a:off x="8622985" y="1244960"/>
            <a:ext cx="8190889" cy="5863425"/>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3" name="Shape 2">
            <a:extLst>
              <a:ext uri="{FF2B5EF4-FFF2-40B4-BE49-F238E27FC236}">
                <a16:creationId xmlns:a16="http://schemas.microsoft.com/office/drawing/2014/main" id="{2C84BBA5-2DAC-FBBD-B47F-5CB544C9A15D}"/>
              </a:ext>
            </a:extLst>
          </p:cNvPr>
          <p:cNvSpPr/>
          <p:nvPr/>
        </p:nvSpPr>
        <p:spPr>
          <a:xfrm>
            <a:off x="395189" y="1398728"/>
            <a:ext cx="5873612" cy="2755058"/>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11" name="cond-overview">
            <a:extLst>
              <a:ext uri="{FF2B5EF4-FFF2-40B4-BE49-F238E27FC236}">
                <a16:creationId xmlns:a16="http://schemas.microsoft.com/office/drawing/2014/main" id="{08893BA6-6BE9-AFAC-1E7D-9D094922DA33}"/>
              </a:ext>
            </a:extLst>
          </p:cNvPr>
          <p:cNvSpPr>
            <a:spLocks noGrp="1"/>
          </p:cNvSpPr>
          <p:nvPr/>
        </p:nvSpPr>
        <p:spPr>
          <a:xfrm>
            <a:off x="571620" y="1620526"/>
            <a:ext cx="5286375" cy="4095750"/>
          </a:xfrm>
          <a:prstGeom prst="rect">
            <a:avLst/>
          </a:prstGeom>
          <a:noFill/>
          <a:ln w="0">
            <a:noFill/>
            <a:prstDash val="solid"/>
          </a:ln>
        </p:spPr>
        <p:txBody>
          <a:bodyPr lIns="38100" tIns="28575" rIns="38100" bIns="28575" anchor="t">
            <a:normAutofit/>
          </a:bodyPr>
          <a:lstStyle/>
          <a:p>
            <a:r>
              <a:rPr lang="en-US" sz="1600" b="1" dirty="0" err="1">
                <a:highlight>
                  <a:srgbClr val="FFFF00"/>
                </a:highlight>
                <a:latin typeface="+mn-ea"/>
              </a:rPr>
              <a:t>Vấn</a:t>
            </a:r>
            <a:r>
              <a:rPr lang="en-US" sz="1600" b="1" dirty="0">
                <a:highlight>
                  <a:srgbClr val="FFFF00"/>
                </a:highlight>
                <a:latin typeface="+mn-ea"/>
              </a:rPr>
              <a:t> </a:t>
            </a:r>
            <a:r>
              <a:rPr lang="en-US" sz="1600" b="1" dirty="0" err="1">
                <a:highlight>
                  <a:srgbClr val="FFFF00"/>
                </a:highlight>
                <a:latin typeface="+mn-ea"/>
              </a:rPr>
              <a:t>đề</a:t>
            </a:r>
            <a:r>
              <a:rPr lang="en-US" sz="1600" b="1" dirty="0">
                <a:highlight>
                  <a:srgbClr val="FFFF00"/>
                </a:highlight>
                <a:latin typeface="+mn-ea"/>
              </a:rPr>
              <a:t> </a:t>
            </a:r>
            <a:r>
              <a:rPr lang="en-US" sz="1600" b="1" dirty="0" err="1">
                <a:highlight>
                  <a:srgbClr val="FFFF00"/>
                </a:highlight>
                <a:latin typeface="+mn-ea"/>
              </a:rPr>
              <a:t>mà</a:t>
            </a:r>
            <a:r>
              <a:rPr lang="en-US" sz="1600" b="1" dirty="0">
                <a:highlight>
                  <a:srgbClr val="FFFF00"/>
                </a:highlight>
                <a:latin typeface="+mn-ea"/>
              </a:rPr>
              <a:t> </a:t>
            </a:r>
            <a:r>
              <a:rPr lang="en-US" sz="1600" b="1" dirty="0" err="1">
                <a:highlight>
                  <a:srgbClr val="FFFF00"/>
                </a:highlight>
                <a:latin typeface="+mn-ea"/>
              </a:rPr>
              <a:t>bài</a:t>
            </a:r>
            <a:r>
              <a:rPr lang="en-US" sz="1600" b="1" dirty="0">
                <a:highlight>
                  <a:srgbClr val="FFFF00"/>
                </a:highlight>
                <a:latin typeface="+mn-ea"/>
              </a:rPr>
              <a:t> </a:t>
            </a:r>
            <a:r>
              <a:rPr lang="en-US" sz="1600" b="1" dirty="0" err="1">
                <a:highlight>
                  <a:srgbClr val="FFFF00"/>
                </a:highlight>
                <a:latin typeface="+mn-ea"/>
              </a:rPr>
              <a:t>báo</a:t>
            </a:r>
            <a:r>
              <a:rPr lang="en-US" sz="1600" b="1" dirty="0">
                <a:highlight>
                  <a:srgbClr val="FFFF00"/>
                </a:highlight>
                <a:latin typeface="+mn-ea"/>
              </a:rPr>
              <a:t> </a:t>
            </a:r>
            <a:r>
              <a:rPr lang="en-US" sz="1600" b="1" dirty="0" err="1">
                <a:highlight>
                  <a:srgbClr val="FFFF00"/>
                </a:highlight>
                <a:latin typeface="+mn-ea"/>
              </a:rPr>
              <a:t>đặt</a:t>
            </a:r>
            <a:r>
              <a:rPr lang="en-US" sz="1600" b="1" dirty="0">
                <a:highlight>
                  <a:srgbClr val="FFFF00"/>
                </a:highlight>
                <a:latin typeface="+mn-ea"/>
              </a:rPr>
              <a:t> </a:t>
            </a:r>
            <a:r>
              <a:rPr lang="en-US" sz="1600" b="1" dirty="0" err="1">
                <a:highlight>
                  <a:srgbClr val="FFFF00"/>
                </a:highlight>
                <a:latin typeface="+mn-ea"/>
              </a:rPr>
              <a:t>ra</a:t>
            </a:r>
            <a:endParaRPr lang="en-US" sz="1600" b="1" dirty="0">
              <a:highlight>
                <a:srgbClr val="FFFF00"/>
              </a:highlight>
              <a:latin typeface="+mn-ea"/>
            </a:endParaRPr>
          </a:p>
          <a:p>
            <a:r>
              <a:rPr lang="vi-VN" sz="1600" dirty="0">
                <a:latin typeface="+mn-ea"/>
              </a:rPr>
              <a:t>- </a:t>
            </a:r>
            <a:r>
              <a:rPr lang="en-US" sz="1600" dirty="0" err="1">
                <a:latin typeface="+mn-ea"/>
              </a:rPr>
              <a:t>Phân</a:t>
            </a:r>
            <a:r>
              <a:rPr lang="en-US" sz="1600" dirty="0">
                <a:latin typeface="+mn-ea"/>
              </a:rPr>
              <a:t> </a:t>
            </a:r>
            <a:r>
              <a:rPr lang="en-US" sz="1600" dirty="0" err="1">
                <a:latin typeface="+mn-ea"/>
              </a:rPr>
              <a:t>biệt</a:t>
            </a:r>
            <a:r>
              <a:rPr lang="en-US" sz="1600" dirty="0">
                <a:latin typeface="+mn-ea"/>
              </a:rPr>
              <a:t> </a:t>
            </a:r>
            <a:r>
              <a:rPr lang="en-US" sz="1600" dirty="0" err="1">
                <a:latin typeface="+mn-ea"/>
              </a:rPr>
              <a:t>các</a:t>
            </a:r>
            <a:r>
              <a:rPr lang="en-US" sz="1600" dirty="0">
                <a:latin typeface="+mn-ea"/>
              </a:rPr>
              <a:t> lane instance </a:t>
            </a:r>
            <a:r>
              <a:rPr lang="en-US" sz="1600" dirty="0" err="1">
                <a:latin typeface="+mn-ea"/>
              </a:rPr>
              <a:t>nằm</a:t>
            </a:r>
            <a:r>
              <a:rPr lang="en-US" sz="1600" dirty="0">
                <a:latin typeface="+mn-ea"/>
              </a:rPr>
              <a:t> </a:t>
            </a:r>
            <a:r>
              <a:rPr lang="en-US" sz="1600" dirty="0" err="1">
                <a:latin typeface="+mn-ea"/>
              </a:rPr>
              <a:t>gần</a:t>
            </a:r>
            <a:r>
              <a:rPr lang="en-US" sz="1600" dirty="0">
                <a:latin typeface="+mn-ea"/>
              </a:rPr>
              <a:t> </a:t>
            </a:r>
            <a:r>
              <a:rPr lang="en-US" sz="1600" dirty="0" err="1">
                <a:latin typeface="+mn-ea"/>
              </a:rPr>
              <a:t>nhau</a:t>
            </a:r>
            <a:endParaRPr lang="en-US" sz="1600" dirty="0">
              <a:latin typeface="+mn-ea"/>
            </a:endParaRPr>
          </a:p>
          <a:p>
            <a:pPr lvl="0"/>
            <a:r>
              <a:rPr lang="vi-VN" sz="1600" dirty="0">
                <a:latin typeface="+mn-ea"/>
              </a:rPr>
              <a:t>- </a:t>
            </a:r>
            <a:r>
              <a:rPr lang="en-US" sz="1600" dirty="0" err="1">
                <a:latin typeface="+mn-ea"/>
              </a:rPr>
              <a:t>Phát</a:t>
            </a:r>
            <a:r>
              <a:rPr lang="en-US" sz="1600" dirty="0">
                <a:latin typeface="+mn-ea"/>
              </a:rPr>
              <a:t> </a:t>
            </a:r>
            <a:r>
              <a:rPr lang="en-US" sz="1600" dirty="0" err="1">
                <a:latin typeface="+mn-ea"/>
              </a:rPr>
              <a:t>hiện</a:t>
            </a:r>
            <a:r>
              <a:rPr lang="en-US" sz="1600" dirty="0">
                <a:latin typeface="+mn-ea"/>
              </a:rPr>
              <a:t> topology </a:t>
            </a:r>
            <a:r>
              <a:rPr lang="en-US" sz="1600" dirty="0" err="1">
                <a:latin typeface="+mn-ea"/>
              </a:rPr>
              <a:t>phức</a:t>
            </a:r>
            <a:r>
              <a:rPr lang="en-US" sz="1600" dirty="0">
                <a:latin typeface="+mn-ea"/>
              </a:rPr>
              <a:t> </a:t>
            </a:r>
            <a:r>
              <a:rPr lang="en-US" sz="1600" dirty="0" err="1">
                <a:latin typeface="+mn-ea"/>
              </a:rPr>
              <a:t>tạp</a:t>
            </a:r>
            <a:r>
              <a:rPr lang="en-US" sz="1600" dirty="0">
                <a:latin typeface="+mn-ea"/>
              </a:rPr>
              <a:t> </a:t>
            </a:r>
            <a:r>
              <a:rPr lang="en-US" sz="1600" dirty="0" err="1">
                <a:latin typeface="+mn-ea"/>
              </a:rPr>
              <a:t>như</a:t>
            </a:r>
            <a:r>
              <a:rPr lang="en-US" sz="1600" dirty="0">
                <a:latin typeface="+mn-ea"/>
              </a:rPr>
              <a:t> lane </a:t>
            </a:r>
            <a:r>
              <a:rPr lang="en-US" sz="1600" dirty="0" err="1">
                <a:latin typeface="+mn-ea"/>
              </a:rPr>
              <a:t>phân</a:t>
            </a:r>
            <a:r>
              <a:rPr lang="en-US" sz="1600" dirty="0">
                <a:latin typeface="+mn-ea"/>
              </a:rPr>
              <a:t> </a:t>
            </a:r>
            <a:r>
              <a:rPr lang="en-US" sz="1600" dirty="0" err="1">
                <a:latin typeface="+mn-ea"/>
              </a:rPr>
              <a:t>nhánh</a:t>
            </a:r>
            <a:r>
              <a:rPr lang="en-US" sz="1600" dirty="0">
                <a:latin typeface="+mn-ea"/>
              </a:rPr>
              <a:t> </a:t>
            </a:r>
            <a:r>
              <a:rPr lang="en-US" sz="1600" dirty="0" err="1">
                <a:latin typeface="+mn-ea"/>
              </a:rPr>
              <a:t>hoặc</a:t>
            </a:r>
            <a:r>
              <a:rPr lang="en-US" sz="1600" dirty="0">
                <a:latin typeface="+mn-ea"/>
              </a:rPr>
              <a:t> </a:t>
            </a:r>
            <a:r>
              <a:rPr lang="en-US" sz="1600" dirty="0" err="1">
                <a:latin typeface="+mn-ea"/>
              </a:rPr>
              <a:t>nhiều</a:t>
            </a:r>
            <a:r>
              <a:rPr lang="en-US" sz="1600" dirty="0">
                <a:latin typeface="+mn-ea"/>
              </a:rPr>
              <a:t> lane </a:t>
            </a:r>
            <a:r>
              <a:rPr lang="en-US" sz="1600" dirty="0" err="1">
                <a:latin typeface="+mn-ea"/>
              </a:rPr>
              <a:t>dày</a:t>
            </a:r>
            <a:r>
              <a:rPr lang="en-US" sz="1600" dirty="0">
                <a:latin typeface="+mn-ea"/>
              </a:rPr>
              <a:t> </a:t>
            </a:r>
            <a:r>
              <a:rPr lang="en-US" sz="1600" dirty="0" err="1">
                <a:latin typeface="+mn-ea"/>
              </a:rPr>
              <a:t>đặc</a:t>
            </a:r>
            <a:br>
              <a:rPr lang="vi-VN" sz="1600" b="1" dirty="0">
                <a:solidFill>
                  <a:srgbClr val="1A1A1A"/>
                </a:solidFill>
                <a:latin typeface="+mn-ea"/>
                <a:cs typeface="Arial"/>
              </a:rPr>
            </a:br>
            <a:r>
              <a:rPr sz="1600" b="1" dirty="0" err="1">
                <a:solidFill>
                  <a:srgbClr val="1A1A1A"/>
                </a:solidFill>
                <a:highlight>
                  <a:srgbClr val="FFFF00"/>
                </a:highlight>
                <a:latin typeface="+mn-ea"/>
                <a:cs typeface="Arial"/>
              </a:rPr>
              <a:t>Cách</a:t>
            </a:r>
            <a:r>
              <a:rPr sz="1600" b="1" dirty="0">
                <a:solidFill>
                  <a:srgbClr val="1A1A1A"/>
                </a:solidFill>
                <a:highlight>
                  <a:srgbClr val="FFFF00"/>
                </a:highlight>
                <a:latin typeface="+mn-ea"/>
                <a:cs typeface="Arial"/>
              </a:rPr>
              <a:t> </a:t>
            </a:r>
            <a:r>
              <a:rPr sz="1600" b="1" dirty="0" err="1">
                <a:solidFill>
                  <a:srgbClr val="1A1A1A"/>
                </a:solidFill>
                <a:highlight>
                  <a:srgbClr val="FFFF00"/>
                </a:highlight>
                <a:latin typeface="+mn-ea"/>
                <a:cs typeface="Arial"/>
              </a:rPr>
              <a:t>giải</a:t>
            </a:r>
            <a:r>
              <a:rPr sz="1600" b="1" dirty="0">
                <a:solidFill>
                  <a:srgbClr val="1A1A1A"/>
                </a:solidFill>
                <a:highlight>
                  <a:srgbClr val="FFFF00"/>
                </a:highlight>
                <a:latin typeface="+mn-ea"/>
                <a:cs typeface="Arial"/>
              </a:rPr>
              <a:t> </a:t>
            </a:r>
            <a:r>
              <a:rPr sz="1600" b="1" dirty="0" err="1">
                <a:solidFill>
                  <a:srgbClr val="1A1A1A"/>
                </a:solidFill>
                <a:highlight>
                  <a:srgbClr val="FFFF00"/>
                </a:highlight>
                <a:latin typeface="+mn-ea"/>
                <a:cs typeface="Arial"/>
              </a:rPr>
              <a:t>quyết</a:t>
            </a:r>
            <a:r>
              <a:rPr sz="1600" b="1" dirty="0">
                <a:solidFill>
                  <a:srgbClr val="1A1A1A"/>
                </a:solidFill>
                <a:highlight>
                  <a:srgbClr val="FFFF00"/>
                </a:highlight>
                <a:latin typeface="+mn-ea"/>
                <a:cs typeface="Arial"/>
              </a:rPr>
              <a:t>: </a:t>
            </a:r>
            <a:r>
              <a:rPr lang="en-US" sz="1600" dirty="0" err="1">
                <a:latin typeface="+mn-ea"/>
              </a:rPr>
              <a:t>CondLaneNet</a:t>
            </a:r>
            <a:r>
              <a:rPr lang="en-US" sz="1600" dirty="0">
                <a:latin typeface="+mn-ea"/>
              </a:rPr>
              <a:t> </a:t>
            </a:r>
            <a:r>
              <a:rPr lang="en-US" sz="1600" dirty="0" err="1">
                <a:latin typeface="+mn-ea"/>
              </a:rPr>
              <a:t>sử</a:t>
            </a:r>
            <a:r>
              <a:rPr lang="en-US" sz="1600" dirty="0">
                <a:latin typeface="+mn-ea"/>
              </a:rPr>
              <a:t> </a:t>
            </a:r>
            <a:r>
              <a:rPr lang="en-US" sz="1600" dirty="0" err="1">
                <a:latin typeface="+mn-ea"/>
              </a:rPr>
              <a:t>dụng</a:t>
            </a:r>
            <a:r>
              <a:rPr lang="en-US" sz="1600" dirty="0">
                <a:latin typeface="+mn-ea"/>
              </a:rPr>
              <a:t> </a:t>
            </a:r>
            <a:r>
              <a:rPr lang="en-US" sz="1600" dirty="0" err="1">
                <a:latin typeface="+mn-ea"/>
              </a:rPr>
              <a:t>cách</a:t>
            </a:r>
            <a:r>
              <a:rPr lang="en-US" sz="1600" dirty="0">
                <a:latin typeface="+mn-ea"/>
              </a:rPr>
              <a:t> </a:t>
            </a:r>
            <a:r>
              <a:rPr lang="en-US" sz="1600" dirty="0" err="1">
                <a:latin typeface="+mn-ea"/>
              </a:rPr>
              <a:t>tiếp</a:t>
            </a:r>
            <a:r>
              <a:rPr lang="en-US" sz="1600" dirty="0">
                <a:latin typeface="+mn-ea"/>
              </a:rPr>
              <a:t> </a:t>
            </a:r>
            <a:r>
              <a:rPr lang="en-US" sz="1600" dirty="0" err="1">
                <a:latin typeface="+mn-ea"/>
              </a:rPr>
              <a:t>cận</a:t>
            </a:r>
            <a:r>
              <a:rPr lang="en-US" sz="1600" dirty="0">
                <a:latin typeface="+mn-ea"/>
              </a:rPr>
              <a:t> </a:t>
            </a:r>
            <a:r>
              <a:rPr lang="en-US" sz="1600" b="1" dirty="0">
                <a:latin typeface="+mn-ea"/>
              </a:rPr>
              <a:t>top-to-down</a:t>
            </a:r>
            <a:r>
              <a:rPr lang="en-US" sz="1600" dirty="0">
                <a:latin typeface="+mn-ea"/>
              </a:rPr>
              <a:t>:</a:t>
            </a:r>
          </a:p>
          <a:p>
            <a:pPr lvl="0"/>
            <a:r>
              <a:rPr lang="vi-VN" sz="1600" dirty="0">
                <a:latin typeface="+mn-ea"/>
              </a:rPr>
              <a:t>1.</a:t>
            </a:r>
            <a:r>
              <a:rPr lang="en-US" sz="1600" dirty="0" err="1">
                <a:latin typeface="+mn-ea"/>
              </a:rPr>
              <a:t>Tìm</a:t>
            </a:r>
            <a:r>
              <a:rPr lang="en-US" sz="1600" dirty="0">
                <a:latin typeface="+mn-ea"/>
              </a:rPr>
              <a:t> lane instance </a:t>
            </a:r>
            <a:r>
              <a:rPr lang="en-US" sz="1600" dirty="0" err="1">
                <a:latin typeface="+mn-ea"/>
              </a:rPr>
              <a:t>trước</a:t>
            </a:r>
            <a:r>
              <a:rPr lang="en-US" sz="1600" dirty="0">
                <a:latin typeface="+mn-ea"/>
              </a:rPr>
              <a:t>.</a:t>
            </a:r>
          </a:p>
          <a:p>
            <a:pPr lvl="0"/>
            <a:r>
              <a:rPr lang="vi-VN" sz="1600" dirty="0">
                <a:latin typeface="+mn-ea"/>
              </a:rPr>
              <a:t>2.</a:t>
            </a:r>
            <a:r>
              <a:rPr lang="en-US" sz="1600" dirty="0">
                <a:latin typeface="+mn-ea"/>
              </a:rPr>
              <a:t>Sinh </a:t>
            </a:r>
            <a:r>
              <a:rPr lang="en-US" sz="1600" dirty="0" err="1">
                <a:latin typeface="+mn-ea"/>
              </a:rPr>
              <a:t>một</a:t>
            </a:r>
            <a:r>
              <a:rPr lang="en-US" sz="1600" dirty="0">
                <a:latin typeface="+mn-ea"/>
              </a:rPr>
              <a:t> kernel </a:t>
            </a:r>
            <a:r>
              <a:rPr lang="en-US" sz="1600" dirty="0" err="1">
                <a:latin typeface="+mn-ea"/>
              </a:rPr>
              <a:t>riêng</a:t>
            </a:r>
            <a:r>
              <a:rPr lang="en-US" sz="1600" dirty="0">
                <a:latin typeface="+mn-ea"/>
              </a:rPr>
              <a:t> </a:t>
            </a:r>
            <a:r>
              <a:rPr lang="en-US" sz="1600" dirty="0" err="1">
                <a:latin typeface="+mn-ea"/>
              </a:rPr>
              <a:t>cho</a:t>
            </a:r>
            <a:r>
              <a:rPr lang="en-US" sz="1600" dirty="0">
                <a:latin typeface="+mn-ea"/>
              </a:rPr>
              <a:t> instance </a:t>
            </a:r>
            <a:r>
              <a:rPr lang="en-US" sz="1600" dirty="0" err="1">
                <a:latin typeface="+mn-ea"/>
              </a:rPr>
              <a:t>đó</a:t>
            </a:r>
            <a:r>
              <a:rPr lang="en-US" sz="1600" dirty="0">
                <a:latin typeface="+mn-ea"/>
              </a:rPr>
              <a:t>.</a:t>
            </a:r>
          </a:p>
          <a:p>
            <a:pPr lvl="0"/>
            <a:r>
              <a:rPr lang="vi-VN" sz="1600" dirty="0">
                <a:latin typeface="+mn-ea"/>
              </a:rPr>
              <a:t>3.</a:t>
            </a:r>
            <a:r>
              <a:rPr lang="en-US" sz="1600" dirty="0" err="1">
                <a:latin typeface="+mn-ea"/>
              </a:rPr>
              <a:t>Dùng</a:t>
            </a:r>
            <a:r>
              <a:rPr lang="en-US" sz="1600" dirty="0">
                <a:latin typeface="+mn-ea"/>
              </a:rPr>
              <a:t> kernel </a:t>
            </a:r>
            <a:r>
              <a:rPr lang="en-US" sz="1600" dirty="0" err="1">
                <a:latin typeface="+mn-ea"/>
              </a:rPr>
              <a:t>để</a:t>
            </a:r>
            <a:r>
              <a:rPr lang="en-US" sz="1600" dirty="0">
                <a:latin typeface="+mn-ea"/>
              </a:rPr>
              <a:t> </a:t>
            </a:r>
            <a:r>
              <a:rPr lang="en-US" sz="1600" dirty="0" err="1">
                <a:latin typeface="+mn-ea"/>
              </a:rPr>
              <a:t>dự</a:t>
            </a:r>
            <a:r>
              <a:rPr lang="en-US" sz="1600" dirty="0">
                <a:latin typeface="+mn-ea"/>
              </a:rPr>
              <a:t> </a:t>
            </a:r>
            <a:r>
              <a:rPr lang="en-US" sz="1600" dirty="0" err="1">
                <a:latin typeface="+mn-ea"/>
              </a:rPr>
              <a:t>đoán</a:t>
            </a:r>
            <a:r>
              <a:rPr lang="en-US" sz="1600" dirty="0">
                <a:latin typeface="+mn-ea"/>
              </a:rPr>
              <a:t> </a:t>
            </a:r>
            <a:r>
              <a:rPr lang="en-US" sz="1600" dirty="0" err="1">
                <a:latin typeface="+mn-ea"/>
              </a:rPr>
              <a:t>hình</a:t>
            </a:r>
            <a:r>
              <a:rPr lang="en-US" sz="1600" dirty="0">
                <a:latin typeface="+mn-ea"/>
              </a:rPr>
              <a:t> </a:t>
            </a:r>
            <a:r>
              <a:rPr lang="en-US" sz="1600" dirty="0" err="1">
                <a:latin typeface="+mn-ea"/>
              </a:rPr>
              <a:t>dạng</a:t>
            </a:r>
            <a:r>
              <a:rPr lang="en-US" sz="1600" dirty="0">
                <a:latin typeface="+mn-ea"/>
              </a:rPr>
              <a:t> </a:t>
            </a:r>
            <a:r>
              <a:rPr lang="en-US" sz="1600" dirty="0" err="1">
                <a:latin typeface="+mn-ea"/>
              </a:rPr>
              <a:t>của</a:t>
            </a:r>
            <a:r>
              <a:rPr lang="en-US" sz="1600" dirty="0">
                <a:latin typeface="+mn-ea"/>
              </a:rPr>
              <a:t> lane.</a:t>
            </a:r>
          </a:p>
        </p:txBody>
      </p:sp>
      <p:pic>
        <p:nvPicPr>
          <p:cNvPr id="13" name="Hình ảnh 19">
            <a:extLst>
              <a:ext uri="{FF2B5EF4-FFF2-40B4-BE49-F238E27FC236}">
                <a16:creationId xmlns:a16="http://schemas.microsoft.com/office/drawing/2014/main" id="{0B1475A5-464B-3721-8270-567A49D4C2CB}"/>
              </a:ext>
            </a:extLst>
          </p:cNvPr>
          <p:cNvPicPr>
            <a:picLocks noChangeAspect="1"/>
          </p:cNvPicPr>
          <p:nvPr/>
        </p:nvPicPr>
        <p:blipFill>
          <a:blip r:embed="rId3"/>
          <a:stretch/>
        </p:blipFill>
        <p:spPr>
          <a:xfrm>
            <a:off x="571620" y="4604808"/>
            <a:ext cx="7647881" cy="3394029"/>
          </a:xfrm>
          <a:prstGeom prst="rect">
            <a:avLst/>
          </a:prstGeom>
        </p:spPr>
      </p:pic>
      <p:sp>
        <p:nvSpPr>
          <p:cNvPr id="15" name="cond-takeaway-bg">
            <a:extLst>
              <a:ext uri="{FF2B5EF4-FFF2-40B4-BE49-F238E27FC236}">
                <a16:creationId xmlns:a16="http://schemas.microsoft.com/office/drawing/2014/main" id="{F6F14D01-7093-0992-0DFF-7A4BEC65C6CF}"/>
              </a:ext>
            </a:extLst>
          </p:cNvPr>
          <p:cNvSpPr>
            <a:spLocks noGrp="1"/>
          </p:cNvSpPr>
          <p:nvPr/>
        </p:nvSpPr>
        <p:spPr>
          <a:xfrm>
            <a:off x="9462095" y="7327460"/>
            <a:ext cx="5010150" cy="704850"/>
          </a:xfrm>
          <a:prstGeom prst="rect">
            <a:avLst/>
          </a:prstGeom>
          <a:solidFill>
            <a:srgbClr val="EAF4FC"/>
          </a:solidFill>
          <a:ln w="9525">
            <a:solidFill>
              <a:srgbClr val="4A90D9"/>
            </a:solidFill>
            <a:prstDash val="solid"/>
          </a:ln>
        </p:spPr>
        <p:txBody>
          <a:bodyPr/>
          <a:lstStyle/>
          <a:p>
            <a:endParaRPr lang="en-US"/>
          </a:p>
        </p:txBody>
      </p:sp>
      <p:sp>
        <p:nvSpPr>
          <p:cNvPr id="17" name="cond-takeaway">
            <a:extLst>
              <a:ext uri="{FF2B5EF4-FFF2-40B4-BE49-F238E27FC236}">
                <a16:creationId xmlns:a16="http://schemas.microsoft.com/office/drawing/2014/main" id="{618EA8DF-AFC5-563E-6D22-14B85DC4290B}"/>
              </a:ext>
            </a:extLst>
          </p:cNvPr>
          <p:cNvSpPr>
            <a:spLocks noGrp="1"/>
          </p:cNvSpPr>
          <p:nvPr/>
        </p:nvSpPr>
        <p:spPr>
          <a:xfrm>
            <a:off x="9623565" y="7353215"/>
            <a:ext cx="4781550" cy="571500"/>
          </a:xfrm>
          <a:prstGeom prst="rect">
            <a:avLst/>
          </a:prstGeom>
          <a:noFill/>
          <a:ln w="0">
            <a:noFill/>
            <a:prstDash val="solid"/>
          </a:ln>
        </p:spPr>
        <p:txBody>
          <a:bodyPr lIns="38100" tIns="19050" rIns="38100" bIns="19050" anchor="ctr">
            <a:normAutofit/>
          </a:bodyPr>
          <a:lstStyle/>
          <a:p>
            <a:pPr algn="ctr">
              <a:defRPr sz="1350" b="1">
                <a:solidFill>
                  <a:srgbClr val="0068A8"/>
                </a:solidFill>
                <a:latin typeface="Arial"/>
                <a:ea typeface="Arial"/>
                <a:cs typeface="Arial"/>
              </a:defRPr>
            </a:pPr>
            <a:r>
              <a:rPr sz="1350" b="1" dirty="0" err="1">
                <a:solidFill>
                  <a:srgbClr val="0068A8"/>
                </a:solidFill>
                <a:latin typeface="Arial"/>
                <a:ea typeface="Arial"/>
                <a:cs typeface="Arial"/>
              </a:rPr>
              <a:t>Trọng</a:t>
            </a:r>
            <a:r>
              <a:rPr sz="1350" b="1" dirty="0">
                <a:solidFill>
                  <a:srgbClr val="0068A8"/>
                </a:solidFill>
                <a:latin typeface="Arial"/>
                <a:ea typeface="Arial"/>
                <a:cs typeface="Arial"/>
              </a:rPr>
              <a:t> </a:t>
            </a:r>
            <a:r>
              <a:rPr sz="1350" b="1" dirty="0" err="1">
                <a:solidFill>
                  <a:srgbClr val="0068A8"/>
                </a:solidFill>
                <a:latin typeface="Arial"/>
                <a:ea typeface="Arial"/>
                <a:cs typeface="Arial"/>
              </a:rPr>
              <a:t>tâm</a:t>
            </a:r>
            <a:r>
              <a:rPr sz="1350" b="1" dirty="0">
                <a:solidFill>
                  <a:srgbClr val="0068A8"/>
                </a:solidFill>
                <a:latin typeface="Arial"/>
                <a:ea typeface="Arial"/>
                <a:cs typeface="Arial"/>
              </a:rPr>
              <a:t>: </a:t>
            </a:r>
            <a:r>
              <a:rPr sz="1350" b="1" dirty="0" err="1">
                <a:solidFill>
                  <a:srgbClr val="0068A8"/>
                </a:solidFill>
                <a:latin typeface="Arial"/>
                <a:ea typeface="Arial"/>
                <a:cs typeface="Arial"/>
              </a:rPr>
              <a:t>tách</a:t>
            </a:r>
            <a:r>
              <a:rPr sz="1350" b="1" dirty="0">
                <a:solidFill>
                  <a:srgbClr val="0068A8"/>
                </a:solidFill>
                <a:latin typeface="Arial"/>
                <a:ea typeface="Arial"/>
                <a:cs typeface="Arial"/>
              </a:rPr>
              <a:t> </a:t>
            </a:r>
            <a:r>
              <a:rPr sz="1350" b="1" dirty="0" err="1">
                <a:solidFill>
                  <a:srgbClr val="0068A8"/>
                </a:solidFill>
                <a:latin typeface="Arial"/>
                <a:ea typeface="Arial"/>
                <a:cs typeface="Arial"/>
              </a:rPr>
              <a:t>từng</a:t>
            </a:r>
            <a:r>
              <a:rPr sz="1350" b="1" dirty="0">
                <a:solidFill>
                  <a:srgbClr val="0068A8"/>
                </a:solidFill>
                <a:latin typeface="Arial"/>
                <a:ea typeface="Arial"/>
                <a:cs typeface="Arial"/>
              </a:rPr>
              <a:t> instance </a:t>
            </a:r>
            <a:r>
              <a:rPr sz="1350" b="1" dirty="0" err="1">
                <a:solidFill>
                  <a:srgbClr val="0068A8"/>
                </a:solidFill>
                <a:latin typeface="Arial"/>
                <a:ea typeface="Arial"/>
                <a:cs typeface="Arial"/>
              </a:rPr>
              <a:t>trước</a:t>
            </a:r>
            <a:r>
              <a:rPr sz="1350" b="1" dirty="0">
                <a:solidFill>
                  <a:srgbClr val="0068A8"/>
                </a:solidFill>
                <a:latin typeface="Arial"/>
                <a:ea typeface="Arial"/>
                <a:cs typeface="Arial"/>
              </a:rPr>
              <a:t> </a:t>
            </a:r>
            <a:r>
              <a:rPr sz="1350" b="1" dirty="0" err="1">
                <a:solidFill>
                  <a:srgbClr val="0068A8"/>
                </a:solidFill>
                <a:latin typeface="Arial"/>
                <a:ea typeface="Arial"/>
                <a:cs typeface="Arial"/>
              </a:rPr>
              <a:t>khi</a:t>
            </a:r>
            <a:r>
              <a:rPr sz="1350" b="1" dirty="0">
                <a:solidFill>
                  <a:srgbClr val="0068A8"/>
                </a:solidFill>
                <a:latin typeface="Arial"/>
                <a:ea typeface="Arial"/>
                <a:cs typeface="Arial"/>
              </a:rPr>
              <a:t> </a:t>
            </a:r>
            <a:r>
              <a:rPr sz="1350" b="1" dirty="0" err="1">
                <a:solidFill>
                  <a:srgbClr val="0068A8"/>
                </a:solidFill>
                <a:latin typeface="Arial"/>
                <a:ea typeface="Arial"/>
                <a:cs typeface="Arial"/>
              </a:rPr>
              <a:t>mô</a:t>
            </a:r>
            <a:r>
              <a:rPr sz="1350" b="1" dirty="0">
                <a:solidFill>
                  <a:srgbClr val="0068A8"/>
                </a:solidFill>
                <a:latin typeface="Arial"/>
                <a:ea typeface="Arial"/>
                <a:cs typeface="Arial"/>
              </a:rPr>
              <a:t> </a:t>
            </a:r>
            <a:r>
              <a:rPr sz="1350" b="1" dirty="0" err="1">
                <a:solidFill>
                  <a:srgbClr val="0068A8"/>
                </a:solidFill>
                <a:latin typeface="Arial"/>
                <a:ea typeface="Arial"/>
                <a:cs typeface="Arial"/>
              </a:rPr>
              <a:t>tả</a:t>
            </a:r>
            <a:r>
              <a:rPr sz="1350" b="1" dirty="0">
                <a:solidFill>
                  <a:srgbClr val="0068A8"/>
                </a:solidFill>
                <a:latin typeface="Arial"/>
                <a:ea typeface="Arial"/>
                <a:cs typeface="Arial"/>
              </a:rPr>
              <a:t> </a:t>
            </a:r>
            <a:r>
              <a:rPr sz="1350" b="1" dirty="0" err="1">
                <a:solidFill>
                  <a:srgbClr val="0068A8"/>
                </a:solidFill>
                <a:latin typeface="Arial"/>
                <a:ea typeface="Arial"/>
                <a:cs typeface="Arial"/>
              </a:rPr>
              <a:t>hình</a:t>
            </a:r>
            <a:r>
              <a:rPr sz="1350" b="1" dirty="0">
                <a:solidFill>
                  <a:srgbClr val="0068A8"/>
                </a:solidFill>
                <a:latin typeface="Arial"/>
                <a:ea typeface="Arial"/>
                <a:cs typeface="Arial"/>
              </a:rPr>
              <a:t> </a:t>
            </a:r>
            <a:r>
              <a:rPr sz="1350" b="1" dirty="0" err="1">
                <a:solidFill>
                  <a:srgbClr val="0068A8"/>
                </a:solidFill>
                <a:latin typeface="Arial"/>
                <a:ea typeface="Arial"/>
                <a:cs typeface="Arial"/>
              </a:rPr>
              <a:t>dạng</a:t>
            </a:r>
            <a:r>
              <a:rPr sz="1350" b="1" dirty="0">
                <a:solidFill>
                  <a:srgbClr val="0068A8"/>
                </a:solidFill>
                <a:latin typeface="Arial"/>
                <a:ea typeface="Arial"/>
                <a:cs typeface="Arial"/>
              </a:rPr>
              <a:t> lane.</a:t>
            </a:r>
          </a:p>
        </p:txBody>
      </p:sp>
      <p:pic>
        <p:nvPicPr>
          <p:cNvPr id="19" name="Hình ảnh 17">
            <a:extLst>
              <a:ext uri="{FF2B5EF4-FFF2-40B4-BE49-F238E27FC236}">
                <a16:creationId xmlns:a16="http://schemas.microsoft.com/office/drawing/2014/main" id="{8B7753C7-DC27-0063-C4C5-BEEBCB698B19}"/>
              </a:ext>
            </a:extLst>
          </p:cNvPr>
          <p:cNvPicPr>
            <a:picLocks noChangeAspect="1"/>
          </p:cNvPicPr>
          <p:nvPr/>
        </p:nvPicPr>
        <p:blipFill>
          <a:blip r:embed="rId4"/>
          <a:stretch>
            <a:fillRect/>
          </a:stretch>
        </p:blipFill>
        <p:spPr>
          <a:xfrm>
            <a:off x="8956256" y="1389483"/>
            <a:ext cx="5934956" cy="5557589"/>
          </a:xfrm>
          <a:prstGeom prst="rect">
            <a:avLst/>
          </a:prstGeom>
        </p:spPr>
      </p:pic>
      <p:graphicFrame>
        <p:nvGraphicFramePr>
          <p:cNvPr id="23" name="Table 22">
            <a:extLst>
              <a:ext uri="{FF2B5EF4-FFF2-40B4-BE49-F238E27FC236}">
                <a16:creationId xmlns:a16="http://schemas.microsoft.com/office/drawing/2014/main" id="{77CE8ACF-9901-1DFD-C00E-1472F0818A9A}"/>
              </a:ext>
            </a:extLst>
          </p:cNvPr>
          <p:cNvGraphicFramePr>
            <a:graphicFrameLocks noGrp="1"/>
          </p:cNvGraphicFramePr>
          <p:nvPr>
            <p:extLst>
              <p:ext uri="{D42A27DB-BD31-4B8C-83A1-F6EECF244321}">
                <p14:modId xmlns:p14="http://schemas.microsoft.com/office/powerpoint/2010/main" val="3691172733"/>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5</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25" name="Picture 24">
            <a:extLst>
              <a:ext uri="{FF2B5EF4-FFF2-40B4-BE49-F238E27FC236}">
                <a16:creationId xmlns:a16="http://schemas.microsoft.com/office/drawing/2014/main" id="{16849DC5-C376-0C65-73F0-546CC1162324}"/>
              </a:ext>
            </a:extLst>
          </p:cNvPr>
          <p:cNvPicPr/>
          <p:nvPr/>
        </p:nvPicPr>
        <p:blipFill>
          <a:blip r:embed="rId5"/>
          <a:stretch>
            <a:fillRect/>
          </a:stretch>
        </p:blipFill>
        <p:spPr>
          <a:xfrm>
            <a:off x="-118532" y="-145263"/>
            <a:ext cx="1371600" cy="1390223"/>
          </a:xfrm>
          <a:prstGeom prst="rect">
            <a:avLst/>
          </a:prstGeom>
        </p:spPr>
      </p:pic>
    </p:spTree>
    <p:extLst>
      <p:ext uri="{BB962C8B-B14F-4D97-AF65-F5344CB8AC3E}">
        <p14:creationId xmlns:p14="http://schemas.microsoft.com/office/powerpoint/2010/main" val="89179115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2">
            <a:extLst>
              <a:ext uri="{FF2B5EF4-FFF2-40B4-BE49-F238E27FC236}">
                <a16:creationId xmlns:a16="http://schemas.microsoft.com/office/drawing/2014/main" id="{AE2DF1EE-6F67-61E3-170E-BBC5DD95CA5B}"/>
              </a:ext>
            </a:extLst>
          </p:cNvPr>
          <p:cNvSpPr/>
          <p:nvPr/>
        </p:nvSpPr>
        <p:spPr>
          <a:xfrm>
            <a:off x="5724192" y="1528551"/>
            <a:ext cx="8838475" cy="3229716"/>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pic>
        <p:nvPicPr>
          <p:cNvPr id="25" name="Picture 24">
            <a:extLst>
              <a:ext uri="{FF2B5EF4-FFF2-40B4-BE49-F238E27FC236}">
                <a16:creationId xmlns:a16="http://schemas.microsoft.com/office/drawing/2014/main" id="{3E0BAF08-B438-67CD-BC04-4165E6E94885}"/>
              </a:ext>
            </a:extLst>
          </p:cNvPr>
          <p:cNvPicPr/>
          <p:nvPr/>
        </p:nvPicPr>
        <p:blipFill>
          <a:blip r:embed="rId2"/>
          <a:stretch>
            <a:fillRect/>
          </a:stretch>
        </p:blipFill>
        <p:spPr>
          <a:xfrm>
            <a:off x="10106181" y="6303010"/>
            <a:ext cx="4524219" cy="1853471"/>
          </a:xfrm>
          <a:prstGeom prst="rect">
            <a:avLst/>
          </a:prstGeom>
          <a:noFill/>
        </p:spPr>
      </p:pic>
      <p:graphicFrame>
        <p:nvGraphicFramePr>
          <p:cNvPr id="3" name="Table 2">
            <a:extLst>
              <a:ext uri="{FF2B5EF4-FFF2-40B4-BE49-F238E27FC236}">
                <a16:creationId xmlns:a16="http://schemas.microsoft.com/office/drawing/2014/main" id="{34253E54-A320-D5D3-20C9-54FAFAE94AC2}"/>
              </a:ext>
            </a:extLst>
          </p:cNvPr>
          <p:cNvGraphicFramePr>
            <a:graphicFrameLocks noGrp="1"/>
          </p:cNvGraphicFramePr>
          <p:nvPr>
            <p:extLst>
              <p:ext uri="{D42A27DB-BD31-4B8C-83A1-F6EECF244321}">
                <p14:modId xmlns:p14="http://schemas.microsoft.com/office/powerpoint/2010/main" val="548863843"/>
              </p:ext>
            </p:extLst>
          </p:nvPr>
        </p:nvGraphicFramePr>
        <p:xfrm>
          <a:off x="0" y="-20383"/>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5</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5" name="Picture 4">
            <a:extLst>
              <a:ext uri="{FF2B5EF4-FFF2-40B4-BE49-F238E27FC236}">
                <a16:creationId xmlns:a16="http://schemas.microsoft.com/office/drawing/2014/main" id="{C5047681-846A-7F86-4298-F1CC014D62A9}"/>
              </a:ext>
            </a:extLst>
          </p:cNvPr>
          <p:cNvPicPr/>
          <p:nvPr/>
        </p:nvPicPr>
        <p:blipFill>
          <a:blip r:embed="rId3"/>
          <a:stretch>
            <a:fillRect/>
          </a:stretch>
        </p:blipFill>
        <p:spPr>
          <a:xfrm>
            <a:off x="-118532" y="-145263"/>
            <a:ext cx="1371600" cy="1390223"/>
          </a:xfrm>
          <a:prstGeom prst="rect">
            <a:avLst/>
          </a:prstGeom>
        </p:spPr>
      </p:pic>
      <p:sp>
        <p:nvSpPr>
          <p:cNvPr id="7" name="Shape 2">
            <a:extLst>
              <a:ext uri="{FF2B5EF4-FFF2-40B4-BE49-F238E27FC236}">
                <a16:creationId xmlns:a16="http://schemas.microsoft.com/office/drawing/2014/main" id="{A2DD57B3-E3AD-392B-BC90-53279AA449E8}"/>
              </a:ext>
            </a:extLst>
          </p:cNvPr>
          <p:cNvSpPr/>
          <p:nvPr/>
        </p:nvSpPr>
        <p:spPr>
          <a:xfrm>
            <a:off x="7162563" y="5405612"/>
            <a:ext cx="6096000" cy="1957388"/>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sp>
        <p:nvSpPr>
          <p:cNvPr id="9" name="Shape 2">
            <a:extLst>
              <a:ext uri="{FF2B5EF4-FFF2-40B4-BE49-F238E27FC236}">
                <a16:creationId xmlns:a16="http://schemas.microsoft.com/office/drawing/2014/main" id="{8F1D5A11-A099-B409-AA87-FED451E8A830}"/>
              </a:ext>
            </a:extLst>
          </p:cNvPr>
          <p:cNvSpPr/>
          <p:nvPr/>
        </p:nvSpPr>
        <p:spPr>
          <a:xfrm>
            <a:off x="67733" y="1602624"/>
            <a:ext cx="5616818" cy="5024352"/>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pic>
        <p:nvPicPr>
          <p:cNvPr id="17" name="Hình ảnh 15">
            <a:extLst>
              <a:ext uri="{FF2B5EF4-FFF2-40B4-BE49-F238E27FC236}">
                <a16:creationId xmlns:a16="http://schemas.microsoft.com/office/drawing/2014/main" id="{568633D2-FE34-5802-D540-4B3D92FE2ECA}"/>
              </a:ext>
            </a:extLst>
          </p:cNvPr>
          <p:cNvPicPr>
            <a:picLocks noChangeAspect="1"/>
          </p:cNvPicPr>
          <p:nvPr/>
        </p:nvPicPr>
        <p:blipFill>
          <a:blip r:embed="rId4"/>
          <a:stretch/>
        </p:blipFill>
        <p:spPr>
          <a:xfrm>
            <a:off x="5899275" y="1698849"/>
            <a:ext cx="8497870" cy="2889120"/>
          </a:xfrm>
          <a:prstGeom prst="rect">
            <a:avLst/>
          </a:prstGeom>
        </p:spPr>
      </p:pic>
      <p:sp>
        <p:nvSpPr>
          <p:cNvPr id="19" name="cond-steps">
            <a:extLst>
              <a:ext uri="{FF2B5EF4-FFF2-40B4-BE49-F238E27FC236}">
                <a16:creationId xmlns:a16="http://schemas.microsoft.com/office/drawing/2014/main" id="{153A46BE-2147-BA33-5EDF-29E0224F9A3A}"/>
              </a:ext>
            </a:extLst>
          </p:cNvPr>
          <p:cNvSpPr>
            <a:spLocks noGrp="1"/>
          </p:cNvSpPr>
          <p:nvPr/>
        </p:nvSpPr>
        <p:spPr>
          <a:xfrm>
            <a:off x="193614" y="1835868"/>
            <a:ext cx="5490937" cy="5000626"/>
          </a:xfrm>
          <a:prstGeom prst="rect">
            <a:avLst/>
          </a:prstGeom>
          <a:noFill/>
          <a:ln w="0">
            <a:noFill/>
            <a:prstDash val="solid"/>
          </a:ln>
        </p:spPr>
        <p:txBody>
          <a:bodyPr lIns="38100" tIns="28575" rIns="38100" bIns="28575" anchor="t">
            <a:normAutofit lnSpcReduction="10000"/>
          </a:bodyPr>
          <a:lstStyle/>
          <a:p>
            <a:pPr marL="25" indent="-15">
              <a:lnSpc>
                <a:spcPct val="108000"/>
              </a:lnSpc>
              <a:spcAft>
                <a:spcPts val="8"/>
              </a:spcAft>
              <a:buNone/>
              <a:defRPr sz="1350">
                <a:solidFill>
                  <a:srgbClr val="1A1A1A"/>
                </a:solidFill>
                <a:latin typeface="Arial"/>
                <a:ea typeface="Arial"/>
                <a:cs typeface="Arial"/>
              </a:defRPr>
            </a:pPr>
            <a:r>
              <a:rPr sz="1400" b="1" dirty="0">
                <a:solidFill>
                  <a:srgbClr val="1A1A1A"/>
                </a:solidFill>
                <a:highlight>
                  <a:srgbClr val="FFFF00"/>
                </a:highlight>
                <a:latin typeface="+mn-ea"/>
                <a:cs typeface="Arial"/>
              </a:rPr>
              <a:t>1. Backbone + Transformer</a:t>
            </a:r>
            <a:r>
              <a:rPr sz="1400" b="1" dirty="0">
                <a:solidFill>
                  <a:srgbClr val="1A1A1A"/>
                </a:solidFill>
                <a:latin typeface="+mn-ea"/>
                <a:cs typeface="Arial"/>
              </a:rPr>
              <a:t>: </a:t>
            </a:r>
            <a:r>
              <a:rPr sz="1400" dirty="0" err="1">
                <a:solidFill>
                  <a:srgbClr val="1A1A1A"/>
                </a:solidFill>
                <a:latin typeface="+mn-ea"/>
                <a:cs typeface="Arial"/>
              </a:rPr>
              <a:t>tạo</a:t>
            </a:r>
            <a:r>
              <a:rPr sz="1400" dirty="0">
                <a:solidFill>
                  <a:srgbClr val="1A1A1A"/>
                </a:solidFill>
                <a:latin typeface="+mn-ea"/>
                <a:cs typeface="Arial"/>
              </a:rPr>
              <a:t> </a:t>
            </a:r>
            <a:r>
              <a:rPr sz="1400" dirty="0" err="1">
                <a:solidFill>
                  <a:srgbClr val="1A1A1A"/>
                </a:solidFill>
                <a:latin typeface="+mn-ea"/>
                <a:cs typeface="Arial"/>
              </a:rPr>
              <a:t>đặc</a:t>
            </a:r>
            <a:r>
              <a:rPr sz="1400" dirty="0">
                <a:solidFill>
                  <a:srgbClr val="1A1A1A"/>
                </a:solidFill>
                <a:latin typeface="+mn-ea"/>
                <a:cs typeface="Arial"/>
              </a:rPr>
              <a:t> </a:t>
            </a:r>
            <a:r>
              <a:rPr sz="1400" dirty="0" err="1">
                <a:solidFill>
                  <a:srgbClr val="1A1A1A"/>
                </a:solidFill>
                <a:latin typeface="+mn-ea"/>
                <a:cs typeface="Arial"/>
              </a:rPr>
              <a:t>trưng</a:t>
            </a:r>
            <a:r>
              <a:rPr sz="1400" dirty="0">
                <a:solidFill>
                  <a:srgbClr val="1A1A1A"/>
                </a:solidFill>
                <a:latin typeface="+mn-ea"/>
                <a:cs typeface="Arial"/>
              </a:rPr>
              <a:t> </a:t>
            </a:r>
            <a:r>
              <a:rPr sz="1400" dirty="0" err="1">
                <a:solidFill>
                  <a:srgbClr val="1A1A1A"/>
                </a:solidFill>
                <a:latin typeface="+mn-ea"/>
                <a:cs typeface="Arial"/>
              </a:rPr>
              <a:t>đa</a:t>
            </a:r>
            <a:r>
              <a:rPr sz="1400" dirty="0">
                <a:solidFill>
                  <a:srgbClr val="1A1A1A"/>
                </a:solidFill>
                <a:latin typeface="+mn-ea"/>
                <a:cs typeface="Arial"/>
              </a:rPr>
              <a:t> </a:t>
            </a:r>
            <a:r>
              <a:rPr sz="1400" dirty="0" err="1">
                <a:solidFill>
                  <a:srgbClr val="1A1A1A"/>
                </a:solidFill>
                <a:latin typeface="+mn-ea"/>
                <a:cs typeface="Arial"/>
              </a:rPr>
              <a:t>tỉ</a:t>
            </a:r>
            <a:r>
              <a:rPr sz="1400" dirty="0">
                <a:solidFill>
                  <a:srgbClr val="1A1A1A"/>
                </a:solidFill>
                <a:latin typeface="+mn-ea"/>
                <a:cs typeface="Arial"/>
              </a:rPr>
              <a:t> </a:t>
            </a:r>
            <a:r>
              <a:rPr sz="1400" dirty="0" err="1">
                <a:solidFill>
                  <a:srgbClr val="1A1A1A"/>
                </a:solidFill>
                <a:latin typeface="+mn-ea"/>
                <a:cs typeface="Arial"/>
              </a:rPr>
              <a:t>lệ</a:t>
            </a:r>
            <a:r>
              <a:rPr sz="1400" dirty="0">
                <a:solidFill>
                  <a:srgbClr val="1A1A1A"/>
                </a:solidFill>
                <a:latin typeface="+mn-ea"/>
                <a:cs typeface="Arial"/>
              </a:rPr>
              <a:t> </a:t>
            </a:r>
            <a:r>
              <a:rPr sz="1400" dirty="0" err="1">
                <a:solidFill>
                  <a:srgbClr val="1A1A1A"/>
                </a:solidFill>
                <a:latin typeface="+mn-ea"/>
                <a:cs typeface="Arial"/>
              </a:rPr>
              <a:t>và</a:t>
            </a:r>
            <a:r>
              <a:rPr sz="1400" dirty="0">
                <a:solidFill>
                  <a:srgbClr val="1A1A1A"/>
                </a:solidFill>
                <a:latin typeface="+mn-ea"/>
                <a:cs typeface="Arial"/>
              </a:rPr>
              <a:t> </a:t>
            </a:r>
            <a:r>
              <a:rPr sz="1400" dirty="0" err="1">
                <a:solidFill>
                  <a:srgbClr val="1A1A1A"/>
                </a:solidFill>
                <a:latin typeface="+mn-ea"/>
                <a:cs typeface="Arial"/>
              </a:rPr>
              <a:t>ngữ</a:t>
            </a:r>
            <a:r>
              <a:rPr sz="1400" dirty="0">
                <a:solidFill>
                  <a:srgbClr val="1A1A1A"/>
                </a:solidFill>
                <a:latin typeface="+mn-ea"/>
                <a:cs typeface="Arial"/>
              </a:rPr>
              <a:t> </a:t>
            </a:r>
            <a:r>
              <a:rPr sz="1400" dirty="0" err="1">
                <a:solidFill>
                  <a:srgbClr val="1A1A1A"/>
                </a:solidFill>
                <a:latin typeface="+mn-ea"/>
                <a:cs typeface="Arial"/>
              </a:rPr>
              <a:t>cảnh</a:t>
            </a:r>
            <a:r>
              <a:rPr sz="1400" dirty="0">
                <a:solidFill>
                  <a:srgbClr val="1A1A1A"/>
                </a:solidFill>
                <a:latin typeface="+mn-ea"/>
                <a:cs typeface="Arial"/>
              </a:rPr>
              <a:t> </a:t>
            </a:r>
            <a:r>
              <a:rPr sz="1400" dirty="0" err="1">
                <a:solidFill>
                  <a:srgbClr val="1A1A1A"/>
                </a:solidFill>
                <a:latin typeface="+mn-ea"/>
                <a:cs typeface="Arial"/>
              </a:rPr>
              <a:t>cho</a:t>
            </a:r>
            <a:r>
              <a:rPr sz="1400" dirty="0">
                <a:solidFill>
                  <a:srgbClr val="1A1A1A"/>
                </a:solidFill>
                <a:latin typeface="+mn-ea"/>
                <a:cs typeface="Arial"/>
              </a:rPr>
              <a:t> proposal detection.</a:t>
            </a:r>
          </a:p>
          <a:p>
            <a:r>
              <a:rPr sz="1400" b="1" dirty="0">
                <a:solidFill>
                  <a:srgbClr val="1A1A1A"/>
                </a:solidFill>
                <a:highlight>
                  <a:srgbClr val="FFFF00"/>
                </a:highlight>
                <a:latin typeface="+mn-ea"/>
                <a:cs typeface="Arial"/>
              </a:rPr>
              <a:t>2. Proposal head: </a:t>
            </a:r>
            <a:r>
              <a:rPr lang="en-US" sz="1400" dirty="0">
                <a:latin typeface="+mn-ea"/>
              </a:rPr>
              <a:t>Proposal head </a:t>
            </a:r>
            <a:r>
              <a:rPr lang="en-US" sz="1400" dirty="0" err="1">
                <a:latin typeface="+mn-ea"/>
              </a:rPr>
              <a:t>xác</a:t>
            </a:r>
            <a:r>
              <a:rPr lang="en-US" sz="1400" dirty="0">
                <a:latin typeface="+mn-ea"/>
              </a:rPr>
              <a:t> </a:t>
            </a:r>
            <a:r>
              <a:rPr lang="en-US" sz="1400" dirty="0" err="1">
                <a:latin typeface="+mn-ea"/>
              </a:rPr>
              <a:t>định</a:t>
            </a:r>
            <a:r>
              <a:rPr lang="en-US" sz="1400" dirty="0">
                <a:latin typeface="+mn-ea"/>
              </a:rPr>
              <a:t> </a:t>
            </a:r>
            <a:r>
              <a:rPr lang="en-US" sz="1400" dirty="0" err="1">
                <a:latin typeface="+mn-ea"/>
              </a:rPr>
              <a:t>vị</a:t>
            </a:r>
            <a:r>
              <a:rPr lang="en-US" sz="1400" dirty="0">
                <a:latin typeface="+mn-ea"/>
              </a:rPr>
              <a:t> </a:t>
            </a:r>
            <a:r>
              <a:rPr lang="en-US" sz="1400" dirty="0" err="1">
                <a:latin typeface="+mn-ea"/>
              </a:rPr>
              <a:t>trí</a:t>
            </a:r>
            <a:r>
              <a:rPr lang="en-US" sz="1400" dirty="0">
                <a:latin typeface="+mn-ea"/>
              </a:rPr>
              <a:t> </a:t>
            </a:r>
            <a:r>
              <a:rPr lang="en-US" sz="1400" dirty="0" err="1">
                <a:latin typeface="+mn-ea"/>
              </a:rPr>
              <a:t>đại</a:t>
            </a:r>
            <a:r>
              <a:rPr lang="en-US" sz="1400" dirty="0">
                <a:latin typeface="+mn-ea"/>
              </a:rPr>
              <a:t> </a:t>
            </a:r>
            <a:r>
              <a:rPr lang="en-US" sz="1400" dirty="0" err="1">
                <a:latin typeface="+mn-ea"/>
              </a:rPr>
              <a:t>diện</a:t>
            </a:r>
            <a:r>
              <a:rPr lang="en-US" sz="1400" dirty="0">
                <a:latin typeface="+mn-ea"/>
              </a:rPr>
              <a:t> </a:t>
            </a:r>
            <a:r>
              <a:rPr lang="en-US" sz="1400" dirty="0" err="1">
                <a:latin typeface="+mn-ea"/>
              </a:rPr>
              <a:t>hoặc</a:t>
            </a:r>
            <a:r>
              <a:rPr lang="en-US" sz="1400" dirty="0">
                <a:latin typeface="+mn-ea"/>
              </a:rPr>
              <a:t> </a:t>
            </a:r>
            <a:r>
              <a:rPr lang="en-US" sz="1400" dirty="0" err="1">
                <a:latin typeface="+mn-ea"/>
              </a:rPr>
              <a:t>điểm</a:t>
            </a:r>
            <a:r>
              <a:rPr lang="en-US" sz="1400" dirty="0">
                <a:latin typeface="+mn-ea"/>
              </a:rPr>
              <a:t> </a:t>
            </a:r>
            <a:r>
              <a:rPr lang="en-US" sz="1400" dirty="0" err="1">
                <a:latin typeface="+mn-ea"/>
              </a:rPr>
              <a:t>bắt</a:t>
            </a:r>
            <a:r>
              <a:rPr lang="en-US" sz="1400" dirty="0">
                <a:latin typeface="+mn-ea"/>
              </a:rPr>
              <a:t> </a:t>
            </a:r>
            <a:r>
              <a:rPr lang="en-US" sz="1400" dirty="0" err="1">
                <a:latin typeface="+mn-ea"/>
              </a:rPr>
              <a:t>đầu</a:t>
            </a:r>
            <a:r>
              <a:rPr lang="en-US" sz="1400" dirty="0">
                <a:latin typeface="+mn-ea"/>
              </a:rPr>
              <a:t> </a:t>
            </a:r>
            <a:r>
              <a:rPr lang="en-US" sz="1400" dirty="0" err="1">
                <a:latin typeface="+mn-ea"/>
              </a:rPr>
              <a:t>của</a:t>
            </a:r>
            <a:r>
              <a:rPr lang="en-US" sz="1400" dirty="0">
                <a:latin typeface="+mn-ea"/>
              </a:rPr>
              <a:t> </a:t>
            </a:r>
            <a:r>
              <a:rPr lang="en-US" sz="1400" dirty="0" err="1">
                <a:latin typeface="+mn-ea"/>
              </a:rPr>
              <a:t>từng</a:t>
            </a:r>
            <a:r>
              <a:rPr lang="en-US" sz="1400" dirty="0">
                <a:latin typeface="+mn-ea"/>
              </a:rPr>
              <a:t> lane.</a:t>
            </a:r>
          </a:p>
          <a:p>
            <a:r>
              <a:rPr lang="en-US" sz="1400" dirty="0" err="1">
                <a:latin typeface="+mn-ea"/>
              </a:rPr>
              <a:t>Nó</a:t>
            </a:r>
            <a:r>
              <a:rPr lang="en-US" sz="1400" dirty="0">
                <a:latin typeface="+mn-ea"/>
              </a:rPr>
              <a:t> </a:t>
            </a:r>
            <a:r>
              <a:rPr lang="en-US" sz="1400" dirty="0" err="1">
                <a:latin typeface="+mn-ea"/>
              </a:rPr>
              <a:t>sinh</a:t>
            </a:r>
            <a:r>
              <a:rPr lang="en-US" sz="1400" dirty="0">
                <a:latin typeface="+mn-ea"/>
              </a:rPr>
              <a:t> </a:t>
            </a:r>
            <a:r>
              <a:rPr lang="en-US" sz="1400" dirty="0" err="1">
                <a:latin typeface="+mn-ea"/>
              </a:rPr>
              <a:t>ra</a:t>
            </a:r>
            <a:r>
              <a:rPr lang="en-US" sz="1400" dirty="0">
                <a:latin typeface="+mn-ea"/>
              </a:rPr>
              <a:t>:</a:t>
            </a:r>
          </a:p>
          <a:p>
            <a:pPr lvl="0"/>
            <a:r>
              <a:rPr lang="vi-VN" sz="1400" b="1" dirty="0">
                <a:latin typeface="+mn-ea"/>
              </a:rPr>
              <a:t>- </a:t>
            </a:r>
            <a:r>
              <a:rPr lang="en-US" sz="1400" b="1" dirty="0">
                <a:latin typeface="+mn-ea"/>
              </a:rPr>
              <a:t>Proposal heatmap:</a:t>
            </a:r>
            <a:r>
              <a:rPr lang="en-US" sz="1400" dirty="0">
                <a:latin typeface="+mn-ea"/>
              </a:rPr>
              <a:t> </a:t>
            </a:r>
            <a:r>
              <a:rPr lang="en-US" sz="1400" dirty="0" err="1">
                <a:latin typeface="+mn-ea"/>
              </a:rPr>
              <a:t>vị</a:t>
            </a:r>
            <a:r>
              <a:rPr lang="en-US" sz="1400" dirty="0">
                <a:latin typeface="+mn-ea"/>
              </a:rPr>
              <a:t> </a:t>
            </a:r>
            <a:r>
              <a:rPr lang="en-US" sz="1400" dirty="0" err="1">
                <a:latin typeface="+mn-ea"/>
              </a:rPr>
              <a:t>trí</a:t>
            </a:r>
            <a:r>
              <a:rPr lang="en-US" sz="1400" dirty="0">
                <a:latin typeface="+mn-ea"/>
              </a:rPr>
              <a:t> </a:t>
            </a:r>
            <a:r>
              <a:rPr lang="en-US" sz="1400" dirty="0" err="1">
                <a:latin typeface="+mn-ea"/>
              </a:rPr>
              <a:t>có</a:t>
            </a:r>
            <a:r>
              <a:rPr lang="en-US" sz="1400" dirty="0">
                <a:latin typeface="+mn-ea"/>
              </a:rPr>
              <a:t> </a:t>
            </a:r>
            <a:r>
              <a:rPr lang="en-US" sz="1400" dirty="0" err="1">
                <a:latin typeface="+mn-ea"/>
              </a:rPr>
              <a:t>khả</a:t>
            </a:r>
            <a:r>
              <a:rPr lang="en-US" sz="1400" dirty="0">
                <a:latin typeface="+mn-ea"/>
              </a:rPr>
              <a:t> </a:t>
            </a:r>
            <a:r>
              <a:rPr lang="en-US" sz="1400" dirty="0" err="1">
                <a:latin typeface="+mn-ea"/>
              </a:rPr>
              <a:t>năng</a:t>
            </a:r>
            <a:r>
              <a:rPr lang="en-US" sz="1400" dirty="0">
                <a:latin typeface="+mn-ea"/>
              </a:rPr>
              <a:t> </a:t>
            </a:r>
            <a:r>
              <a:rPr lang="en-US" sz="1400" dirty="0" err="1">
                <a:latin typeface="+mn-ea"/>
              </a:rPr>
              <a:t>chứa</a:t>
            </a:r>
            <a:r>
              <a:rPr lang="en-US" sz="1400" dirty="0">
                <a:latin typeface="+mn-ea"/>
              </a:rPr>
              <a:t> </a:t>
            </a:r>
            <a:r>
              <a:rPr lang="en-US" sz="1400" dirty="0" err="1">
                <a:latin typeface="+mn-ea"/>
              </a:rPr>
              <a:t>một</a:t>
            </a:r>
            <a:r>
              <a:rPr lang="en-US" sz="1400" dirty="0">
                <a:latin typeface="+mn-ea"/>
              </a:rPr>
              <a:t> lane instance.</a:t>
            </a:r>
          </a:p>
          <a:p>
            <a:pPr lvl="0"/>
            <a:r>
              <a:rPr lang="vi-VN" sz="1400" b="1" dirty="0">
                <a:latin typeface="+mn-ea"/>
              </a:rPr>
              <a:t>- </a:t>
            </a:r>
            <a:r>
              <a:rPr lang="en-US" sz="1400" b="1" dirty="0">
                <a:latin typeface="+mn-ea"/>
              </a:rPr>
              <a:t>Parameter map:</a:t>
            </a:r>
            <a:r>
              <a:rPr lang="en-US" sz="1400" dirty="0">
                <a:latin typeface="+mn-ea"/>
              </a:rPr>
              <a:t> </a:t>
            </a:r>
            <a:r>
              <a:rPr lang="en-US" sz="1400" dirty="0" err="1">
                <a:latin typeface="+mn-ea"/>
              </a:rPr>
              <a:t>các</a:t>
            </a:r>
            <a:r>
              <a:rPr lang="en-US" sz="1400" dirty="0">
                <a:latin typeface="+mn-ea"/>
              </a:rPr>
              <a:t> </a:t>
            </a:r>
            <a:r>
              <a:rPr lang="en-US" sz="1400" dirty="0" err="1">
                <a:latin typeface="+mn-ea"/>
              </a:rPr>
              <a:t>tham</a:t>
            </a:r>
            <a:r>
              <a:rPr lang="en-US" sz="1400" dirty="0">
                <a:latin typeface="+mn-ea"/>
              </a:rPr>
              <a:t> </a:t>
            </a:r>
            <a:r>
              <a:rPr lang="en-US" sz="1400" dirty="0" err="1">
                <a:latin typeface="+mn-ea"/>
              </a:rPr>
              <a:t>số</a:t>
            </a:r>
            <a:r>
              <a:rPr lang="en-US" sz="1400" dirty="0">
                <a:latin typeface="+mn-ea"/>
              </a:rPr>
              <a:t> </a:t>
            </a:r>
            <a:r>
              <a:rPr lang="en-US" sz="1400" dirty="0" err="1">
                <a:latin typeface="+mn-ea"/>
              </a:rPr>
              <a:t>dùng</a:t>
            </a:r>
            <a:r>
              <a:rPr lang="en-US" sz="1400" dirty="0">
                <a:latin typeface="+mn-ea"/>
              </a:rPr>
              <a:t> </a:t>
            </a:r>
            <a:r>
              <a:rPr lang="en-US" sz="1400" dirty="0" err="1">
                <a:latin typeface="+mn-ea"/>
              </a:rPr>
              <a:t>để</a:t>
            </a:r>
            <a:r>
              <a:rPr lang="en-US" sz="1400" dirty="0">
                <a:latin typeface="+mn-ea"/>
              </a:rPr>
              <a:t> </a:t>
            </a:r>
            <a:r>
              <a:rPr lang="en-US" sz="1400" dirty="0" err="1">
                <a:latin typeface="+mn-ea"/>
              </a:rPr>
              <a:t>tạo</a:t>
            </a:r>
            <a:r>
              <a:rPr lang="en-US" sz="1400" dirty="0">
                <a:latin typeface="+mn-ea"/>
              </a:rPr>
              <a:t> dynamic kernel </a:t>
            </a:r>
            <a:r>
              <a:rPr lang="en-US" sz="1400" dirty="0" err="1">
                <a:latin typeface="+mn-ea"/>
              </a:rPr>
              <a:t>cho</a:t>
            </a:r>
            <a:r>
              <a:rPr lang="en-US" sz="1400" dirty="0">
                <a:latin typeface="+mn-ea"/>
              </a:rPr>
              <a:t> lane </a:t>
            </a:r>
            <a:r>
              <a:rPr lang="en-US" sz="1400" dirty="0" err="1">
                <a:latin typeface="+mn-ea"/>
              </a:rPr>
              <a:t>đó</a:t>
            </a:r>
            <a:r>
              <a:rPr lang="en-US" sz="1400" dirty="0">
                <a:latin typeface="+mn-ea"/>
              </a:rPr>
              <a:t>.</a:t>
            </a:r>
          </a:p>
          <a:p>
            <a:pPr marL="25" indent="-15">
              <a:lnSpc>
                <a:spcPct val="108000"/>
              </a:lnSpc>
              <a:spcAft>
                <a:spcPts val="8"/>
              </a:spcAft>
              <a:buNone/>
              <a:defRPr sz="1350">
                <a:solidFill>
                  <a:srgbClr val="1A1A1A"/>
                </a:solidFill>
                <a:latin typeface="Arial"/>
                <a:ea typeface="Arial"/>
                <a:cs typeface="Arial"/>
              </a:defRPr>
            </a:pPr>
            <a:endParaRPr sz="1400" dirty="0">
              <a:solidFill>
                <a:srgbClr val="1A1A1A"/>
              </a:solidFill>
              <a:latin typeface="+mn-ea"/>
              <a:cs typeface="Arial"/>
            </a:endParaRPr>
          </a:p>
          <a:p>
            <a:r>
              <a:rPr sz="1400" b="1" dirty="0">
                <a:solidFill>
                  <a:srgbClr val="1A1A1A"/>
                </a:solidFill>
                <a:highlight>
                  <a:srgbClr val="FFFF00"/>
                </a:highlight>
                <a:latin typeface="+mn-ea"/>
                <a:cs typeface="Arial"/>
              </a:rPr>
              <a:t>3. </a:t>
            </a:r>
            <a:r>
              <a:rPr lang="en-US" sz="1400" b="1" dirty="0">
                <a:solidFill>
                  <a:srgbClr val="1A1A1A"/>
                </a:solidFill>
                <a:highlight>
                  <a:srgbClr val="FFFF00"/>
                </a:highlight>
                <a:latin typeface="+mn-ea"/>
              </a:rPr>
              <a:t>Dynamic kernel</a:t>
            </a:r>
            <a:r>
              <a:rPr sz="1400" b="1" dirty="0">
                <a:solidFill>
                  <a:srgbClr val="1A1A1A"/>
                </a:solidFill>
                <a:highlight>
                  <a:srgbClr val="FFFF00"/>
                </a:highlight>
                <a:latin typeface="+mn-ea"/>
                <a:cs typeface="Arial"/>
              </a:rPr>
              <a:t>: </a:t>
            </a:r>
            <a:r>
              <a:rPr lang="en-US" sz="1400" dirty="0" err="1">
                <a:latin typeface="+mn-ea"/>
              </a:rPr>
              <a:t>Tại</a:t>
            </a:r>
            <a:r>
              <a:rPr lang="en-US" sz="1400" dirty="0">
                <a:latin typeface="+mn-ea"/>
              </a:rPr>
              <a:t> </a:t>
            </a:r>
            <a:r>
              <a:rPr lang="en-US" sz="1400" dirty="0" err="1">
                <a:latin typeface="+mn-ea"/>
              </a:rPr>
              <a:t>mỗi</a:t>
            </a:r>
            <a:r>
              <a:rPr lang="en-US" sz="1400" dirty="0">
                <a:latin typeface="+mn-ea"/>
              </a:rPr>
              <a:t> proposal </a:t>
            </a:r>
            <a:r>
              <a:rPr lang="en-US" sz="1400" dirty="0" err="1">
                <a:latin typeface="+mn-ea"/>
              </a:rPr>
              <a:t>được</a:t>
            </a:r>
            <a:r>
              <a:rPr lang="en-US" sz="1400" dirty="0">
                <a:latin typeface="+mn-ea"/>
              </a:rPr>
              <a:t> </a:t>
            </a:r>
            <a:r>
              <a:rPr lang="en-US" sz="1400" dirty="0" err="1">
                <a:latin typeface="+mn-ea"/>
              </a:rPr>
              <a:t>phát</a:t>
            </a:r>
            <a:r>
              <a:rPr lang="en-US" sz="1400" dirty="0">
                <a:latin typeface="+mn-ea"/>
              </a:rPr>
              <a:t> </a:t>
            </a:r>
            <a:r>
              <a:rPr lang="en-US" sz="1400" dirty="0" err="1">
                <a:latin typeface="+mn-ea"/>
              </a:rPr>
              <a:t>hiện</a:t>
            </a:r>
            <a:r>
              <a:rPr lang="en-US" sz="1400" dirty="0">
                <a:latin typeface="+mn-ea"/>
              </a:rPr>
              <a:t>, </a:t>
            </a:r>
            <a:r>
              <a:rPr lang="en-US" sz="1400" dirty="0" err="1">
                <a:latin typeface="+mn-ea"/>
              </a:rPr>
              <a:t>mô</a:t>
            </a:r>
            <a:r>
              <a:rPr lang="en-US" sz="1400" dirty="0">
                <a:latin typeface="+mn-ea"/>
              </a:rPr>
              <a:t> </a:t>
            </a:r>
            <a:r>
              <a:rPr lang="en-US" sz="1400" dirty="0" err="1">
                <a:latin typeface="+mn-ea"/>
              </a:rPr>
              <a:t>hình</a:t>
            </a:r>
            <a:r>
              <a:rPr lang="en-US" sz="1400" dirty="0">
                <a:latin typeface="+mn-ea"/>
              </a:rPr>
              <a:t> </a:t>
            </a:r>
            <a:r>
              <a:rPr lang="en-US" sz="1400" dirty="0" err="1">
                <a:latin typeface="+mn-ea"/>
              </a:rPr>
              <a:t>lấy</a:t>
            </a:r>
            <a:r>
              <a:rPr lang="en-US" sz="1400" dirty="0">
                <a:latin typeface="+mn-ea"/>
              </a:rPr>
              <a:t> </a:t>
            </a:r>
            <a:r>
              <a:rPr lang="en-US" sz="1400" dirty="0" err="1">
                <a:latin typeface="+mn-ea"/>
              </a:rPr>
              <a:t>một</a:t>
            </a:r>
            <a:r>
              <a:rPr lang="en-US" sz="1400" dirty="0">
                <a:latin typeface="+mn-ea"/>
              </a:rPr>
              <a:t> vector </a:t>
            </a:r>
            <a:r>
              <a:rPr lang="en-US" sz="1400" dirty="0" err="1">
                <a:latin typeface="+mn-ea"/>
              </a:rPr>
              <a:t>tham</a:t>
            </a:r>
            <a:r>
              <a:rPr lang="en-US" sz="1400" dirty="0">
                <a:latin typeface="+mn-ea"/>
              </a:rPr>
              <a:t> </a:t>
            </a:r>
            <a:r>
              <a:rPr lang="en-US" sz="1400" dirty="0" err="1">
                <a:latin typeface="+mn-ea"/>
              </a:rPr>
              <a:t>số</a:t>
            </a:r>
            <a:r>
              <a:rPr lang="en-US" sz="1400" dirty="0">
                <a:latin typeface="+mn-ea"/>
              </a:rPr>
              <a:t> </a:t>
            </a:r>
            <a:r>
              <a:rPr lang="en-US" sz="1400" dirty="0" err="1">
                <a:latin typeface="+mn-ea"/>
              </a:rPr>
              <a:t>từ</a:t>
            </a:r>
            <a:r>
              <a:rPr lang="en-US" sz="1400" dirty="0">
                <a:latin typeface="+mn-ea"/>
              </a:rPr>
              <a:t> parameter map. Vector </a:t>
            </a:r>
            <a:r>
              <a:rPr lang="en-US" sz="1400" dirty="0" err="1">
                <a:latin typeface="+mn-ea"/>
              </a:rPr>
              <a:t>này</a:t>
            </a:r>
            <a:r>
              <a:rPr lang="en-US" sz="1400" dirty="0">
                <a:latin typeface="+mn-ea"/>
              </a:rPr>
              <a:t> </a:t>
            </a:r>
            <a:r>
              <a:rPr lang="en-US" sz="1400" dirty="0" err="1">
                <a:latin typeface="+mn-ea"/>
              </a:rPr>
              <a:t>được</a:t>
            </a:r>
            <a:r>
              <a:rPr lang="en-US" sz="1400" dirty="0">
                <a:latin typeface="+mn-ea"/>
              </a:rPr>
              <a:t> </a:t>
            </a:r>
            <a:r>
              <a:rPr lang="en-US" sz="1400" dirty="0" err="1">
                <a:latin typeface="+mn-ea"/>
              </a:rPr>
              <a:t>chuyển</a:t>
            </a:r>
            <a:r>
              <a:rPr lang="en-US" sz="1400" dirty="0">
                <a:latin typeface="+mn-ea"/>
              </a:rPr>
              <a:t> </a:t>
            </a:r>
            <a:r>
              <a:rPr lang="en-US" sz="1400" dirty="0" err="1">
                <a:latin typeface="+mn-ea"/>
              </a:rPr>
              <a:t>thành</a:t>
            </a:r>
            <a:r>
              <a:rPr lang="en-US" sz="1400" dirty="0">
                <a:latin typeface="+mn-ea"/>
              </a:rPr>
              <a:t> kernel </a:t>
            </a:r>
            <a:r>
              <a:rPr lang="en-US" sz="1400" dirty="0" err="1">
                <a:latin typeface="+mn-ea"/>
              </a:rPr>
              <a:t>riêng</a:t>
            </a:r>
            <a:r>
              <a:rPr lang="en-US" sz="1400" dirty="0">
                <a:latin typeface="+mn-ea"/>
              </a:rPr>
              <a:t> </a:t>
            </a:r>
            <a:r>
              <a:rPr lang="en-US" sz="1400" dirty="0" err="1">
                <a:latin typeface="+mn-ea"/>
              </a:rPr>
              <a:t>cho</a:t>
            </a:r>
            <a:r>
              <a:rPr lang="en-US" sz="1400" dirty="0">
                <a:latin typeface="+mn-ea"/>
              </a:rPr>
              <a:t> lane instance.</a:t>
            </a:r>
          </a:p>
          <a:p>
            <a:r>
              <a:rPr lang="en-US" sz="1400" dirty="0">
                <a:latin typeface="+mn-ea"/>
              </a:rPr>
              <a:t>Kernel </a:t>
            </a:r>
            <a:r>
              <a:rPr lang="en-US" sz="1400" dirty="0" err="1">
                <a:latin typeface="+mn-ea"/>
              </a:rPr>
              <a:t>được</a:t>
            </a:r>
            <a:r>
              <a:rPr lang="en-US" sz="1400" dirty="0">
                <a:latin typeface="+mn-ea"/>
              </a:rPr>
              <a:t> </a:t>
            </a:r>
            <a:r>
              <a:rPr lang="en-US" sz="1400" dirty="0" err="1">
                <a:latin typeface="+mn-ea"/>
              </a:rPr>
              <a:t>áp</a:t>
            </a:r>
            <a:r>
              <a:rPr lang="en-US" sz="1400" dirty="0">
                <a:latin typeface="+mn-ea"/>
              </a:rPr>
              <a:t> </a:t>
            </a:r>
            <a:r>
              <a:rPr lang="en-US" sz="1400" dirty="0" err="1">
                <a:latin typeface="+mn-ea"/>
              </a:rPr>
              <a:t>dụng</a:t>
            </a:r>
            <a:r>
              <a:rPr lang="en-US" sz="1400" dirty="0">
                <a:latin typeface="+mn-ea"/>
              </a:rPr>
              <a:t> </a:t>
            </a:r>
            <a:r>
              <a:rPr lang="en-US" sz="1400" dirty="0" err="1">
                <a:latin typeface="+mn-ea"/>
              </a:rPr>
              <a:t>lên</a:t>
            </a:r>
            <a:r>
              <a:rPr lang="en-US" sz="1400" dirty="0">
                <a:latin typeface="+mn-ea"/>
              </a:rPr>
              <a:t> shared feature map </a:t>
            </a:r>
            <a:r>
              <a:rPr lang="en-US" sz="1400" dirty="0" err="1">
                <a:latin typeface="+mn-ea"/>
              </a:rPr>
              <a:t>để</a:t>
            </a:r>
            <a:r>
              <a:rPr lang="en-US" sz="1400" dirty="0">
                <a:latin typeface="+mn-ea"/>
              </a:rPr>
              <a:t> </a:t>
            </a:r>
            <a:r>
              <a:rPr lang="en-US" sz="1400" dirty="0" err="1">
                <a:latin typeface="+mn-ea"/>
              </a:rPr>
              <a:t>lấy</a:t>
            </a:r>
            <a:r>
              <a:rPr lang="en-US" sz="1400" dirty="0">
                <a:latin typeface="+mn-ea"/>
              </a:rPr>
              <a:t> </a:t>
            </a:r>
            <a:r>
              <a:rPr lang="en-US" sz="1400" dirty="0" err="1">
                <a:latin typeface="+mn-ea"/>
              </a:rPr>
              <a:t>ra</a:t>
            </a:r>
            <a:r>
              <a:rPr lang="en-US" sz="1400" dirty="0">
                <a:latin typeface="+mn-ea"/>
              </a:rPr>
              <a:t> </a:t>
            </a:r>
            <a:r>
              <a:rPr lang="en-US" sz="1400" dirty="0" err="1">
                <a:latin typeface="+mn-ea"/>
              </a:rPr>
              <a:t>hình</a:t>
            </a:r>
            <a:r>
              <a:rPr lang="en-US" sz="1400" dirty="0">
                <a:latin typeface="+mn-ea"/>
              </a:rPr>
              <a:t> </a:t>
            </a:r>
            <a:r>
              <a:rPr lang="en-US" sz="1400" dirty="0" err="1">
                <a:latin typeface="+mn-ea"/>
              </a:rPr>
              <a:t>dạng</a:t>
            </a:r>
            <a:r>
              <a:rPr lang="en-US" sz="1400" dirty="0">
                <a:latin typeface="+mn-ea"/>
              </a:rPr>
              <a:t> </a:t>
            </a:r>
            <a:r>
              <a:rPr lang="en-US" sz="1400" dirty="0" err="1">
                <a:latin typeface="+mn-ea"/>
              </a:rPr>
              <a:t>của</a:t>
            </a:r>
            <a:r>
              <a:rPr lang="en-US" sz="1400" dirty="0">
                <a:latin typeface="+mn-ea"/>
              </a:rPr>
              <a:t> lane </a:t>
            </a:r>
            <a:r>
              <a:rPr lang="en-US" sz="1400" dirty="0" err="1">
                <a:latin typeface="+mn-ea"/>
              </a:rPr>
              <a:t>tương</a:t>
            </a:r>
            <a:r>
              <a:rPr lang="en-US" sz="1400" dirty="0">
                <a:latin typeface="+mn-ea"/>
              </a:rPr>
              <a:t> </a:t>
            </a:r>
            <a:r>
              <a:rPr lang="en-US" sz="1400" dirty="0" err="1">
                <a:latin typeface="+mn-ea"/>
              </a:rPr>
              <a:t>ứng</a:t>
            </a:r>
            <a:r>
              <a:rPr lang="en-US" sz="1400" dirty="0">
                <a:latin typeface="+mn-ea"/>
              </a:rPr>
              <a:t>.</a:t>
            </a:r>
          </a:p>
          <a:p>
            <a:pPr marL="25" indent="-15">
              <a:lnSpc>
                <a:spcPct val="100000"/>
              </a:lnSpc>
              <a:spcAft>
                <a:spcPts val="0"/>
              </a:spcAft>
              <a:buNone/>
              <a:defRPr sz="1350">
                <a:solidFill>
                  <a:srgbClr val="1A1A1A"/>
                </a:solidFill>
                <a:latin typeface="Arial"/>
                <a:ea typeface="Arial"/>
                <a:cs typeface="Arial"/>
              </a:defRPr>
            </a:pPr>
            <a:r>
              <a:rPr sz="1400" b="1" dirty="0">
                <a:solidFill>
                  <a:srgbClr val="1A1A1A"/>
                </a:solidFill>
                <a:highlight>
                  <a:srgbClr val="FFFF00"/>
                </a:highlight>
                <a:latin typeface="+mn-ea"/>
                <a:cs typeface="Arial"/>
              </a:rPr>
              <a:t>4. </a:t>
            </a:r>
            <a:r>
              <a:rPr lang="en-US" sz="1400" b="1" dirty="0">
                <a:solidFill>
                  <a:srgbClr val="1A1A1A"/>
                </a:solidFill>
                <a:highlight>
                  <a:srgbClr val="FFFF00"/>
                </a:highlight>
                <a:latin typeface="+mn-ea"/>
              </a:rPr>
              <a:t>Row-wise lane formulation</a:t>
            </a:r>
            <a:r>
              <a:rPr sz="1400" b="1" dirty="0">
                <a:solidFill>
                  <a:srgbClr val="1A1A1A"/>
                </a:solidFill>
                <a:highlight>
                  <a:srgbClr val="FFFF00"/>
                </a:highlight>
                <a:latin typeface="+mn-ea"/>
                <a:cs typeface="Arial"/>
              </a:rPr>
              <a:t>:</a:t>
            </a:r>
            <a:r>
              <a:rPr lang="vi-VN" sz="1400" b="1" dirty="0">
                <a:solidFill>
                  <a:srgbClr val="1A1A1A"/>
                </a:solidFill>
                <a:highlight>
                  <a:srgbClr val="FFFF00"/>
                </a:highlight>
                <a:latin typeface="+mn-ea"/>
                <a:cs typeface="Arial"/>
              </a:rPr>
              <a:t> </a:t>
            </a:r>
            <a:r>
              <a:rPr lang="en-US" sz="1400" dirty="0" err="1">
                <a:solidFill>
                  <a:srgbClr val="1A1A1A"/>
                </a:solidFill>
                <a:latin typeface="+mn-ea"/>
              </a:rPr>
              <a:t>CondLaneNet</a:t>
            </a:r>
            <a:r>
              <a:rPr lang="en-US" sz="1400" dirty="0">
                <a:solidFill>
                  <a:srgbClr val="1A1A1A"/>
                </a:solidFill>
                <a:latin typeface="+mn-ea"/>
              </a:rPr>
              <a:t> </a:t>
            </a:r>
            <a:r>
              <a:rPr lang="en-US" sz="1400" dirty="0" err="1">
                <a:solidFill>
                  <a:srgbClr val="1A1A1A"/>
                </a:solidFill>
                <a:latin typeface="+mn-ea"/>
              </a:rPr>
              <a:t>không</a:t>
            </a:r>
            <a:r>
              <a:rPr lang="en-US" sz="1400" dirty="0">
                <a:solidFill>
                  <a:srgbClr val="1A1A1A"/>
                </a:solidFill>
                <a:latin typeface="+mn-ea"/>
              </a:rPr>
              <a:t> </a:t>
            </a:r>
            <a:r>
              <a:rPr lang="en-US" sz="1400" dirty="0" err="1">
                <a:solidFill>
                  <a:srgbClr val="1A1A1A"/>
                </a:solidFill>
                <a:latin typeface="+mn-ea"/>
              </a:rPr>
              <a:t>dự</a:t>
            </a:r>
            <a:r>
              <a:rPr lang="en-US" sz="1400" dirty="0">
                <a:solidFill>
                  <a:srgbClr val="1A1A1A"/>
                </a:solidFill>
                <a:latin typeface="+mn-ea"/>
              </a:rPr>
              <a:t> </a:t>
            </a:r>
            <a:r>
              <a:rPr lang="en-US" sz="1400" dirty="0" err="1">
                <a:solidFill>
                  <a:srgbClr val="1A1A1A"/>
                </a:solidFill>
                <a:latin typeface="+mn-ea"/>
              </a:rPr>
              <a:t>đoán</a:t>
            </a:r>
            <a:r>
              <a:rPr lang="en-US" sz="1400" dirty="0">
                <a:solidFill>
                  <a:srgbClr val="1A1A1A"/>
                </a:solidFill>
                <a:latin typeface="+mn-ea"/>
              </a:rPr>
              <a:t> </a:t>
            </a:r>
            <a:r>
              <a:rPr lang="en-US" sz="1400" dirty="0" err="1">
                <a:solidFill>
                  <a:srgbClr val="1A1A1A"/>
                </a:solidFill>
                <a:latin typeface="+mn-ea"/>
              </a:rPr>
              <a:t>toàn</a:t>
            </a:r>
            <a:r>
              <a:rPr lang="en-US" sz="1400" dirty="0">
                <a:solidFill>
                  <a:srgbClr val="1A1A1A"/>
                </a:solidFill>
                <a:latin typeface="+mn-ea"/>
              </a:rPr>
              <a:t> </a:t>
            </a:r>
            <a:r>
              <a:rPr lang="en-US" sz="1400" dirty="0" err="1">
                <a:solidFill>
                  <a:srgbClr val="1A1A1A"/>
                </a:solidFill>
                <a:latin typeface="+mn-ea"/>
              </a:rPr>
              <a:t>bộ</a:t>
            </a:r>
            <a:r>
              <a:rPr lang="en-US" sz="1400" dirty="0">
                <a:solidFill>
                  <a:srgbClr val="1A1A1A"/>
                </a:solidFill>
                <a:latin typeface="+mn-ea"/>
              </a:rPr>
              <a:t> mask </a:t>
            </a:r>
            <a:r>
              <a:rPr lang="en-US" sz="1400" dirty="0" err="1">
                <a:solidFill>
                  <a:srgbClr val="1A1A1A"/>
                </a:solidFill>
                <a:latin typeface="+mn-ea"/>
              </a:rPr>
              <a:t>dày</a:t>
            </a:r>
            <a:r>
              <a:rPr lang="en-US" sz="1400" dirty="0">
                <a:solidFill>
                  <a:srgbClr val="1A1A1A"/>
                </a:solidFill>
                <a:latin typeface="+mn-ea"/>
              </a:rPr>
              <a:t> </a:t>
            </a:r>
            <a:r>
              <a:rPr lang="en-US" sz="1400" dirty="0" err="1">
                <a:solidFill>
                  <a:srgbClr val="1A1A1A"/>
                </a:solidFill>
                <a:latin typeface="+mn-ea"/>
              </a:rPr>
              <a:t>đặc</a:t>
            </a:r>
            <a:r>
              <a:rPr lang="en-US" sz="1400" dirty="0">
                <a:solidFill>
                  <a:srgbClr val="1A1A1A"/>
                </a:solidFill>
                <a:latin typeface="+mn-ea"/>
              </a:rPr>
              <a:t>. Thay </a:t>
            </a:r>
            <a:r>
              <a:rPr lang="en-US" sz="1400" dirty="0" err="1">
                <a:solidFill>
                  <a:srgbClr val="1A1A1A"/>
                </a:solidFill>
                <a:latin typeface="+mn-ea"/>
              </a:rPr>
              <a:t>vào</a:t>
            </a:r>
            <a:r>
              <a:rPr lang="en-US" sz="1400" dirty="0">
                <a:solidFill>
                  <a:srgbClr val="1A1A1A"/>
                </a:solidFill>
                <a:latin typeface="+mn-ea"/>
              </a:rPr>
              <a:t> </a:t>
            </a:r>
            <a:r>
              <a:rPr lang="en-US" sz="1400" dirty="0" err="1">
                <a:solidFill>
                  <a:srgbClr val="1A1A1A"/>
                </a:solidFill>
                <a:latin typeface="+mn-ea"/>
              </a:rPr>
              <a:t>đó</a:t>
            </a:r>
            <a:r>
              <a:rPr lang="en-US" sz="1400" dirty="0">
                <a:solidFill>
                  <a:srgbClr val="1A1A1A"/>
                </a:solidFill>
                <a:latin typeface="+mn-ea"/>
              </a:rPr>
              <a:t>, </a:t>
            </a:r>
            <a:r>
              <a:rPr lang="en-US" sz="1400" dirty="0" err="1">
                <a:solidFill>
                  <a:srgbClr val="1A1A1A"/>
                </a:solidFill>
                <a:latin typeface="+mn-ea"/>
              </a:rPr>
              <a:t>với</a:t>
            </a:r>
            <a:r>
              <a:rPr lang="en-US" sz="1400" dirty="0">
                <a:solidFill>
                  <a:srgbClr val="1A1A1A"/>
                </a:solidFill>
                <a:latin typeface="+mn-ea"/>
              </a:rPr>
              <a:t> </a:t>
            </a:r>
            <a:r>
              <a:rPr lang="en-US" sz="1400" dirty="0" err="1">
                <a:solidFill>
                  <a:srgbClr val="1A1A1A"/>
                </a:solidFill>
                <a:latin typeface="+mn-ea"/>
              </a:rPr>
              <a:t>mỗi</a:t>
            </a:r>
            <a:r>
              <a:rPr lang="en-US" sz="1400" dirty="0">
                <a:solidFill>
                  <a:srgbClr val="1A1A1A"/>
                </a:solidFill>
                <a:latin typeface="+mn-ea"/>
              </a:rPr>
              <a:t> </a:t>
            </a:r>
            <a:r>
              <a:rPr lang="en-US" sz="1400" dirty="0" err="1">
                <a:solidFill>
                  <a:srgbClr val="1A1A1A"/>
                </a:solidFill>
                <a:latin typeface="+mn-ea"/>
              </a:rPr>
              <a:t>hàng</a:t>
            </a:r>
            <a:r>
              <a:rPr lang="en-US" sz="1400" dirty="0">
                <a:solidFill>
                  <a:srgbClr val="1A1A1A"/>
                </a:solidFill>
                <a:latin typeface="+mn-ea"/>
              </a:rPr>
              <a:t> </a:t>
            </a:r>
            <a:r>
              <a:rPr lang="vi-VN" sz="1400" i="1" dirty="0">
                <a:solidFill>
                  <a:srgbClr val="1A1A1A"/>
                </a:solidFill>
                <a:latin typeface="+mn-ea"/>
              </a:rPr>
              <a:t>y</a:t>
            </a:r>
            <a:r>
              <a:rPr lang="vi-VN" sz="1400" dirty="0">
                <a:solidFill>
                  <a:srgbClr val="1A1A1A"/>
                </a:solidFill>
                <a:latin typeface="+mn-ea"/>
              </a:rPr>
              <a:t>, </a:t>
            </a:r>
            <a:r>
              <a:rPr lang="en-US" sz="1400" dirty="0" err="1">
                <a:solidFill>
                  <a:srgbClr val="1A1A1A"/>
                </a:solidFill>
                <a:latin typeface="+mn-ea"/>
              </a:rPr>
              <a:t>mô</a:t>
            </a:r>
            <a:r>
              <a:rPr lang="en-US" sz="1400" dirty="0">
                <a:solidFill>
                  <a:srgbClr val="1A1A1A"/>
                </a:solidFill>
                <a:latin typeface="+mn-ea"/>
              </a:rPr>
              <a:t> </a:t>
            </a:r>
            <a:r>
              <a:rPr lang="en-US" sz="1400" dirty="0" err="1">
                <a:solidFill>
                  <a:srgbClr val="1A1A1A"/>
                </a:solidFill>
                <a:latin typeface="+mn-ea"/>
              </a:rPr>
              <a:t>hình</a:t>
            </a:r>
            <a:r>
              <a:rPr lang="en-US" sz="1400" dirty="0">
                <a:solidFill>
                  <a:srgbClr val="1A1A1A"/>
                </a:solidFill>
                <a:latin typeface="+mn-ea"/>
              </a:rPr>
              <a:t> </a:t>
            </a:r>
            <a:r>
              <a:rPr lang="en-US" sz="1400" dirty="0" err="1">
                <a:solidFill>
                  <a:srgbClr val="1A1A1A"/>
                </a:solidFill>
                <a:latin typeface="+mn-ea"/>
              </a:rPr>
              <a:t>dự</a:t>
            </a:r>
            <a:r>
              <a:rPr lang="en-US" sz="1400" dirty="0">
                <a:solidFill>
                  <a:srgbClr val="1A1A1A"/>
                </a:solidFill>
                <a:latin typeface="+mn-ea"/>
              </a:rPr>
              <a:t> </a:t>
            </a:r>
            <a:r>
              <a:rPr lang="en-US" sz="1400" dirty="0" err="1">
                <a:solidFill>
                  <a:srgbClr val="1A1A1A"/>
                </a:solidFill>
                <a:latin typeface="+mn-ea"/>
              </a:rPr>
              <a:t>đoán</a:t>
            </a:r>
            <a:r>
              <a:rPr lang="en-US" sz="1400" dirty="0">
                <a:solidFill>
                  <a:srgbClr val="1A1A1A"/>
                </a:solidFill>
                <a:latin typeface="+mn-ea"/>
              </a:rPr>
              <a:t> </a:t>
            </a:r>
            <a:r>
              <a:rPr lang="en-US" sz="1400" dirty="0" err="1">
                <a:solidFill>
                  <a:srgbClr val="1A1A1A"/>
                </a:solidFill>
                <a:latin typeface="+mn-ea"/>
              </a:rPr>
              <a:t>vị</a:t>
            </a:r>
            <a:r>
              <a:rPr lang="en-US" sz="1400" dirty="0">
                <a:solidFill>
                  <a:srgbClr val="1A1A1A"/>
                </a:solidFill>
                <a:latin typeface="+mn-ea"/>
              </a:rPr>
              <a:t> </a:t>
            </a:r>
            <a:r>
              <a:rPr lang="en-US" sz="1400" dirty="0" err="1">
                <a:solidFill>
                  <a:srgbClr val="1A1A1A"/>
                </a:solidFill>
                <a:latin typeface="+mn-ea"/>
              </a:rPr>
              <a:t>trí</a:t>
            </a:r>
            <a:r>
              <a:rPr lang="en-US" sz="1400" dirty="0">
                <a:solidFill>
                  <a:srgbClr val="1A1A1A"/>
                </a:solidFill>
                <a:latin typeface="+mn-ea"/>
              </a:rPr>
              <a:t> </a:t>
            </a:r>
            <a:r>
              <a:rPr lang="en-US" sz="1400" dirty="0" err="1">
                <a:solidFill>
                  <a:srgbClr val="1A1A1A"/>
                </a:solidFill>
                <a:latin typeface="+mn-ea"/>
              </a:rPr>
              <a:t>ngang</a:t>
            </a:r>
            <a:r>
              <a:rPr lang="en-US" sz="1400" dirty="0">
                <a:solidFill>
                  <a:srgbClr val="1A1A1A"/>
                </a:solidFill>
                <a:latin typeface="+mn-ea"/>
              </a:rPr>
              <a:t> </a:t>
            </a:r>
            <a:r>
              <a:rPr lang="vi-VN" sz="1400" i="1" dirty="0">
                <a:solidFill>
                  <a:srgbClr val="1A1A1A"/>
                </a:solidFill>
                <a:latin typeface="+mn-ea"/>
              </a:rPr>
              <a:t>x</a:t>
            </a:r>
            <a:r>
              <a:rPr lang="vi-VN" sz="1400" dirty="0">
                <a:solidFill>
                  <a:srgbClr val="1A1A1A"/>
                </a:solidFill>
                <a:latin typeface="+mn-ea"/>
              </a:rPr>
              <a:t> </a:t>
            </a:r>
            <a:r>
              <a:rPr lang="en-US" sz="1400" dirty="0" err="1">
                <a:solidFill>
                  <a:srgbClr val="1A1A1A"/>
                </a:solidFill>
                <a:latin typeface="+mn-ea"/>
              </a:rPr>
              <a:t>của</a:t>
            </a:r>
            <a:r>
              <a:rPr lang="en-US" sz="1400" dirty="0">
                <a:solidFill>
                  <a:srgbClr val="1A1A1A"/>
                </a:solidFill>
                <a:latin typeface="+mn-ea"/>
              </a:rPr>
              <a:t> lane</a:t>
            </a:r>
            <a:endParaRPr lang="vi-VN" sz="1400" dirty="0">
              <a:solidFill>
                <a:srgbClr val="1A1A1A"/>
              </a:solidFill>
              <a:latin typeface="+mn-ea"/>
            </a:endParaRPr>
          </a:p>
          <a:p>
            <a:pPr marL="25" indent="-15">
              <a:lnSpc>
                <a:spcPct val="100000"/>
              </a:lnSpc>
              <a:spcAft>
                <a:spcPts val="0"/>
              </a:spcAft>
              <a:buNone/>
              <a:defRPr sz="1350">
                <a:solidFill>
                  <a:srgbClr val="1A1A1A"/>
                </a:solidFill>
                <a:latin typeface="Arial"/>
                <a:ea typeface="Arial"/>
                <a:cs typeface="Arial"/>
              </a:defRPr>
            </a:pPr>
            <a:r>
              <a:rPr lang="en-US" sz="1400" dirty="0" err="1">
                <a:solidFill>
                  <a:srgbClr val="1A1A1A"/>
                </a:solidFill>
                <a:latin typeface="+mn-ea"/>
              </a:rPr>
              <a:t>Cách</a:t>
            </a:r>
            <a:r>
              <a:rPr lang="en-US" sz="1400" dirty="0">
                <a:solidFill>
                  <a:srgbClr val="1A1A1A"/>
                </a:solidFill>
                <a:latin typeface="+mn-ea"/>
              </a:rPr>
              <a:t> </a:t>
            </a:r>
            <a:r>
              <a:rPr lang="en-US" sz="1400" dirty="0" err="1">
                <a:solidFill>
                  <a:srgbClr val="1A1A1A"/>
                </a:solidFill>
                <a:latin typeface="+mn-ea"/>
              </a:rPr>
              <a:t>biểu</a:t>
            </a:r>
            <a:r>
              <a:rPr lang="en-US" sz="1400" dirty="0">
                <a:solidFill>
                  <a:srgbClr val="1A1A1A"/>
                </a:solidFill>
                <a:latin typeface="+mn-ea"/>
              </a:rPr>
              <a:t> </a:t>
            </a:r>
            <a:r>
              <a:rPr lang="en-US" sz="1400" dirty="0" err="1">
                <a:solidFill>
                  <a:srgbClr val="1A1A1A"/>
                </a:solidFill>
                <a:latin typeface="+mn-ea"/>
              </a:rPr>
              <a:t>diễn</a:t>
            </a:r>
            <a:r>
              <a:rPr lang="en-US" sz="1400" dirty="0">
                <a:solidFill>
                  <a:srgbClr val="1A1A1A"/>
                </a:solidFill>
                <a:latin typeface="+mn-ea"/>
              </a:rPr>
              <a:t> </a:t>
            </a:r>
            <a:r>
              <a:rPr lang="en-US" sz="1400" dirty="0" err="1">
                <a:solidFill>
                  <a:srgbClr val="1A1A1A"/>
                </a:solidFill>
                <a:latin typeface="+mn-ea"/>
              </a:rPr>
              <a:t>này</a:t>
            </a:r>
            <a:r>
              <a:rPr lang="en-US" sz="1400" dirty="0">
                <a:solidFill>
                  <a:srgbClr val="1A1A1A"/>
                </a:solidFill>
                <a:latin typeface="+mn-ea"/>
              </a:rPr>
              <a:t> </a:t>
            </a:r>
            <a:r>
              <a:rPr lang="en-US" sz="1400" dirty="0" err="1">
                <a:solidFill>
                  <a:srgbClr val="1A1A1A"/>
                </a:solidFill>
                <a:latin typeface="+mn-ea"/>
              </a:rPr>
              <a:t>phù</a:t>
            </a:r>
            <a:r>
              <a:rPr lang="en-US" sz="1400" dirty="0">
                <a:solidFill>
                  <a:srgbClr val="1A1A1A"/>
                </a:solidFill>
                <a:latin typeface="+mn-ea"/>
              </a:rPr>
              <a:t> </a:t>
            </a:r>
            <a:r>
              <a:rPr lang="en-US" sz="1400" dirty="0" err="1">
                <a:solidFill>
                  <a:srgbClr val="1A1A1A"/>
                </a:solidFill>
                <a:latin typeface="+mn-ea"/>
              </a:rPr>
              <a:t>hợp</a:t>
            </a:r>
            <a:r>
              <a:rPr lang="en-US" sz="1400" dirty="0">
                <a:solidFill>
                  <a:srgbClr val="1A1A1A"/>
                </a:solidFill>
                <a:latin typeface="+mn-ea"/>
              </a:rPr>
              <a:t> </a:t>
            </a:r>
            <a:r>
              <a:rPr lang="en-US" sz="1400" dirty="0" err="1">
                <a:solidFill>
                  <a:srgbClr val="1A1A1A"/>
                </a:solidFill>
                <a:latin typeface="+mn-ea"/>
              </a:rPr>
              <a:t>với</a:t>
            </a:r>
            <a:r>
              <a:rPr lang="en-US" sz="1400" dirty="0">
                <a:solidFill>
                  <a:srgbClr val="1A1A1A"/>
                </a:solidFill>
                <a:latin typeface="+mn-ea"/>
              </a:rPr>
              <a:t> </a:t>
            </a:r>
            <a:r>
              <a:rPr lang="en-US" sz="1400" dirty="0" err="1">
                <a:solidFill>
                  <a:srgbClr val="1A1A1A"/>
                </a:solidFill>
                <a:latin typeface="+mn-ea"/>
              </a:rPr>
              <a:t>đặc</a:t>
            </a:r>
            <a:r>
              <a:rPr lang="en-US" sz="1400" dirty="0">
                <a:solidFill>
                  <a:srgbClr val="1A1A1A"/>
                </a:solidFill>
                <a:latin typeface="+mn-ea"/>
              </a:rPr>
              <a:t> </a:t>
            </a:r>
            <a:r>
              <a:rPr lang="en-US" sz="1400" dirty="0" err="1">
                <a:solidFill>
                  <a:srgbClr val="1A1A1A"/>
                </a:solidFill>
                <a:latin typeface="+mn-ea"/>
              </a:rPr>
              <a:t>tính</a:t>
            </a:r>
            <a:r>
              <a:rPr lang="en-US" sz="1400" dirty="0">
                <a:solidFill>
                  <a:srgbClr val="1A1A1A"/>
                </a:solidFill>
                <a:latin typeface="+mn-ea"/>
              </a:rPr>
              <a:t> </a:t>
            </a:r>
            <a:r>
              <a:rPr lang="en-US" sz="1400" dirty="0" err="1">
                <a:solidFill>
                  <a:srgbClr val="1A1A1A"/>
                </a:solidFill>
                <a:latin typeface="+mn-ea"/>
              </a:rPr>
              <a:t>hình</a:t>
            </a:r>
            <a:r>
              <a:rPr lang="en-US" sz="1400" dirty="0">
                <a:solidFill>
                  <a:srgbClr val="1A1A1A"/>
                </a:solidFill>
                <a:latin typeface="+mn-ea"/>
              </a:rPr>
              <a:t> </a:t>
            </a:r>
            <a:r>
              <a:rPr lang="en-US" sz="1400" dirty="0" err="1">
                <a:solidFill>
                  <a:srgbClr val="1A1A1A"/>
                </a:solidFill>
                <a:latin typeface="+mn-ea"/>
              </a:rPr>
              <a:t>học</a:t>
            </a:r>
            <a:r>
              <a:rPr lang="en-US" sz="1400" dirty="0">
                <a:solidFill>
                  <a:srgbClr val="1A1A1A"/>
                </a:solidFill>
                <a:latin typeface="+mn-ea"/>
              </a:rPr>
              <a:t> </a:t>
            </a:r>
            <a:r>
              <a:rPr lang="en-US" sz="1400" dirty="0" err="1">
                <a:solidFill>
                  <a:srgbClr val="1A1A1A"/>
                </a:solidFill>
                <a:latin typeface="+mn-ea"/>
              </a:rPr>
              <a:t>của</a:t>
            </a:r>
            <a:r>
              <a:rPr lang="en-US" sz="1400" dirty="0">
                <a:solidFill>
                  <a:srgbClr val="1A1A1A"/>
                </a:solidFill>
                <a:latin typeface="+mn-ea"/>
              </a:rPr>
              <a:t> lane, </a:t>
            </a:r>
            <a:r>
              <a:rPr lang="en-US" sz="1400" dirty="0" err="1">
                <a:solidFill>
                  <a:srgbClr val="1A1A1A"/>
                </a:solidFill>
                <a:latin typeface="+mn-ea"/>
              </a:rPr>
              <a:t>vì</a:t>
            </a:r>
            <a:r>
              <a:rPr lang="en-US" sz="1400" dirty="0">
                <a:solidFill>
                  <a:srgbClr val="1A1A1A"/>
                </a:solidFill>
                <a:latin typeface="+mn-ea"/>
              </a:rPr>
              <a:t> </a:t>
            </a:r>
            <a:r>
              <a:rPr lang="en-US" sz="1400" dirty="0" err="1">
                <a:solidFill>
                  <a:srgbClr val="1A1A1A"/>
                </a:solidFill>
                <a:latin typeface="+mn-ea"/>
              </a:rPr>
              <a:t>phần</a:t>
            </a:r>
            <a:r>
              <a:rPr lang="en-US" sz="1400" dirty="0">
                <a:solidFill>
                  <a:srgbClr val="1A1A1A"/>
                </a:solidFill>
                <a:latin typeface="+mn-ea"/>
              </a:rPr>
              <a:t> </a:t>
            </a:r>
            <a:r>
              <a:rPr lang="en-US" sz="1400" dirty="0" err="1">
                <a:solidFill>
                  <a:srgbClr val="1A1A1A"/>
                </a:solidFill>
                <a:latin typeface="+mn-ea"/>
              </a:rPr>
              <a:t>lớn</a:t>
            </a:r>
            <a:r>
              <a:rPr lang="en-US" sz="1400" dirty="0">
                <a:solidFill>
                  <a:srgbClr val="1A1A1A"/>
                </a:solidFill>
                <a:latin typeface="+mn-ea"/>
              </a:rPr>
              <a:t> lane </a:t>
            </a:r>
            <a:r>
              <a:rPr lang="en-US" sz="1400" dirty="0" err="1">
                <a:solidFill>
                  <a:srgbClr val="1A1A1A"/>
                </a:solidFill>
                <a:latin typeface="+mn-ea"/>
              </a:rPr>
              <a:t>có</a:t>
            </a:r>
            <a:r>
              <a:rPr lang="en-US" sz="1400" dirty="0">
                <a:solidFill>
                  <a:srgbClr val="1A1A1A"/>
                </a:solidFill>
                <a:latin typeface="+mn-ea"/>
              </a:rPr>
              <a:t> </a:t>
            </a:r>
            <a:r>
              <a:rPr lang="en-US" sz="1400" dirty="0" err="1">
                <a:solidFill>
                  <a:srgbClr val="1A1A1A"/>
                </a:solidFill>
                <a:latin typeface="+mn-ea"/>
              </a:rPr>
              <a:t>thể</a:t>
            </a:r>
            <a:r>
              <a:rPr lang="en-US" sz="1400" dirty="0">
                <a:solidFill>
                  <a:srgbClr val="1A1A1A"/>
                </a:solidFill>
                <a:latin typeface="+mn-ea"/>
              </a:rPr>
              <a:t> </a:t>
            </a:r>
            <a:r>
              <a:rPr lang="en-US" sz="1400" dirty="0" err="1">
                <a:solidFill>
                  <a:srgbClr val="1A1A1A"/>
                </a:solidFill>
                <a:latin typeface="+mn-ea"/>
              </a:rPr>
              <a:t>được</a:t>
            </a:r>
            <a:r>
              <a:rPr lang="en-US" sz="1400" dirty="0">
                <a:solidFill>
                  <a:srgbClr val="1A1A1A"/>
                </a:solidFill>
                <a:latin typeface="+mn-ea"/>
              </a:rPr>
              <a:t> </a:t>
            </a:r>
            <a:r>
              <a:rPr lang="en-US" sz="1400" dirty="0" err="1">
                <a:solidFill>
                  <a:srgbClr val="1A1A1A"/>
                </a:solidFill>
                <a:latin typeface="+mn-ea"/>
              </a:rPr>
              <a:t>mô</a:t>
            </a:r>
            <a:r>
              <a:rPr lang="en-US" sz="1400" dirty="0">
                <a:solidFill>
                  <a:srgbClr val="1A1A1A"/>
                </a:solidFill>
                <a:latin typeface="+mn-ea"/>
              </a:rPr>
              <a:t> </a:t>
            </a:r>
            <a:r>
              <a:rPr lang="en-US" sz="1400" dirty="0" err="1">
                <a:solidFill>
                  <a:srgbClr val="1A1A1A"/>
                </a:solidFill>
                <a:latin typeface="+mn-ea"/>
              </a:rPr>
              <a:t>tả</a:t>
            </a:r>
            <a:r>
              <a:rPr lang="en-US" sz="1400" dirty="0">
                <a:solidFill>
                  <a:srgbClr val="1A1A1A"/>
                </a:solidFill>
                <a:latin typeface="+mn-ea"/>
              </a:rPr>
              <a:t> </a:t>
            </a:r>
            <a:r>
              <a:rPr lang="en-US" sz="1400" dirty="0" err="1">
                <a:solidFill>
                  <a:srgbClr val="1A1A1A"/>
                </a:solidFill>
                <a:latin typeface="+mn-ea"/>
              </a:rPr>
              <a:t>bằng</a:t>
            </a:r>
            <a:r>
              <a:rPr lang="en-US" sz="1400" dirty="0">
                <a:solidFill>
                  <a:srgbClr val="1A1A1A"/>
                </a:solidFill>
                <a:latin typeface="+mn-ea"/>
              </a:rPr>
              <a:t> </a:t>
            </a:r>
            <a:r>
              <a:rPr lang="en-US" sz="1400" dirty="0" err="1">
                <a:solidFill>
                  <a:srgbClr val="1A1A1A"/>
                </a:solidFill>
                <a:latin typeface="+mn-ea"/>
              </a:rPr>
              <a:t>một</a:t>
            </a:r>
            <a:r>
              <a:rPr lang="en-US" sz="1400" dirty="0">
                <a:solidFill>
                  <a:srgbClr val="1A1A1A"/>
                </a:solidFill>
                <a:latin typeface="+mn-ea"/>
              </a:rPr>
              <a:t> </a:t>
            </a:r>
            <a:r>
              <a:rPr lang="en-US" sz="1400" dirty="0" err="1">
                <a:solidFill>
                  <a:srgbClr val="1A1A1A"/>
                </a:solidFill>
                <a:latin typeface="+mn-ea"/>
              </a:rPr>
              <a:t>vị</a:t>
            </a:r>
            <a:r>
              <a:rPr lang="en-US" sz="1400" dirty="0">
                <a:solidFill>
                  <a:srgbClr val="1A1A1A"/>
                </a:solidFill>
                <a:latin typeface="+mn-ea"/>
              </a:rPr>
              <a:t> </a:t>
            </a:r>
            <a:r>
              <a:rPr lang="en-US" sz="1400" dirty="0" err="1">
                <a:solidFill>
                  <a:srgbClr val="1A1A1A"/>
                </a:solidFill>
                <a:latin typeface="+mn-ea"/>
              </a:rPr>
              <a:t>trí</a:t>
            </a:r>
            <a:r>
              <a:rPr lang="en-US" sz="1400" dirty="0">
                <a:solidFill>
                  <a:srgbClr val="1A1A1A"/>
                </a:solidFill>
                <a:latin typeface="+mn-ea"/>
              </a:rPr>
              <a:t> </a:t>
            </a:r>
            <a:r>
              <a:rPr lang="en-US" sz="1400" dirty="0" err="1">
                <a:solidFill>
                  <a:srgbClr val="1A1A1A"/>
                </a:solidFill>
                <a:latin typeface="+mn-ea"/>
              </a:rPr>
              <a:t>ngang</a:t>
            </a:r>
            <a:r>
              <a:rPr lang="en-US" sz="1400" dirty="0">
                <a:solidFill>
                  <a:srgbClr val="1A1A1A"/>
                </a:solidFill>
                <a:latin typeface="+mn-ea"/>
              </a:rPr>
              <a:t> </a:t>
            </a:r>
            <a:r>
              <a:rPr lang="en-US" sz="1400" dirty="0" err="1">
                <a:solidFill>
                  <a:srgbClr val="1A1A1A"/>
                </a:solidFill>
                <a:latin typeface="+mn-ea"/>
              </a:rPr>
              <a:t>tại</a:t>
            </a:r>
            <a:r>
              <a:rPr lang="en-US" sz="1400" dirty="0">
                <a:solidFill>
                  <a:srgbClr val="1A1A1A"/>
                </a:solidFill>
                <a:latin typeface="+mn-ea"/>
              </a:rPr>
              <a:t> </a:t>
            </a:r>
            <a:r>
              <a:rPr lang="en-US" sz="1400" dirty="0" err="1">
                <a:solidFill>
                  <a:srgbClr val="1A1A1A"/>
                </a:solidFill>
                <a:latin typeface="+mn-ea"/>
              </a:rPr>
              <a:t>từng</a:t>
            </a:r>
            <a:r>
              <a:rPr lang="en-US" sz="1400" dirty="0">
                <a:solidFill>
                  <a:srgbClr val="1A1A1A"/>
                </a:solidFill>
                <a:latin typeface="+mn-ea"/>
              </a:rPr>
              <a:t> </a:t>
            </a:r>
            <a:r>
              <a:rPr lang="en-US" sz="1400" dirty="0" err="1">
                <a:solidFill>
                  <a:srgbClr val="1A1A1A"/>
                </a:solidFill>
                <a:latin typeface="+mn-ea"/>
              </a:rPr>
              <a:t>hàng</a:t>
            </a:r>
            <a:r>
              <a:rPr lang="en-US" sz="1400" dirty="0">
                <a:solidFill>
                  <a:srgbClr val="1A1A1A"/>
                </a:solidFill>
                <a:latin typeface="+mn-ea"/>
              </a:rPr>
              <a:t> </a:t>
            </a:r>
            <a:r>
              <a:rPr lang="en-US" sz="1400" dirty="0" err="1">
                <a:solidFill>
                  <a:srgbClr val="1A1A1A"/>
                </a:solidFill>
                <a:latin typeface="+mn-ea"/>
              </a:rPr>
              <a:t>ảnh</a:t>
            </a:r>
            <a:r>
              <a:rPr lang="en-US" sz="1400" dirty="0">
                <a:solidFill>
                  <a:srgbClr val="1A1A1A"/>
                </a:solidFill>
                <a:latin typeface="+mn-ea"/>
              </a:rPr>
              <a:t>.</a:t>
            </a:r>
            <a:endParaRPr lang="vi-VN" sz="1400" dirty="0">
              <a:solidFill>
                <a:srgbClr val="1A1A1A"/>
              </a:solidFill>
              <a:latin typeface="+mn-ea"/>
            </a:endParaRPr>
          </a:p>
          <a:p>
            <a:r>
              <a:rPr lang="vi-VN" sz="1400" b="1" dirty="0">
                <a:solidFill>
                  <a:srgbClr val="1A1A1A"/>
                </a:solidFill>
                <a:highlight>
                  <a:srgbClr val="FFFF00"/>
                </a:highlight>
                <a:latin typeface="+mn-ea"/>
                <a:cs typeface="Arial"/>
              </a:rPr>
              <a:t>5.</a:t>
            </a:r>
            <a:r>
              <a:rPr lang="en-US" sz="1400" b="1" dirty="0">
                <a:solidFill>
                  <a:srgbClr val="1A1A1A"/>
                </a:solidFill>
                <a:highlight>
                  <a:srgbClr val="FFFF00"/>
                </a:highlight>
                <a:latin typeface="+mn-ea"/>
              </a:rPr>
              <a:t> Offset </a:t>
            </a:r>
            <a:r>
              <a:rPr lang="vi-VN" sz="1400" b="1" dirty="0" err="1">
                <a:solidFill>
                  <a:srgbClr val="1A1A1A"/>
                </a:solidFill>
                <a:highlight>
                  <a:srgbClr val="FFFF00"/>
                </a:highlight>
                <a:latin typeface="+mn-ea"/>
              </a:rPr>
              <a:t>refinement</a:t>
            </a:r>
            <a:r>
              <a:rPr lang="vi-VN" sz="1400" b="1" dirty="0">
                <a:solidFill>
                  <a:srgbClr val="1A1A1A"/>
                </a:solidFill>
                <a:highlight>
                  <a:srgbClr val="FFFF00"/>
                </a:highlight>
                <a:latin typeface="+mn-ea"/>
              </a:rPr>
              <a:t>: </a:t>
            </a:r>
            <a:r>
              <a:rPr lang="en-US" sz="1400" dirty="0" err="1"/>
              <a:t>Dự</a:t>
            </a:r>
            <a:r>
              <a:rPr lang="en-US" sz="1400" dirty="0"/>
              <a:t> </a:t>
            </a:r>
            <a:r>
              <a:rPr lang="en-US" sz="1400" dirty="0" err="1"/>
              <a:t>đoán</a:t>
            </a:r>
            <a:r>
              <a:rPr lang="en-US" sz="1400" dirty="0"/>
              <a:t> row-wise ban </a:t>
            </a:r>
            <a:r>
              <a:rPr lang="en-US" sz="1400" dirty="0" err="1"/>
              <a:t>đầu</a:t>
            </a:r>
            <a:r>
              <a:rPr lang="en-US" sz="1400" dirty="0"/>
              <a:t> </a:t>
            </a:r>
            <a:r>
              <a:rPr lang="en-US" sz="1400" dirty="0" err="1"/>
              <a:t>có</a:t>
            </a:r>
            <a:r>
              <a:rPr lang="en-US" sz="1400" dirty="0"/>
              <a:t> </a:t>
            </a:r>
            <a:r>
              <a:rPr lang="en-US" sz="1400" dirty="0" err="1"/>
              <a:t>độ</a:t>
            </a:r>
            <a:r>
              <a:rPr lang="en-US" sz="1400" dirty="0"/>
              <a:t> </a:t>
            </a:r>
            <a:r>
              <a:rPr lang="en-US" sz="1400" dirty="0" err="1"/>
              <a:t>phân</a:t>
            </a:r>
            <a:r>
              <a:rPr lang="en-US" sz="1400" dirty="0"/>
              <a:t> </a:t>
            </a:r>
            <a:r>
              <a:rPr lang="en-US" sz="1400" dirty="0" err="1"/>
              <a:t>giải</a:t>
            </a:r>
            <a:r>
              <a:rPr lang="en-US" sz="1400" dirty="0"/>
              <a:t> </a:t>
            </a:r>
            <a:r>
              <a:rPr lang="en-US" sz="1400" dirty="0" err="1"/>
              <a:t>rời</a:t>
            </a:r>
            <a:r>
              <a:rPr lang="en-US" sz="1400" dirty="0"/>
              <a:t> </a:t>
            </a:r>
            <a:r>
              <a:rPr lang="en-US" sz="1400" dirty="0" err="1"/>
              <a:t>rạc</a:t>
            </a:r>
            <a:r>
              <a:rPr lang="en-US" sz="1400" dirty="0"/>
              <a:t>. Offset branch </a:t>
            </a:r>
            <a:r>
              <a:rPr lang="en-US" sz="1400" dirty="0" err="1"/>
              <a:t>dự</a:t>
            </a:r>
            <a:r>
              <a:rPr lang="en-US" sz="1400" dirty="0"/>
              <a:t> </a:t>
            </a:r>
            <a:r>
              <a:rPr lang="en-US" sz="1400" dirty="0" err="1"/>
              <a:t>đoán</a:t>
            </a:r>
            <a:r>
              <a:rPr lang="en-US" sz="1400" dirty="0"/>
              <a:t> </a:t>
            </a:r>
            <a:r>
              <a:rPr lang="en-US" sz="1400" dirty="0" err="1"/>
              <a:t>độ</a:t>
            </a:r>
            <a:r>
              <a:rPr lang="en-US" sz="1400" dirty="0"/>
              <a:t> </a:t>
            </a:r>
            <a:r>
              <a:rPr lang="en-US" sz="1400" dirty="0" err="1"/>
              <a:t>lệch</a:t>
            </a:r>
            <a:r>
              <a:rPr lang="en-US" sz="1400" dirty="0"/>
              <a:t> </a:t>
            </a:r>
            <a:r>
              <a:rPr lang="en-US" sz="1400" dirty="0" err="1"/>
              <a:t>bổ</a:t>
            </a:r>
            <a:r>
              <a:rPr lang="en-US" sz="1400" dirty="0"/>
              <a:t> sung </a:t>
            </a:r>
            <a:r>
              <a:rPr lang="en-US" sz="1400" dirty="0" err="1"/>
              <a:t>để</a:t>
            </a:r>
            <a:r>
              <a:rPr lang="en-US" sz="1400" dirty="0"/>
              <a:t> </a:t>
            </a:r>
            <a:r>
              <a:rPr lang="en-US" sz="1400" dirty="0" err="1"/>
              <a:t>tinh</a:t>
            </a:r>
            <a:r>
              <a:rPr lang="en-US" sz="1400" dirty="0"/>
              <a:t> </a:t>
            </a:r>
            <a:r>
              <a:rPr lang="en-US" sz="1400" dirty="0" err="1"/>
              <a:t>chỉnh</a:t>
            </a:r>
            <a:r>
              <a:rPr lang="en-US" sz="1400" dirty="0"/>
              <a:t> </a:t>
            </a:r>
            <a:r>
              <a:rPr lang="en-US" sz="1400" dirty="0" err="1"/>
              <a:t>tọa</a:t>
            </a:r>
            <a:r>
              <a:rPr lang="en-US" sz="1400" dirty="0"/>
              <a:t> </a:t>
            </a:r>
            <a:r>
              <a:rPr lang="en-US" sz="1400" dirty="0" err="1"/>
              <a:t>độ</a:t>
            </a:r>
            <a:r>
              <a:rPr lang="en-US" sz="1400" dirty="0"/>
              <a:t> </a:t>
            </a:r>
            <a:r>
              <a:rPr lang="en-US" sz="1400" dirty="0" err="1"/>
              <a:t>ngang</a:t>
            </a:r>
            <a:r>
              <a:rPr lang="en-US" sz="1400" dirty="0"/>
              <a:t> </a:t>
            </a:r>
            <a:r>
              <a:rPr lang="en-US" sz="1400" dirty="0" err="1"/>
              <a:t>của</a:t>
            </a:r>
            <a:r>
              <a:rPr lang="en-US" sz="1400" dirty="0"/>
              <a:t> lane.</a:t>
            </a:r>
          </a:p>
          <a:p>
            <a:r>
              <a:rPr lang="en-US" sz="1400" dirty="0" err="1"/>
              <a:t>Thêm</a:t>
            </a:r>
            <a:r>
              <a:rPr lang="en-US" sz="1400" dirty="0"/>
              <a:t> offset </a:t>
            </a:r>
            <a:r>
              <a:rPr lang="en-US" sz="1400" dirty="0" err="1"/>
              <a:t>làm</a:t>
            </a:r>
            <a:r>
              <a:rPr lang="en-US" sz="1400" dirty="0"/>
              <a:t> F1 </a:t>
            </a:r>
            <a:r>
              <a:rPr lang="en-US" sz="1400" dirty="0" err="1"/>
              <a:t>tăng</a:t>
            </a:r>
            <a:r>
              <a:rPr lang="en-US" sz="1400" dirty="0"/>
              <a:t> </a:t>
            </a:r>
            <a:r>
              <a:rPr lang="en-US" sz="1400" dirty="0" err="1"/>
              <a:t>từ</a:t>
            </a:r>
            <a:r>
              <a:rPr lang="en-US" sz="1400" dirty="0"/>
              <a:t> 80,09 </a:t>
            </a:r>
            <a:r>
              <a:rPr lang="en-US" sz="1400" dirty="0" err="1"/>
              <a:t>lên</a:t>
            </a:r>
            <a:r>
              <a:rPr lang="en-US" sz="1400" dirty="0"/>
              <a:t> 81,24 </a:t>
            </a:r>
            <a:r>
              <a:rPr lang="en-US" sz="1400" dirty="0" err="1"/>
              <a:t>trong</a:t>
            </a:r>
            <a:r>
              <a:rPr lang="en-US" sz="1400" dirty="0"/>
              <a:t> ablation </a:t>
            </a:r>
            <a:r>
              <a:rPr lang="en-US" sz="1400" dirty="0" err="1"/>
              <a:t>của</a:t>
            </a:r>
            <a:r>
              <a:rPr lang="en-US" sz="1400" dirty="0"/>
              <a:t> </a:t>
            </a:r>
            <a:r>
              <a:rPr lang="en-US" sz="1400" dirty="0" err="1"/>
              <a:t>bài</a:t>
            </a:r>
            <a:r>
              <a:rPr lang="en-US" sz="1400" dirty="0"/>
              <a:t> </a:t>
            </a:r>
            <a:r>
              <a:rPr lang="en-US" sz="1400" dirty="0" err="1"/>
              <a:t>báo</a:t>
            </a:r>
            <a:r>
              <a:rPr lang="en-US" sz="1400" dirty="0"/>
              <a:t>.</a:t>
            </a:r>
          </a:p>
          <a:p>
            <a:pPr marL="25" indent="-15">
              <a:lnSpc>
                <a:spcPct val="100000"/>
              </a:lnSpc>
              <a:spcAft>
                <a:spcPts val="0"/>
              </a:spcAft>
              <a:buNone/>
              <a:defRPr sz="1350">
                <a:solidFill>
                  <a:srgbClr val="1A1A1A"/>
                </a:solidFill>
                <a:latin typeface="Arial"/>
                <a:ea typeface="Arial"/>
                <a:cs typeface="Arial"/>
              </a:defRPr>
            </a:pPr>
            <a:endParaRPr sz="1400" b="1" dirty="0">
              <a:solidFill>
                <a:srgbClr val="1A1A1A"/>
              </a:solidFill>
              <a:highlight>
                <a:srgbClr val="FFFF00"/>
              </a:highlight>
              <a:latin typeface="+mn-ea"/>
              <a:cs typeface="Arial"/>
            </a:endParaRPr>
          </a:p>
        </p:txBody>
      </p:sp>
      <p:sp>
        <p:nvSpPr>
          <p:cNvPr id="21" name="Hộp Văn bản 11">
            <a:extLst>
              <a:ext uri="{FF2B5EF4-FFF2-40B4-BE49-F238E27FC236}">
                <a16:creationId xmlns:a16="http://schemas.microsoft.com/office/drawing/2014/main" id="{4A62F9CA-CFAD-B528-60EE-2B8185C15693}"/>
              </a:ext>
            </a:extLst>
          </p:cNvPr>
          <p:cNvSpPr txBox="1"/>
          <p:nvPr/>
        </p:nvSpPr>
        <p:spPr>
          <a:xfrm>
            <a:off x="7241845" y="5564346"/>
            <a:ext cx="6096000" cy="1477328"/>
          </a:xfrm>
          <a:prstGeom prst="rect">
            <a:avLst/>
          </a:prstGeom>
          <a:noFill/>
        </p:spPr>
        <p:txBody>
          <a:bodyPr wrap="square">
            <a:spAutoFit/>
          </a:bodyPr>
          <a:lstStyle/>
          <a:p>
            <a:r>
              <a:rPr lang="en-US" b="1" dirty="0">
                <a:highlight>
                  <a:srgbClr val="FFFF00"/>
                </a:highlight>
              </a:rPr>
              <a:t>Recurrent Instance Module — </a:t>
            </a:r>
            <a:r>
              <a:rPr lang="vi-VN" b="1" dirty="0">
                <a:highlight>
                  <a:srgbClr val="FFFF00"/>
                </a:highlight>
              </a:rPr>
              <a:t>RIM:</a:t>
            </a:r>
            <a:br>
              <a:rPr lang="vi-VN" dirty="0"/>
            </a:br>
            <a:r>
              <a:rPr lang="en-US" dirty="0" err="1"/>
              <a:t>Một</a:t>
            </a:r>
            <a:r>
              <a:rPr lang="en-US" dirty="0"/>
              <a:t> proposal </a:t>
            </a:r>
            <a:r>
              <a:rPr lang="en-US" dirty="0" err="1"/>
              <a:t>thông</a:t>
            </a:r>
            <a:r>
              <a:rPr lang="en-US" dirty="0"/>
              <a:t> </a:t>
            </a:r>
            <a:r>
              <a:rPr lang="en-US" dirty="0" err="1"/>
              <a:t>thường</a:t>
            </a:r>
            <a:r>
              <a:rPr lang="en-US" dirty="0"/>
              <a:t> </a:t>
            </a:r>
            <a:r>
              <a:rPr lang="en-US" dirty="0" err="1"/>
              <a:t>tạo</a:t>
            </a:r>
            <a:r>
              <a:rPr lang="en-US" dirty="0"/>
              <a:t> </a:t>
            </a:r>
            <a:r>
              <a:rPr lang="en-US" dirty="0" err="1"/>
              <a:t>ra</a:t>
            </a:r>
            <a:r>
              <a:rPr lang="en-US" dirty="0"/>
              <a:t> </a:t>
            </a:r>
            <a:r>
              <a:rPr lang="en-US" dirty="0" err="1"/>
              <a:t>một</a:t>
            </a:r>
            <a:r>
              <a:rPr lang="en-US" dirty="0"/>
              <a:t> kernel </a:t>
            </a:r>
            <a:r>
              <a:rPr lang="en-US" dirty="0" err="1"/>
              <a:t>và</a:t>
            </a:r>
            <a:r>
              <a:rPr lang="en-US" dirty="0"/>
              <a:t> </a:t>
            </a:r>
            <a:r>
              <a:rPr lang="en-US" dirty="0" err="1"/>
              <a:t>một</a:t>
            </a:r>
            <a:r>
              <a:rPr lang="en-US" dirty="0"/>
              <a:t> lane. </a:t>
            </a:r>
            <a:r>
              <a:rPr lang="en-US" dirty="0" err="1"/>
              <a:t>Cách</a:t>
            </a:r>
            <a:r>
              <a:rPr lang="en-US" dirty="0"/>
              <a:t> </a:t>
            </a:r>
            <a:r>
              <a:rPr lang="en-US" dirty="0" err="1"/>
              <a:t>này</a:t>
            </a:r>
            <a:r>
              <a:rPr lang="en-US" dirty="0"/>
              <a:t> </a:t>
            </a:r>
            <a:r>
              <a:rPr lang="en-US" dirty="0" err="1"/>
              <a:t>chưa</a:t>
            </a:r>
            <a:r>
              <a:rPr lang="en-US" dirty="0"/>
              <a:t> </a:t>
            </a:r>
            <a:r>
              <a:rPr lang="en-US" dirty="0" err="1"/>
              <a:t>đủ</a:t>
            </a:r>
            <a:r>
              <a:rPr lang="en-US" dirty="0"/>
              <a:t> </a:t>
            </a:r>
            <a:r>
              <a:rPr lang="en-US" dirty="0" err="1"/>
              <a:t>khi</a:t>
            </a:r>
            <a:r>
              <a:rPr lang="en-US" dirty="0"/>
              <a:t> </a:t>
            </a:r>
            <a:r>
              <a:rPr lang="en-US" dirty="0" err="1"/>
              <a:t>một</a:t>
            </a:r>
            <a:r>
              <a:rPr lang="en-US" dirty="0"/>
              <a:t> lane </a:t>
            </a:r>
            <a:r>
              <a:rPr lang="en-US" dirty="0" err="1"/>
              <a:t>xuất</a:t>
            </a:r>
            <a:r>
              <a:rPr lang="en-US" dirty="0"/>
              <a:t> </a:t>
            </a:r>
            <a:r>
              <a:rPr lang="en-US" dirty="0" err="1"/>
              <a:t>phát</a:t>
            </a:r>
            <a:r>
              <a:rPr lang="en-US" dirty="0"/>
              <a:t> </a:t>
            </a:r>
            <a:r>
              <a:rPr lang="en-US" dirty="0" err="1"/>
              <a:t>từ</a:t>
            </a:r>
            <a:r>
              <a:rPr lang="en-US" dirty="0"/>
              <a:t> </a:t>
            </a:r>
            <a:r>
              <a:rPr lang="en-US" dirty="0" err="1"/>
              <a:t>một</a:t>
            </a:r>
            <a:r>
              <a:rPr lang="en-US" dirty="0"/>
              <a:t> </a:t>
            </a:r>
            <a:r>
              <a:rPr lang="en-US" dirty="0" err="1"/>
              <a:t>vùng</a:t>
            </a:r>
            <a:r>
              <a:rPr lang="en-US" dirty="0"/>
              <a:t> </a:t>
            </a:r>
            <a:r>
              <a:rPr lang="en-US" dirty="0" err="1"/>
              <a:t>nhưng</a:t>
            </a:r>
            <a:r>
              <a:rPr lang="en-US" dirty="0"/>
              <a:t> </a:t>
            </a:r>
            <a:r>
              <a:rPr lang="en-US" dirty="0" err="1"/>
              <a:t>sau</a:t>
            </a:r>
            <a:r>
              <a:rPr lang="en-US" dirty="0"/>
              <a:t> </a:t>
            </a:r>
            <a:r>
              <a:rPr lang="en-US" dirty="0" err="1"/>
              <a:t>đó</a:t>
            </a:r>
            <a:r>
              <a:rPr lang="en-US" dirty="0"/>
              <a:t> </a:t>
            </a:r>
            <a:r>
              <a:rPr lang="en-US" dirty="0" err="1"/>
              <a:t>phân</a:t>
            </a:r>
            <a:r>
              <a:rPr lang="en-US" dirty="0"/>
              <a:t> </a:t>
            </a:r>
            <a:r>
              <a:rPr lang="en-US" dirty="0" err="1"/>
              <a:t>thành</a:t>
            </a:r>
            <a:r>
              <a:rPr lang="en-US" dirty="0"/>
              <a:t> </a:t>
            </a:r>
            <a:r>
              <a:rPr lang="en-US" dirty="0" err="1"/>
              <a:t>nhiều</a:t>
            </a:r>
            <a:r>
              <a:rPr lang="en-US" dirty="0"/>
              <a:t> </a:t>
            </a:r>
            <a:r>
              <a:rPr lang="en-US" dirty="0" err="1"/>
              <a:t>nhánh</a:t>
            </a:r>
            <a:r>
              <a:rPr lang="en-US" dirty="0"/>
              <a:t>. </a:t>
            </a:r>
            <a:r>
              <a:rPr lang="en-US" dirty="0" err="1"/>
              <a:t>Nhờ</a:t>
            </a:r>
            <a:r>
              <a:rPr lang="en-US" dirty="0"/>
              <a:t> </a:t>
            </a:r>
            <a:r>
              <a:rPr lang="en-US" dirty="0" err="1"/>
              <a:t>đó</a:t>
            </a:r>
            <a:r>
              <a:rPr lang="en-US" dirty="0"/>
              <a:t>, </a:t>
            </a:r>
            <a:r>
              <a:rPr lang="en-US" dirty="0" err="1"/>
              <a:t>một</a:t>
            </a:r>
            <a:r>
              <a:rPr lang="en-US" dirty="0"/>
              <a:t> proposal </a:t>
            </a:r>
            <a:r>
              <a:rPr lang="en-US" dirty="0" err="1"/>
              <a:t>có</a:t>
            </a:r>
            <a:r>
              <a:rPr lang="en-US" dirty="0"/>
              <a:t> </a:t>
            </a:r>
            <a:r>
              <a:rPr lang="en-US" dirty="0" err="1"/>
              <a:t>thể</a:t>
            </a:r>
            <a:r>
              <a:rPr lang="en-US" dirty="0"/>
              <a:t> </a:t>
            </a:r>
            <a:r>
              <a:rPr lang="en-US" dirty="0" err="1"/>
              <a:t>tạo</a:t>
            </a:r>
            <a:r>
              <a:rPr lang="en-US" dirty="0"/>
              <a:t> </a:t>
            </a:r>
            <a:r>
              <a:rPr lang="en-US" dirty="0" err="1"/>
              <a:t>ra</a:t>
            </a:r>
            <a:r>
              <a:rPr lang="en-US" dirty="0"/>
              <a:t> </a:t>
            </a:r>
            <a:r>
              <a:rPr lang="en-US" dirty="0" err="1"/>
              <a:t>nhiều</a:t>
            </a:r>
            <a:r>
              <a:rPr lang="en-US" dirty="0"/>
              <a:t> lane </a:t>
            </a:r>
            <a:r>
              <a:rPr lang="en-US" dirty="0" err="1"/>
              <a:t>liên</a:t>
            </a:r>
            <a:r>
              <a:rPr lang="en-US" dirty="0"/>
              <a:t> </a:t>
            </a:r>
            <a:r>
              <a:rPr lang="en-US" dirty="0" err="1"/>
              <a:t>quan</a:t>
            </a:r>
            <a:r>
              <a:rPr lang="en-US" dirty="0"/>
              <a:t> </a:t>
            </a:r>
            <a:r>
              <a:rPr lang="en-US" dirty="0" err="1"/>
              <a:t>đến</a:t>
            </a:r>
            <a:r>
              <a:rPr lang="en-US" dirty="0"/>
              <a:t> </a:t>
            </a:r>
            <a:r>
              <a:rPr lang="en-US" dirty="0" err="1"/>
              <a:t>cùng</a:t>
            </a:r>
            <a:r>
              <a:rPr lang="en-US" dirty="0"/>
              <a:t> </a:t>
            </a:r>
            <a:r>
              <a:rPr lang="en-US" dirty="0" err="1"/>
              <a:t>một</a:t>
            </a:r>
            <a:r>
              <a:rPr lang="en-US" dirty="0"/>
              <a:t> </a:t>
            </a:r>
            <a:r>
              <a:rPr lang="en-US" dirty="0" err="1"/>
              <a:t>cấu</a:t>
            </a:r>
            <a:r>
              <a:rPr lang="en-US" dirty="0"/>
              <a:t> </a:t>
            </a:r>
            <a:r>
              <a:rPr lang="en-US" dirty="0" err="1"/>
              <a:t>trúc</a:t>
            </a:r>
            <a:r>
              <a:rPr lang="en-US" dirty="0"/>
              <a:t> </a:t>
            </a:r>
            <a:r>
              <a:rPr lang="en-US" dirty="0" err="1"/>
              <a:t>phân</a:t>
            </a:r>
            <a:r>
              <a:rPr lang="en-US" dirty="0"/>
              <a:t> </a:t>
            </a:r>
            <a:r>
              <a:rPr lang="en-US" dirty="0" err="1"/>
              <a:t>nhánh</a:t>
            </a:r>
            <a:r>
              <a:rPr lang="en-US" dirty="0"/>
              <a:t>.</a:t>
            </a:r>
          </a:p>
        </p:txBody>
      </p:sp>
    </p:spTree>
    <p:extLst>
      <p:ext uri="{BB962C8B-B14F-4D97-AF65-F5344CB8AC3E}">
        <p14:creationId xmlns:p14="http://schemas.microsoft.com/office/powerpoint/2010/main" val="215943937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11CCE5-7838-9E70-2267-51B1C94CB29D}"/>
              </a:ext>
            </a:extLst>
          </p:cNvPr>
          <p:cNvPicPr/>
          <p:nvPr/>
        </p:nvPicPr>
        <p:blipFill>
          <a:blip r:embed="rId2"/>
          <a:stretch>
            <a:fillRect/>
          </a:stretch>
        </p:blipFill>
        <p:spPr>
          <a:xfrm>
            <a:off x="10106181" y="6376129"/>
            <a:ext cx="4524219" cy="1853471"/>
          </a:xfrm>
          <a:prstGeom prst="rect">
            <a:avLst/>
          </a:prstGeom>
          <a:noFill/>
        </p:spPr>
      </p:pic>
      <p:sp>
        <p:nvSpPr>
          <p:cNvPr id="23" name="Shape 2">
            <a:extLst>
              <a:ext uri="{FF2B5EF4-FFF2-40B4-BE49-F238E27FC236}">
                <a16:creationId xmlns:a16="http://schemas.microsoft.com/office/drawing/2014/main" id="{A6EF1741-8AAB-C76A-2E81-AB2FFAAF5E0D}"/>
              </a:ext>
            </a:extLst>
          </p:cNvPr>
          <p:cNvSpPr>
            <a:spLocks/>
          </p:cNvSpPr>
          <p:nvPr/>
        </p:nvSpPr>
        <p:spPr>
          <a:xfrm>
            <a:off x="6714067" y="1491824"/>
            <a:ext cx="7789040" cy="5256109"/>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graphicFrame>
        <p:nvGraphicFramePr>
          <p:cNvPr id="5" name="Table 4">
            <a:extLst>
              <a:ext uri="{FF2B5EF4-FFF2-40B4-BE49-F238E27FC236}">
                <a16:creationId xmlns:a16="http://schemas.microsoft.com/office/drawing/2014/main" id="{ED7F4381-99AB-84B4-056D-DC09B731A695}"/>
              </a:ext>
            </a:extLst>
          </p:cNvPr>
          <p:cNvGraphicFramePr>
            <a:graphicFrameLocks noGrp="1"/>
          </p:cNvGraphicFramePr>
          <p:nvPr>
            <p:extLst>
              <p:ext uri="{D42A27DB-BD31-4B8C-83A1-F6EECF244321}">
                <p14:modId xmlns:p14="http://schemas.microsoft.com/office/powerpoint/2010/main" val="101642933"/>
              </p:ext>
            </p:extLst>
          </p:nvPr>
        </p:nvGraphicFramePr>
        <p:xfrm>
          <a:off x="0" y="-20383"/>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5</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7" name="Picture 6">
            <a:extLst>
              <a:ext uri="{FF2B5EF4-FFF2-40B4-BE49-F238E27FC236}">
                <a16:creationId xmlns:a16="http://schemas.microsoft.com/office/drawing/2014/main" id="{3328CE80-EF7A-B06C-5444-621E7AACDBCC}"/>
              </a:ext>
            </a:extLst>
          </p:cNvPr>
          <p:cNvPicPr/>
          <p:nvPr/>
        </p:nvPicPr>
        <p:blipFill>
          <a:blip r:embed="rId3"/>
          <a:stretch>
            <a:fillRect/>
          </a:stretch>
        </p:blipFill>
        <p:spPr>
          <a:xfrm>
            <a:off x="-118532" y="-145263"/>
            <a:ext cx="1371600" cy="1390223"/>
          </a:xfrm>
          <a:prstGeom prst="rect">
            <a:avLst/>
          </a:prstGeom>
        </p:spPr>
      </p:pic>
      <p:sp>
        <p:nvSpPr>
          <p:cNvPr id="9" name="Shape 2">
            <a:extLst>
              <a:ext uri="{FF2B5EF4-FFF2-40B4-BE49-F238E27FC236}">
                <a16:creationId xmlns:a16="http://schemas.microsoft.com/office/drawing/2014/main" id="{66E7BB0C-8BE7-0463-2254-855B35941FD1}"/>
              </a:ext>
            </a:extLst>
          </p:cNvPr>
          <p:cNvSpPr/>
          <p:nvPr/>
        </p:nvSpPr>
        <p:spPr>
          <a:xfrm>
            <a:off x="127293" y="1491824"/>
            <a:ext cx="6265332" cy="5488942"/>
          </a:xfrm>
          <a:prstGeom prst="roundRect">
            <a:avLst>
              <a:gd name="adj" fmla="val 11303"/>
            </a:avLst>
          </a:prstGeom>
          <a:solidFill>
            <a:srgbClr val="D4E9F7"/>
          </a:solidFill>
          <a:ln w="7620">
            <a:solidFill>
              <a:srgbClr val="BACFDD"/>
            </a:solidFill>
            <a:prstDash val="solid"/>
          </a:ln>
        </p:spPr>
        <p:txBody>
          <a:bodyPr/>
          <a:lstStyle/>
          <a:p>
            <a:endParaRPr lang="en-US" dirty="0">
              <a:latin typeface="+mn-ea"/>
            </a:endParaRPr>
          </a:p>
        </p:txBody>
      </p:sp>
      <p:pic>
        <p:nvPicPr>
          <p:cNvPr id="15" name="Hình ảnh 21">
            <a:extLst>
              <a:ext uri="{FF2B5EF4-FFF2-40B4-BE49-F238E27FC236}">
                <a16:creationId xmlns:a16="http://schemas.microsoft.com/office/drawing/2014/main" id="{2B6F5A8D-A128-B123-21D7-19097019D441}"/>
              </a:ext>
            </a:extLst>
          </p:cNvPr>
          <p:cNvPicPr>
            <a:picLocks noChangeAspect="1"/>
          </p:cNvPicPr>
          <p:nvPr/>
        </p:nvPicPr>
        <p:blipFill>
          <a:blip r:embed="rId4"/>
          <a:stretch/>
        </p:blipFill>
        <p:spPr>
          <a:xfrm>
            <a:off x="6866468" y="1713758"/>
            <a:ext cx="7450926" cy="4843102"/>
          </a:xfrm>
          <a:prstGeom prst="rect">
            <a:avLst/>
          </a:prstGeom>
        </p:spPr>
      </p:pic>
      <p:sp>
        <p:nvSpPr>
          <p:cNvPr id="17" name="Hộp Văn bản 16">
            <a:extLst>
              <a:ext uri="{FF2B5EF4-FFF2-40B4-BE49-F238E27FC236}">
                <a16:creationId xmlns:a16="http://schemas.microsoft.com/office/drawing/2014/main" id="{1605FAF1-D7CE-FE01-9A21-C41090670A17}"/>
              </a:ext>
            </a:extLst>
          </p:cNvPr>
          <p:cNvSpPr txBox="1"/>
          <p:nvPr/>
        </p:nvSpPr>
        <p:spPr>
          <a:xfrm>
            <a:off x="296625" y="1657469"/>
            <a:ext cx="6096000" cy="5355312"/>
          </a:xfrm>
          <a:prstGeom prst="rect">
            <a:avLst/>
          </a:prstGeom>
          <a:noFill/>
        </p:spPr>
        <p:txBody>
          <a:bodyPr wrap="square">
            <a:spAutoFit/>
          </a:bodyPr>
          <a:lstStyle/>
          <a:p>
            <a:pPr>
              <a:buNone/>
            </a:pPr>
            <a:r>
              <a:rPr lang="vi-VN" b="1" dirty="0">
                <a:highlight>
                  <a:srgbClr val="FFFF00"/>
                </a:highlight>
              </a:rPr>
              <a:t>Kết luận</a:t>
            </a:r>
            <a:r>
              <a:rPr lang="en-US" dirty="0"/>
              <a:t>:</a:t>
            </a:r>
            <a:endParaRPr lang="vi-VN" b="1" dirty="0"/>
          </a:p>
          <a:p>
            <a:pPr>
              <a:buNone/>
            </a:pPr>
            <a:r>
              <a:rPr lang="en-US" b="1" dirty="0" err="1"/>
              <a:t>CondLaneNet</a:t>
            </a:r>
            <a:r>
              <a:rPr lang="en-US" b="1" dirty="0"/>
              <a:t>-Small</a:t>
            </a:r>
            <a:r>
              <a:rPr lang="en-US" dirty="0"/>
              <a:t> </a:t>
            </a:r>
            <a:r>
              <a:rPr lang="en-US" dirty="0" err="1"/>
              <a:t>là</a:t>
            </a:r>
            <a:r>
              <a:rPr lang="en-US" dirty="0"/>
              <a:t> </a:t>
            </a:r>
            <a:r>
              <a:rPr lang="en-US" dirty="0" err="1"/>
              <a:t>phiên</a:t>
            </a:r>
            <a:r>
              <a:rPr lang="en-US" dirty="0"/>
              <a:t> </a:t>
            </a:r>
            <a:r>
              <a:rPr lang="en-US" dirty="0" err="1"/>
              <a:t>bản</a:t>
            </a:r>
            <a:r>
              <a:rPr lang="en-US" dirty="0"/>
              <a:t> </a:t>
            </a:r>
            <a:r>
              <a:rPr lang="en-US" dirty="0" err="1"/>
              <a:t>phù</a:t>
            </a:r>
            <a:r>
              <a:rPr lang="en-US" dirty="0"/>
              <a:t> </a:t>
            </a:r>
            <a:r>
              <a:rPr lang="en-US" dirty="0" err="1"/>
              <a:t>hợp</a:t>
            </a:r>
            <a:r>
              <a:rPr lang="en-US" dirty="0"/>
              <a:t> </a:t>
            </a:r>
            <a:r>
              <a:rPr lang="en-US" dirty="0" err="1"/>
              <a:t>nhất</a:t>
            </a:r>
            <a:r>
              <a:rPr lang="en-US" dirty="0"/>
              <a:t> </a:t>
            </a:r>
            <a:r>
              <a:rPr lang="en-US" dirty="0" err="1"/>
              <a:t>để</a:t>
            </a:r>
            <a:r>
              <a:rPr lang="en-US" dirty="0"/>
              <a:t> </a:t>
            </a:r>
            <a:r>
              <a:rPr lang="en-US" dirty="0" err="1"/>
              <a:t>nghiên</a:t>
            </a:r>
            <a:r>
              <a:rPr lang="en-US" dirty="0"/>
              <a:t> </a:t>
            </a:r>
            <a:r>
              <a:rPr lang="en-US" dirty="0" err="1"/>
              <a:t>cứu</a:t>
            </a:r>
            <a:r>
              <a:rPr lang="en-US" dirty="0"/>
              <a:t> </a:t>
            </a:r>
            <a:r>
              <a:rPr lang="en-US" dirty="0" err="1"/>
              <a:t>trong</a:t>
            </a:r>
            <a:r>
              <a:rPr lang="en-US" dirty="0"/>
              <a:t> </a:t>
            </a:r>
            <a:r>
              <a:rPr lang="en-US" dirty="0" err="1"/>
              <a:t>điều</a:t>
            </a:r>
            <a:r>
              <a:rPr lang="en-US" dirty="0"/>
              <a:t> </a:t>
            </a:r>
            <a:r>
              <a:rPr lang="en-US" dirty="0" err="1"/>
              <a:t>kiện</a:t>
            </a:r>
            <a:r>
              <a:rPr lang="en-US" dirty="0"/>
              <a:t> </a:t>
            </a:r>
            <a:r>
              <a:rPr lang="en-US" dirty="0" err="1"/>
              <a:t>giới</a:t>
            </a:r>
            <a:r>
              <a:rPr lang="en-US" dirty="0"/>
              <a:t> </a:t>
            </a:r>
            <a:r>
              <a:rPr lang="en-US" dirty="0" err="1"/>
              <a:t>hạn</a:t>
            </a:r>
            <a:r>
              <a:rPr lang="en-US" dirty="0"/>
              <a:t> </a:t>
            </a:r>
            <a:r>
              <a:rPr lang="en-US" dirty="0" err="1"/>
              <a:t>tài</a:t>
            </a:r>
            <a:r>
              <a:rPr lang="en-US" dirty="0"/>
              <a:t> </a:t>
            </a:r>
            <a:r>
              <a:rPr lang="en-US" dirty="0" err="1"/>
              <a:t>nguyên</a:t>
            </a:r>
            <a:r>
              <a:rPr lang="en-US" dirty="0"/>
              <a:t> </a:t>
            </a:r>
            <a:r>
              <a:rPr lang="en-US" dirty="0" err="1"/>
              <a:t>vì</a:t>
            </a:r>
            <a:r>
              <a:rPr lang="en-US" dirty="0"/>
              <a:t>:</a:t>
            </a:r>
          </a:p>
          <a:p>
            <a:pPr marL="342900" lvl="0" indent="-342900">
              <a:buFont typeface="Arial" panose="020B0604020202020204" pitchFamily="34" charset="0"/>
              <a:buChar char="•"/>
            </a:pPr>
            <a:r>
              <a:rPr lang="en-US" dirty="0" err="1"/>
              <a:t>Sử</a:t>
            </a:r>
            <a:r>
              <a:rPr lang="en-US" dirty="0"/>
              <a:t> </a:t>
            </a:r>
            <a:r>
              <a:rPr lang="en-US" dirty="0" err="1"/>
              <a:t>dụng</a:t>
            </a:r>
            <a:r>
              <a:rPr lang="en-US" dirty="0"/>
              <a:t> ResNet-18.</a:t>
            </a:r>
          </a:p>
          <a:p>
            <a:pPr marL="342900" lvl="0" indent="-342900">
              <a:buFont typeface="Arial" panose="020B0604020202020204" pitchFamily="34" charset="0"/>
              <a:buChar char="•"/>
            </a:pPr>
            <a:r>
              <a:rPr lang="en-US" dirty="0"/>
              <a:t>Chi </a:t>
            </a:r>
            <a:r>
              <a:rPr lang="en-US" dirty="0" err="1"/>
              <a:t>phí</a:t>
            </a:r>
            <a:r>
              <a:rPr lang="en-US" dirty="0"/>
              <a:t> 10,2 GFLOPs.</a:t>
            </a:r>
          </a:p>
          <a:p>
            <a:pPr marL="342900" lvl="0" indent="-342900">
              <a:buFont typeface="Arial" panose="020B0604020202020204" pitchFamily="34" charset="0"/>
              <a:buChar char="•"/>
            </a:pPr>
            <a:r>
              <a:rPr lang="en-US" dirty="0"/>
              <a:t>Đạt </a:t>
            </a:r>
            <a:r>
              <a:rPr lang="en-US" dirty="0" err="1"/>
              <a:t>CULane</a:t>
            </a:r>
            <a:r>
              <a:rPr lang="en-US" dirty="0"/>
              <a:t> F1 78,14.</a:t>
            </a:r>
          </a:p>
          <a:p>
            <a:pPr marL="342900" lvl="0" indent="-342900">
              <a:buFont typeface="Arial" panose="020B0604020202020204" pitchFamily="34" charset="0"/>
              <a:buChar char="•"/>
            </a:pPr>
            <a:r>
              <a:rPr lang="en-US" dirty="0" err="1"/>
              <a:t>Dùng</a:t>
            </a:r>
            <a:r>
              <a:rPr lang="en-US" dirty="0"/>
              <a:t> row-wise representation </a:t>
            </a:r>
            <a:r>
              <a:rPr lang="en-US" dirty="0" err="1"/>
              <a:t>thay</a:t>
            </a:r>
            <a:r>
              <a:rPr lang="en-US" dirty="0"/>
              <a:t> </a:t>
            </a:r>
            <a:r>
              <a:rPr lang="en-US" dirty="0" err="1"/>
              <a:t>vì</a:t>
            </a:r>
            <a:r>
              <a:rPr lang="en-US" dirty="0"/>
              <a:t> mask </a:t>
            </a:r>
            <a:r>
              <a:rPr lang="en-US" dirty="0" err="1"/>
              <a:t>toàn</a:t>
            </a:r>
            <a:r>
              <a:rPr lang="en-US" dirty="0"/>
              <a:t> </a:t>
            </a:r>
            <a:r>
              <a:rPr lang="en-US" dirty="0" err="1"/>
              <a:t>ảnh</a:t>
            </a:r>
            <a:r>
              <a:rPr lang="en-US" dirty="0"/>
              <a:t>.</a:t>
            </a:r>
          </a:p>
          <a:p>
            <a:pPr marL="342900" lvl="0" indent="-342900">
              <a:buFont typeface="Arial" panose="020B0604020202020204" pitchFamily="34" charset="0"/>
              <a:buChar char="•"/>
            </a:pPr>
            <a:r>
              <a:rPr lang="en-US" dirty="0" err="1"/>
              <a:t>Có</a:t>
            </a:r>
            <a:r>
              <a:rPr lang="en-US" dirty="0"/>
              <a:t> </a:t>
            </a:r>
            <a:r>
              <a:rPr lang="en-US" dirty="0" err="1"/>
              <a:t>cơ</a:t>
            </a:r>
            <a:r>
              <a:rPr lang="en-US" dirty="0"/>
              <a:t> </a:t>
            </a:r>
            <a:r>
              <a:rPr lang="en-US" dirty="0" err="1"/>
              <a:t>chế</a:t>
            </a:r>
            <a:r>
              <a:rPr lang="en-US" dirty="0"/>
              <a:t> </a:t>
            </a:r>
            <a:r>
              <a:rPr lang="en-US" dirty="0" err="1"/>
              <a:t>phân</a:t>
            </a:r>
            <a:r>
              <a:rPr lang="en-US" dirty="0"/>
              <a:t> </a:t>
            </a:r>
            <a:r>
              <a:rPr lang="en-US" dirty="0" err="1"/>
              <a:t>biệt</a:t>
            </a:r>
            <a:r>
              <a:rPr lang="en-US" dirty="0"/>
              <a:t> </a:t>
            </a:r>
            <a:r>
              <a:rPr lang="en-US" dirty="0" err="1"/>
              <a:t>từng</a:t>
            </a:r>
            <a:r>
              <a:rPr lang="en-US" dirty="0"/>
              <a:t> lane </a:t>
            </a:r>
            <a:r>
              <a:rPr lang="en-US" dirty="0" err="1"/>
              <a:t>bằng</a:t>
            </a:r>
            <a:r>
              <a:rPr lang="en-US" dirty="0"/>
              <a:t> instance-specific kernel.</a:t>
            </a:r>
          </a:p>
          <a:p>
            <a:pPr>
              <a:buNone/>
            </a:pPr>
            <a:r>
              <a:rPr lang="en-US" b="1" dirty="0" err="1">
                <a:highlight>
                  <a:srgbClr val="FFFF00"/>
                </a:highlight>
              </a:rPr>
              <a:t>Những</a:t>
            </a:r>
            <a:r>
              <a:rPr lang="en-US" b="1" dirty="0">
                <a:highlight>
                  <a:srgbClr val="FFFF00"/>
                </a:highlight>
              </a:rPr>
              <a:t> </a:t>
            </a:r>
            <a:r>
              <a:rPr lang="en-US" b="1" dirty="0" err="1">
                <a:highlight>
                  <a:srgbClr val="FFFF00"/>
                </a:highlight>
              </a:rPr>
              <a:t>hạn</a:t>
            </a:r>
            <a:r>
              <a:rPr lang="en-US" b="1" dirty="0">
                <a:highlight>
                  <a:srgbClr val="FFFF00"/>
                </a:highlight>
              </a:rPr>
              <a:t> </a:t>
            </a:r>
            <a:r>
              <a:rPr lang="en-US" b="1" dirty="0" err="1">
                <a:highlight>
                  <a:srgbClr val="FFFF00"/>
                </a:highlight>
              </a:rPr>
              <a:t>chế</a:t>
            </a:r>
            <a:r>
              <a:rPr lang="en-US" dirty="0"/>
              <a:t>:</a:t>
            </a:r>
          </a:p>
          <a:p>
            <a:pPr marL="342900" lvl="0" indent="-342900">
              <a:buFont typeface="Arial" panose="020B0604020202020204" pitchFamily="34" charset="0"/>
              <a:buChar char="•"/>
            </a:pPr>
            <a:r>
              <a:rPr lang="en-US" dirty="0" err="1"/>
              <a:t>Kết</a:t>
            </a:r>
            <a:r>
              <a:rPr lang="en-US" dirty="0"/>
              <a:t> </a:t>
            </a:r>
            <a:r>
              <a:rPr lang="en-US" dirty="0" err="1"/>
              <a:t>quả</a:t>
            </a:r>
            <a:r>
              <a:rPr lang="en-US" dirty="0"/>
              <a:t> </a:t>
            </a:r>
            <a:r>
              <a:rPr lang="en-US" dirty="0" err="1"/>
              <a:t>tốc</a:t>
            </a:r>
            <a:r>
              <a:rPr lang="en-US" dirty="0"/>
              <a:t> </a:t>
            </a:r>
            <a:r>
              <a:rPr lang="en-US" dirty="0" err="1"/>
              <a:t>độ</a:t>
            </a:r>
            <a:r>
              <a:rPr lang="en-US" dirty="0"/>
              <a:t> </a:t>
            </a:r>
            <a:r>
              <a:rPr lang="en-US" dirty="0" err="1"/>
              <a:t>được</a:t>
            </a:r>
            <a:r>
              <a:rPr lang="en-US" dirty="0"/>
              <a:t> </a:t>
            </a:r>
            <a:r>
              <a:rPr lang="en-US" dirty="0" err="1"/>
              <a:t>đo</a:t>
            </a:r>
            <a:r>
              <a:rPr lang="en-US" dirty="0"/>
              <a:t> </a:t>
            </a:r>
            <a:r>
              <a:rPr lang="en-US" dirty="0" err="1"/>
              <a:t>trên</a:t>
            </a:r>
            <a:r>
              <a:rPr lang="en-US" dirty="0"/>
              <a:t> RTX 2080, </a:t>
            </a:r>
            <a:r>
              <a:rPr lang="en-US" dirty="0" err="1"/>
              <a:t>không</a:t>
            </a:r>
            <a:r>
              <a:rPr lang="en-US" dirty="0"/>
              <a:t> </a:t>
            </a:r>
            <a:r>
              <a:rPr lang="en-US" dirty="0" err="1"/>
              <a:t>phải</a:t>
            </a:r>
            <a:r>
              <a:rPr lang="en-US" dirty="0"/>
              <a:t> </a:t>
            </a:r>
            <a:r>
              <a:rPr lang="en-US" dirty="0" err="1"/>
              <a:t>phần</a:t>
            </a:r>
            <a:r>
              <a:rPr lang="en-US" dirty="0"/>
              <a:t> </a:t>
            </a:r>
            <a:r>
              <a:rPr lang="en-US" dirty="0" err="1"/>
              <a:t>cứng</a:t>
            </a:r>
            <a:r>
              <a:rPr lang="en-US" dirty="0"/>
              <a:t> </a:t>
            </a:r>
            <a:r>
              <a:rPr lang="en-US" dirty="0" err="1"/>
              <a:t>nhúng</a:t>
            </a:r>
            <a:r>
              <a:rPr lang="en-US" dirty="0"/>
              <a:t>.</a:t>
            </a:r>
          </a:p>
          <a:p>
            <a:pPr marL="342900" lvl="0" indent="-342900">
              <a:buFont typeface="Arial" panose="020B0604020202020204" pitchFamily="34" charset="0"/>
              <a:buChar char="•"/>
            </a:pPr>
            <a:r>
              <a:rPr lang="en-US" dirty="0" err="1"/>
              <a:t>Bài</a:t>
            </a:r>
            <a:r>
              <a:rPr lang="en-US" dirty="0"/>
              <a:t> </a:t>
            </a:r>
            <a:r>
              <a:rPr lang="en-US" dirty="0" err="1"/>
              <a:t>báo</a:t>
            </a:r>
            <a:r>
              <a:rPr lang="en-US" dirty="0"/>
              <a:t> </a:t>
            </a:r>
            <a:r>
              <a:rPr lang="en-US" dirty="0" err="1"/>
              <a:t>không</a:t>
            </a:r>
            <a:r>
              <a:rPr lang="en-US" dirty="0"/>
              <a:t> </a:t>
            </a:r>
            <a:r>
              <a:rPr lang="en-US" dirty="0" err="1"/>
              <a:t>đánh</a:t>
            </a:r>
            <a:r>
              <a:rPr lang="en-US" dirty="0"/>
              <a:t> </a:t>
            </a:r>
            <a:r>
              <a:rPr lang="en-US" dirty="0" err="1"/>
              <a:t>giá</a:t>
            </a:r>
            <a:r>
              <a:rPr lang="en-US" dirty="0"/>
              <a:t> quantization, </a:t>
            </a:r>
            <a:r>
              <a:rPr lang="en-US" dirty="0" err="1"/>
              <a:t>công</a:t>
            </a:r>
            <a:r>
              <a:rPr lang="en-US" dirty="0"/>
              <a:t> </a:t>
            </a:r>
            <a:r>
              <a:rPr lang="en-US" dirty="0" err="1"/>
              <a:t>suất</a:t>
            </a:r>
            <a:r>
              <a:rPr lang="en-US" dirty="0"/>
              <a:t>, RAM hay </a:t>
            </a:r>
            <a:r>
              <a:rPr lang="en-US" dirty="0" err="1"/>
              <a:t>nhiệt</a:t>
            </a:r>
            <a:r>
              <a:rPr lang="en-US" dirty="0"/>
              <a:t> </a:t>
            </a:r>
            <a:r>
              <a:rPr lang="en-US" dirty="0" err="1"/>
              <a:t>độ</a:t>
            </a:r>
            <a:r>
              <a:rPr lang="en-US" dirty="0"/>
              <a:t>.</a:t>
            </a:r>
          </a:p>
          <a:p>
            <a:pPr marL="342900" lvl="0" indent="-342900">
              <a:buFont typeface="Arial" panose="020B0604020202020204" pitchFamily="34" charset="0"/>
              <a:buChar char="•"/>
            </a:pPr>
            <a:r>
              <a:rPr lang="en-US" dirty="0"/>
              <a:t>Dynamic kernel </a:t>
            </a:r>
            <a:r>
              <a:rPr lang="en-US" dirty="0" err="1"/>
              <a:t>và</a:t>
            </a:r>
            <a:r>
              <a:rPr lang="en-US" dirty="0"/>
              <a:t> Transformer encoder </a:t>
            </a:r>
            <a:r>
              <a:rPr lang="en-US" dirty="0" err="1"/>
              <a:t>có</a:t>
            </a:r>
            <a:r>
              <a:rPr lang="en-US" dirty="0"/>
              <a:t> </a:t>
            </a:r>
            <a:r>
              <a:rPr lang="en-US" dirty="0" err="1"/>
              <a:t>thể</a:t>
            </a:r>
            <a:r>
              <a:rPr lang="en-US" dirty="0"/>
              <a:t> </a:t>
            </a:r>
            <a:r>
              <a:rPr lang="en-US" dirty="0" err="1"/>
              <a:t>ảnh</a:t>
            </a:r>
            <a:r>
              <a:rPr lang="en-US" dirty="0"/>
              <a:t> </a:t>
            </a:r>
            <a:r>
              <a:rPr lang="en-US" dirty="0" err="1"/>
              <a:t>hưởng</a:t>
            </a:r>
            <a:r>
              <a:rPr lang="en-US" dirty="0"/>
              <a:t> </a:t>
            </a:r>
            <a:r>
              <a:rPr lang="en-US" dirty="0" err="1"/>
              <a:t>đến</a:t>
            </a:r>
            <a:r>
              <a:rPr lang="en-US" dirty="0"/>
              <a:t> </a:t>
            </a:r>
            <a:r>
              <a:rPr lang="en-US" dirty="0" err="1"/>
              <a:t>khả</a:t>
            </a:r>
            <a:r>
              <a:rPr lang="en-US" dirty="0"/>
              <a:t> </a:t>
            </a:r>
            <a:r>
              <a:rPr lang="en-US" dirty="0" err="1"/>
              <a:t>năng</a:t>
            </a:r>
            <a:r>
              <a:rPr lang="en-US" dirty="0"/>
              <a:t> </a:t>
            </a:r>
            <a:r>
              <a:rPr lang="en-US" dirty="0" err="1"/>
              <a:t>triển</a:t>
            </a:r>
            <a:r>
              <a:rPr lang="en-US" dirty="0"/>
              <a:t> </a:t>
            </a:r>
            <a:r>
              <a:rPr lang="en-US" dirty="0" err="1"/>
              <a:t>khai</a:t>
            </a:r>
            <a:r>
              <a:rPr lang="en-US" dirty="0"/>
              <a:t>, </a:t>
            </a:r>
            <a:r>
              <a:rPr lang="en-US" dirty="0" err="1"/>
              <a:t>nhưng</a:t>
            </a:r>
            <a:r>
              <a:rPr lang="en-US" dirty="0"/>
              <a:t> </a:t>
            </a:r>
            <a:r>
              <a:rPr lang="en-US" dirty="0" err="1"/>
              <a:t>bài</a:t>
            </a:r>
            <a:r>
              <a:rPr lang="en-US" dirty="0"/>
              <a:t> </a:t>
            </a:r>
            <a:r>
              <a:rPr lang="en-US" dirty="0" err="1"/>
              <a:t>báo</a:t>
            </a:r>
            <a:r>
              <a:rPr lang="en-US" dirty="0"/>
              <a:t> </a:t>
            </a:r>
            <a:r>
              <a:rPr lang="en-US" dirty="0" err="1"/>
              <a:t>không</a:t>
            </a:r>
            <a:r>
              <a:rPr lang="en-US" dirty="0"/>
              <a:t> </a:t>
            </a:r>
            <a:r>
              <a:rPr lang="en-US" dirty="0" err="1"/>
              <a:t>cung</a:t>
            </a:r>
            <a:r>
              <a:rPr lang="en-US" dirty="0"/>
              <a:t> </a:t>
            </a:r>
            <a:r>
              <a:rPr lang="en-US" dirty="0" err="1"/>
              <a:t>cấp</a:t>
            </a:r>
            <a:r>
              <a:rPr lang="en-US" dirty="0"/>
              <a:t> benchmark </a:t>
            </a:r>
            <a:r>
              <a:rPr lang="en-US" dirty="0" err="1"/>
              <a:t>riêng</a:t>
            </a:r>
            <a:r>
              <a:rPr lang="en-US" dirty="0"/>
              <a:t> </a:t>
            </a:r>
            <a:r>
              <a:rPr lang="en-US" dirty="0" err="1"/>
              <a:t>cho</a:t>
            </a:r>
            <a:r>
              <a:rPr lang="en-US" dirty="0"/>
              <a:t> </a:t>
            </a:r>
            <a:r>
              <a:rPr lang="en-US" dirty="0" err="1"/>
              <a:t>chúng</a:t>
            </a:r>
            <a:r>
              <a:rPr lang="en-US" dirty="0"/>
              <a:t> </a:t>
            </a:r>
            <a:r>
              <a:rPr lang="en-US" dirty="0" err="1"/>
              <a:t>trên</a:t>
            </a:r>
            <a:r>
              <a:rPr lang="en-US" dirty="0"/>
              <a:t> embedded accelerator.</a:t>
            </a:r>
          </a:p>
          <a:p>
            <a:pPr marL="342900" lvl="0" indent="-342900">
              <a:buFont typeface="Arial" panose="020B0604020202020204" pitchFamily="34" charset="0"/>
              <a:buChar char="•"/>
            </a:pPr>
            <a:r>
              <a:rPr lang="en-US" dirty="0" err="1"/>
              <a:t>Không</a:t>
            </a:r>
            <a:r>
              <a:rPr lang="en-US" dirty="0"/>
              <a:t> </a:t>
            </a:r>
            <a:r>
              <a:rPr lang="en-US" dirty="0" err="1"/>
              <a:t>được</a:t>
            </a:r>
            <a:r>
              <a:rPr lang="en-US" dirty="0"/>
              <a:t> </a:t>
            </a:r>
            <a:r>
              <a:rPr lang="en-US" dirty="0" err="1"/>
              <a:t>dùng</a:t>
            </a:r>
            <a:r>
              <a:rPr lang="en-US" dirty="0"/>
              <a:t> </a:t>
            </a:r>
            <a:r>
              <a:rPr lang="en-US" dirty="0" err="1"/>
              <a:t>kết</a:t>
            </a:r>
            <a:r>
              <a:rPr lang="en-US" dirty="0"/>
              <a:t> </a:t>
            </a:r>
            <a:r>
              <a:rPr lang="en-US" dirty="0" err="1"/>
              <a:t>quả</a:t>
            </a:r>
            <a:r>
              <a:rPr lang="en-US" dirty="0"/>
              <a:t> </a:t>
            </a:r>
            <a:r>
              <a:rPr lang="en-US" dirty="0" err="1"/>
              <a:t>của</a:t>
            </a:r>
            <a:r>
              <a:rPr lang="en-US" dirty="0"/>
              <a:t> RIM </a:t>
            </a:r>
            <a:r>
              <a:rPr lang="en-US" dirty="0" err="1"/>
              <a:t>để</a:t>
            </a:r>
            <a:r>
              <a:rPr lang="en-US" dirty="0"/>
              <a:t> </a:t>
            </a:r>
            <a:r>
              <a:rPr lang="en-US" dirty="0" err="1"/>
              <a:t>tuyên</a:t>
            </a:r>
            <a:r>
              <a:rPr lang="en-US" dirty="0"/>
              <a:t> </a:t>
            </a:r>
            <a:r>
              <a:rPr lang="en-US" dirty="0" err="1"/>
              <a:t>bố</a:t>
            </a:r>
            <a:r>
              <a:rPr lang="en-US" dirty="0"/>
              <a:t> </a:t>
            </a:r>
            <a:r>
              <a:rPr lang="en-US" dirty="0" err="1"/>
              <a:t>cải</a:t>
            </a:r>
            <a:r>
              <a:rPr lang="en-US" dirty="0"/>
              <a:t> </a:t>
            </a:r>
            <a:r>
              <a:rPr lang="en-US" dirty="0" err="1"/>
              <a:t>thiện</a:t>
            </a:r>
            <a:r>
              <a:rPr lang="en-US" dirty="0"/>
              <a:t> </a:t>
            </a:r>
            <a:r>
              <a:rPr lang="en-US" dirty="0" err="1"/>
              <a:t>trên</a:t>
            </a:r>
            <a:r>
              <a:rPr lang="en-US" dirty="0"/>
              <a:t> </a:t>
            </a:r>
            <a:r>
              <a:rPr lang="en-US" dirty="0" err="1"/>
              <a:t>CULane</a:t>
            </a:r>
            <a:r>
              <a:rPr lang="en-US" dirty="0"/>
              <a:t> </a:t>
            </a:r>
            <a:r>
              <a:rPr lang="en-US" dirty="0" err="1"/>
              <a:t>hoặc</a:t>
            </a:r>
            <a:r>
              <a:rPr lang="en-US" dirty="0"/>
              <a:t> </a:t>
            </a:r>
            <a:r>
              <a:rPr lang="en-US" dirty="0" err="1"/>
              <a:t>TuSimple</a:t>
            </a:r>
            <a:r>
              <a:rPr lang="en-US" dirty="0"/>
              <a:t>.</a:t>
            </a:r>
          </a:p>
        </p:txBody>
      </p:sp>
    </p:spTree>
    <p:extLst>
      <p:ext uri="{BB962C8B-B14F-4D97-AF65-F5344CB8AC3E}">
        <p14:creationId xmlns:p14="http://schemas.microsoft.com/office/powerpoint/2010/main" val="10257711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 name="Table 50">
            <a:extLst>
              <a:ext uri="{FF2B5EF4-FFF2-40B4-BE49-F238E27FC236}">
                <a16:creationId xmlns:a16="http://schemas.microsoft.com/office/drawing/2014/main" id="{52B3DD5C-36B0-842E-9AF7-FF81231C38F0}"/>
              </a:ext>
            </a:extLst>
          </p:cNvPr>
          <p:cNvGraphicFramePr>
            <a:graphicFrameLocks noGrp="1"/>
          </p:cNvGraphicFramePr>
          <p:nvPr>
            <p:extLst>
              <p:ext uri="{D42A27DB-BD31-4B8C-83A1-F6EECF244321}">
                <p14:modId xmlns:p14="http://schemas.microsoft.com/office/powerpoint/2010/main" val="2804160922"/>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6</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3" name="Picture 2">
            <a:extLst>
              <a:ext uri="{FF2B5EF4-FFF2-40B4-BE49-F238E27FC236}">
                <a16:creationId xmlns:a16="http://schemas.microsoft.com/office/drawing/2014/main" id="{74DC8D43-F0F9-B2D6-123B-B6D7FCD2DCA0}"/>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5" name="Shape 2">
            <a:extLst>
              <a:ext uri="{FF2B5EF4-FFF2-40B4-BE49-F238E27FC236}">
                <a16:creationId xmlns:a16="http://schemas.microsoft.com/office/drawing/2014/main" id="{46312AEB-27AE-EFA3-DD1E-D884F8023E87}"/>
              </a:ext>
            </a:extLst>
          </p:cNvPr>
          <p:cNvSpPr/>
          <p:nvPr/>
        </p:nvSpPr>
        <p:spPr>
          <a:xfrm>
            <a:off x="8303936" y="1112762"/>
            <a:ext cx="7084547" cy="5364238"/>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9" name="Picture 8">
            <a:extLst>
              <a:ext uri="{FF2B5EF4-FFF2-40B4-BE49-F238E27FC236}">
                <a16:creationId xmlns:a16="http://schemas.microsoft.com/office/drawing/2014/main" id="{3715848D-B0C1-D65D-65AE-C378F4A2B5BC}"/>
              </a:ext>
            </a:extLst>
          </p:cNvPr>
          <p:cNvPicPr/>
          <p:nvPr/>
        </p:nvPicPr>
        <p:blipFill>
          <a:blip r:embed="rId3"/>
          <a:stretch>
            <a:fillRect/>
          </a:stretch>
        </p:blipFill>
        <p:spPr>
          <a:xfrm>
            <a:off x="-118532" y="-145263"/>
            <a:ext cx="1371600" cy="1390223"/>
          </a:xfrm>
          <a:prstGeom prst="rect">
            <a:avLst/>
          </a:prstGeom>
        </p:spPr>
      </p:pic>
      <p:pic>
        <p:nvPicPr>
          <p:cNvPr id="11" name="Picture 10">
            <a:extLst>
              <a:ext uri="{FF2B5EF4-FFF2-40B4-BE49-F238E27FC236}">
                <a16:creationId xmlns:a16="http://schemas.microsoft.com/office/drawing/2014/main" id="{E7EF3210-25EA-E3D5-B3AD-2DD1CEB148B4}"/>
              </a:ext>
            </a:extLst>
          </p:cNvPr>
          <p:cNvPicPr>
            <a:picLocks noChangeAspect="1"/>
          </p:cNvPicPr>
          <p:nvPr/>
        </p:nvPicPr>
        <p:blipFill>
          <a:blip r:embed="rId4"/>
          <a:stretch>
            <a:fillRect/>
          </a:stretch>
        </p:blipFill>
        <p:spPr>
          <a:xfrm>
            <a:off x="-118532" y="1111603"/>
            <a:ext cx="3073558" cy="133357"/>
          </a:xfrm>
          <a:prstGeom prst="rect">
            <a:avLst/>
          </a:prstGeom>
        </p:spPr>
      </p:pic>
      <p:pic>
        <p:nvPicPr>
          <p:cNvPr id="13" name="Picture 12">
            <a:extLst>
              <a:ext uri="{FF2B5EF4-FFF2-40B4-BE49-F238E27FC236}">
                <a16:creationId xmlns:a16="http://schemas.microsoft.com/office/drawing/2014/main" id="{D381CDAA-391B-9EF2-6DF2-B7A599244F6C}"/>
              </a:ext>
            </a:extLst>
          </p:cNvPr>
          <p:cNvPicPr>
            <a:picLocks noChangeAspect="1"/>
          </p:cNvPicPr>
          <p:nvPr/>
        </p:nvPicPr>
        <p:blipFill>
          <a:blip r:embed="rId5"/>
          <a:stretch>
            <a:fillRect/>
          </a:stretch>
        </p:blipFill>
        <p:spPr>
          <a:xfrm>
            <a:off x="4752183" y="1545679"/>
            <a:ext cx="482625" cy="463574"/>
          </a:xfrm>
          <a:prstGeom prst="rect">
            <a:avLst/>
          </a:prstGeom>
        </p:spPr>
      </p:pic>
      <p:pic>
        <p:nvPicPr>
          <p:cNvPr id="15" name="Image 0" descr="preencoded.png">
            <a:extLst>
              <a:ext uri="{FF2B5EF4-FFF2-40B4-BE49-F238E27FC236}">
                <a16:creationId xmlns:a16="http://schemas.microsoft.com/office/drawing/2014/main" id="{2A2E4F98-DF4E-196A-4F6C-329F62CF12E9}"/>
              </a:ext>
            </a:extLst>
          </p:cNvPr>
          <p:cNvPicPr>
            <a:picLocks noChangeAspect="1"/>
          </p:cNvPicPr>
          <p:nvPr/>
        </p:nvPicPr>
        <p:blipFill>
          <a:blip r:embed="rId6"/>
          <a:stretch>
            <a:fillRect/>
          </a:stretch>
        </p:blipFill>
        <p:spPr>
          <a:xfrm flipH="1">
            <a:off x="875485" y="1669000"/>
            <a:ext cx="65834" cy="318574"/>
          </a:xfrm>
          <a:prstGeom prst="rect">
            <a:avLst/>
          </a:prstGeom>
        </p:spPr>
      </p:pic>
      <p:pic>
        <p:nvPicPr>
          <p:cNvPr id="17" name="Picture 16">
            <a:extLst>
              <a:ext uri="{FF2B5EF4-FFF2-40B4-BE49-F238E27FC236}">
                <a16:creationId xmlns:a16="http://schemas.microsoft.com/office/drawing/2014/main" id="{CD08F849-4E4B-4083-ECBC-9C35573CE900}"/>
              </a:ext>
            </a:extLst>
          </p:cNvPr>
          <p:cNvPicPr>
            <a:picLocks noChangeAspect="1"/>
          </p:cNvPicPr>
          <p:nvPr/>
        </p:nvPicPr>
        <p:blipFill>
          <a:blip r:embed="rId7"/>
          <a:stretch>
            <a:fillRect/>
          </a:stretch>
        </p:blipFill>
        <p:spPr>
          <a:xfrm>
            <a:off x="327226" y="1589236"/>
            <a:ext cx="463574" cy="476274"/>
          </a:xfrm>
          <a:prstGeom prst="rect">
            <a:avLst/>
          </a:prstGeom>
        </p:spPr>
      </p:pic>
      <p:sp>
        <p:nvSpPr>
          <p:cNvPr id="19" name="Shape 3">
            <a:extLst>
              <a:ext uri="{FF2B5EF4-FFF2-40B4-BE49-F238E27FC236}">
                <a16:creationId xmlns:a16="http://schemas.microsoft.com/office/drawing/2014/main" id="{CC952563-0E43-3DEF-CDA2-596A697F6547}"/>
              </a:ext>
            </a:extLst>
          </p:cNvPr>
          <p:cNvSpPr/>
          <p:nvPr/>
        </p:nvSpPr>
        <p:spPr>
          <a:xfrm>
            <a:off x="934085" y="1638935"/>
            <a:ext cx="3619500" cy="335915"/>
          </a:xfrm>
          <a:prstGeom prst="roundRect">
            <a:avLst>
              <a:gd name="adj" fmla="val 6235"/>
            </a:avLst>
          </a:prstGeom>
          <a:solidFill>
            <a:srgbClr val="FFFFFF"/>
          </a:solidFill>
          <a:ln w="22860">
            <a:solidFill>
              <a:srgbClr val="BACFDD"/>
            </a:solidFill>
            <a:prstDash val="solid"/>
          </a:ln>
        </p:spPr>
      </p:sp>
      <p:sp>
        <p:nvSpPr>
          <p:cNvPr id="21" name="Text 4">
            <a:extLst>
              <a:ext uri="{FF2B5EF4-FFF2-40B4-BE49-F238E27FC236}">
                <a16:creationId xmlns:a16="http://schemas.microsoft.com/office/drawing/2014/main" id="{28BAFD82-DE37-651B-FBE1-BE7C667E89BB}"/>
              </a:ext>
            </a:extLst>
          </p:cNvPr>
          <p:cNvSpPr/>
          <p:nvPr/>
        </p:nvSpPr>
        <p:spPr>
          <a:xfrm>
            <a:off x="1000125" y="1628775"/>
            <a:ext cx="1577340" cy="277495"/>
          </a:xfrm>
          <a:prstGeom prst="rect">
            <a:avLst/>
          </a:prstGeom>
          <a:noFill/>
        </p:spPr>
        <p:txBody>
          <a:bodyPr wrap="none" lIns="0" tIns="0" rIns="0" bIns="0" rtlCol="0" anchor="t"/>
          <a:lstStyle/>
          <a:p>
            <a:pPr marL="0" indent="0" algn="l">
              <a:lnSpc>
                <a:spcPct val="100000"/>
              </a:lnSpc>
              <a:buNone/>
            </a:pPr>
            <a:r>
              <a:rPr lang="en-US" sz="2400" dirty="0">
                <a:solidFill>
                  <a:schemeClr val="tx1"/>
                </a:solidFill>
                <a:latin typeface="Times New Roman" panose="02020603050405020304" pitchFamily="18" charset="0"/>
                <a:cs typeface="Times New Roman" panose="02020603050405020304" pitchFamily="18" charset="0"/>
              </a:rPr>
              <a:t>Xử lí vấ đề </a:t>
            </a:r>
            <a:r>
              <a:rPr lang="en-US" altLang="en-US" sz="2400" dirty="0">
                <a:solidFill>
                  <a:schemeClr val="tx1"/>
                </a:solidFill>
                <a:latin typeface="Times New Roman" panose="02020603050405020304" pitchFamily="18" charset="0"/>
                <a:cs typeface="Times New Roman" panose="02020603050405020304" pitchFamily="18" charset="0"/>
              </a:rPr>
              <a:t>Lane bị mờ / mất</a:t>
            </a:r>
          </a:p>
        </p:txBody>
      </p:sp>
      <p:pic>
        <p:nvPicPr>
          <p:cNvPr id="23" name="Image 0" descr="preencoded.png">
            <a:extLst>
              <a:ext uri="{FF2B5EF4-FFF2-40B4-BE49-F238E27FC236}">
                <a16:creationId xmlns:a16="http://schemas.microsoft.com/office/drawing/2014/main" id="{3BE41110-245A-3FC4-6516-F13D85EAD69C}"/>
              </a:ext>
            </a:extLst>
          </p:cNvPr>
          <p:cNvPicPr>
            <a:picLocks noChangeAspect="1"/>
          </p:cNvPicPr>
          <p:nvPr/>
        </p:nvPicPr>
        <p:blipFill>
          <a:blip r:embed="rId6"/>
          <a:stretch>
            <a:fillRect/>
          </a:stretch>
        </p:blipFill>
        <p:spPr>
          <a:xfrm flipH="1">
            <a:off x="5309967" y="1616195"/>
            <a:ext cx="65834" cy="318574"/>
          </a:xfrm>
          <a:prstGeom prst="rect">
            <a:avLst/>
          </a:prstGeom>
        </p:spPr>
      </p:pic>
      <p:sp>
        <p:nvSpPr>
          <p:cNvPr id="25" name="Shape 3">
            <a:extLst>
              <a:ext uri="{FF2B5EF4-FFF2-40B4-BE49-F238E27FC236}">
                <a16:creationId xmlns:a16="http://schemas.microsoft.com/office/drawing/2014/main" id="{6EF36390-1608-AC97-424C-6F9D8A48D158}"/>
              </a:ext>
            </a:extLst>
          </p:cNvPr>
          <p:cNvSpPr/>
          <p:nvPr/>
        </p:nvSpPr>
        <p:spPr>
          <a:xfrm>
            <a:off x="5368925" y="1598930"/>
            <a:ext cx="2811780" cy="310515"/>
          </a:xfrm>
          <a:prstGeom prst="roundRect">
            <a:avLst>
              <a:gd name="adj" fmla="val 6235"/>
            </a:avLst>
          </a:prstGeom>
          <a:solidFill>
            <a:srgbClr val="FFFFFF"/>
          </a:solidFill>
          <a:ln w="22860">
            <a:solidFill>
              <a:srgbClr val="BACFDD"/>
            </a:solidFill>
            <a:prstDash val="solid"/>
          </a:ln>
        </p:spPr>
      </p:sp>
      <p:sp>
        <p:nvSpPr>
          <p:cNvPr id="27" name="Text 4">
            <a:extLst>
              <a:ext uri="{FF2B5EF4-FFF2-40B4-BE49-F238E27FC236}">
                <a16:creationId xmlns:a16="http://schemas.microsoft.com/office/drawing/2014/main" id="{9A91F7D2-494D-1C97-ACF1-3FBE6D21AD35}"/>
              </a:ext>
            </a:extLst>
          </p:cNvPr>
          <p:cNvSpPr/>
          <p:nvPr/>
        </p:nvSpPr>
        <p:spPr>
          <a:xfrm>
            <a:off x="5434494" y="1575993"/>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Hệ thống phức tạp</a:t>
            </a:r>
            <a:endParaRPr lang="en-US" sz="2400" dirty="0">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CE7EC1F3-910D-1135-785B-45784B317C51}"/>
              </a:ext>
            </a:extLst>
          </p:cNvPr>
          <p:cNvPicPr>
            <a:picLocks noChangeAspect="1"/>
          </p:cNvPicPr>
          <p:nvPr/>
        </p:nvPicPr>
        <p:blipFill>
          <a:blip r:embed="rId5"/>
          <a:stretch>
            <a:fillRect/>
          </a:stretch>
        </p:blipFill>
        <p:spPr>
          <a:xfrm>
            <a:off x="4761709" y="2059132"/>
            <a:ext cx="482625" cy="463574"/>
          </a:xfrm>
          <a:prstGeom prst="rect">
            <a:avLst/>
          </a:prstGeom>
        </p:spPr>
      </p:pic>
      <p:pic>
        <p:nvPicPr>
          <p:cNvPr id="31" name="Image 0" descr="preencoded.png">
            <a:extLst>
              <a:ext uri="{FF2B5EF4-FFF2-40B4-BE49-F238E27FC236}">
                <a16:creationId xmlns:a16="http://schemas.microsoft.com/office/drawing/2014/main" id="{1E067E73-C9F5-A563-4948-5C0D82352DAA}"/>
              </a:ext>
            </a:extLst>
          </p:cNvPr>
          <p:cNvPicPr>
            <a:picLocks noChangeAspect="1"/>
          </p:cNvPicPr>
          <p:nvPr/>
        </p:nvPicPr>
        <p:blipFill>
          <a:blip r:embed="rId6"/>
          <a:stretch>
            <a:fillRect/>
          </a:stretch>
        </p:blipFill>
        <p:spPr>
          <a:xfrm flipH="1">
            <a:off x="5319493" y="2129648"/>
            <a:ext cx="65834" cy="318574"/>
          </a:xfrm>
          <a:prstGeom prst="rect">
            <a:avLst/>
          </a:prstGeom>
        </p:spPr>
      </p:pic>
      <p:sp>
        <p:nvSpPr>
          <p:cNvPr id="33" name="Shape 3">
            <a:extLst>
              <a:ext uri="{FF2B5EF4-FFF2-40B4-BE49-F238E27FC236}">
                <a16:creationId xmlns:a16="http://schemas.microsoft.com/office/drawing/2014/main" id="{144F07AA-33B1-9DCD-7A9D-A061861D46B3}"/>
              </a:ext>
            </a:extLst>
          </p:cNvPr>
          <p:cNvSpPr/>
          <p:nvPr/>
        </p:nvSpPr>
        <p:spPr>
          <a:xfrm>
            <a:off x="5378450" y="2112645"/>
            <a:ext cx="2814320" cy="316865"/>
          </a:xfrm>
          <a:prstGeom prst="roundRect">
            <a:avLst>
              <a:gd name="adj" fmla="val 6235"/>
            </a:avLst>
          </a:prstGeom>
          <a:solidFill>
            <a:srgbClr val="FFFFFF"/>
          </a:solidFill>
          <a:ln w="22860">
            <a:solidFill>
              <a:srgbClr val="BACFDD"/>
            </a:solidFill>
            <a:prstDash val="solid"/>
          </a:ln>
        </p:spPr>
      </p:sp>
      <p:sp>
        <p:nvSpPr>
          <p:cNvPr id="35" name="Text 4">
            <a:extLst>
              <a:ext uri="{FF2B5EF4-FFF2-40B4-BE49-F238E27FC236}">
                <a16:creationId xmlns:a16="http://schemas.microsoft.com/office/drawing/2014/main" id="{6418ABFA-C71D-4533-0D91-59916CE5A1EA}"/>
              </a:ext>
            </a:extLst>
          </p:cNvPr>
          <p:cNvSpPr/>
          <p:nvPr/>
        </p:nvSpPr>
        <p:spPr>
          <a:xfrm>
            <a:off x="5444020" y="2089446"/>
            <a:ext cx="2002651" cy="276777"/>
          </a:xfrm>
          <a:prstGeom prst="rect">
            <a:avLst/>
          </a:prstGeom>
          <a:noFill/>
        </p:spPr>
        <p:txBody>
          <a:bodyPr wrap="none" lIns="0" tIns="0" rIns="0" bIns="0" rtlCol="0" anchor="t"/>
          <a:lstStyle/>
          <a:p>
            <a:pPr marL="0" indent="0" algn="l">
              <a:lnSpc>
                <a:spcPct val="100000"/>
              </a:lnSpc>
              <a:buNone/>
            </a:pPr>
            <a:r>
              <a:rPr lang="en-US" altLang="vi-VN" sz="2400" dirty="0">
                <a:latin typeface="Times New Roman" panose="02020603050405020304" pitchFamily="18" charset="0"/>
                <a:ea typeface="Barlow Bold" panose="00000800000000000000" pitchFamily="34" charset="-122"/>
                <a:cs typeface="Times New Roman" panose="02020603050405020304" pitchFamily="18" charset="0"/>
              </a:rPr>
              <a:t>Chỉ tập trung vào lane</a:t>
            </a:r>
            <a:endParaRPr lang="en-US" altLang="vi-VN"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endParaRPr>
          </a:p>
        </p:txBody>
      </p:sp>
      <p:sp>
        <p:nvSpPr>
          <p:cNvPr id="37" name="Shape 2">
            <a:extLst>
              <a:ext uri="{FF2B5EF4-FFF2-40B4-BE49-F238E27FC236}">
                <a16:creationId xmlns:a16="http://schemas.microsoft.com/office/drawing/2014/main" id="{4A3C3507-F837-EACC-045E-22BC82FAF519}"/>
              </a:ext>
            </a:extLst>
          </p:cNvPr>
          <p:cNvSpPr/>
          <p:nvPr/>
        </p:nvSpPr>
        <p:spPr>
          <a:xfrm>
            <a:off x="171589" y="2521096"/>
            <a:ext cx="7682599" cy="5575146"/>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39" name="Text 3">
            <a:extLst>
              <a:ext uri="{FF2B5EF4-FFF2-40B4-BE49-F238E27FC236}">
                <a16:creationId xmlns:a16="http://schemas.microsoft.com/office/drawing/2014/main" id="{4140F9CF-D4B1-B7B3-A8B6-FF9D61A1FD1F}"/>
              </a:ext>
            </a:extLst>
          </p:cNvPr>
          <p:cNvSpPr/>
          <p:nvPr/>
        </p:nvSpPr>
        <p:spPr>
          <a:xfrm>
            <a:off x="396345" y="2696955"/>
            <a:ext cx="4920721" cy="604361"/>
          </a:xfrm>
          <a:prstGeom prst="rect">
            <a:avLst/>
          </a:prstGeom>
          <a:noFill/>
        </p:spPr>
        <p:txBody>
          <a:bodyPr wrap="square" lIns="0" tIns="0" rIns="0" bIns="0" rtlCol="0" anchor="t"/>
          <a:lstStyle/>
          <a:p>
            <a:pPr marL="0" indent="0" algn="l">
              <a:lnSpc>
                <a:spcPct val="10000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Vấn đề giải quyết</a:t>
            </a:r>
            <a:r>
              <a:rPr lang="en-US" alt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a:t>
            </a:r>
            <a:b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br>
            <a:endParaRPr lang="en-US" sz="1900" dirty="0"/>
          </a:p>
        </p:txBody>
      </p:sp>
      <p:sp>
        <p:nvSpPr>
          <p:cNvPr id="41" name="Text 3">
            <a:extLst>
              <a:ext uri="{FF2B5EF4-FFF2-40B4-BE49-F238E27FC236}">
                <a16:creationId xmlns:a16="http://schemas.microsoft.com/office/drawing/2014/main" id="{F0C063E6-71E5-0ABC-6F48-2F20FCEAAA6D}"/>
              </a:ext>
            </a:extLst>
          </p:cNvPr>
          <p:cNvSpPr/>
          <p:nvPr/>
        </p:nvSpPr>
        <p:spPr>
          <a:xfrm>
            <a:off x="396345" y="6830580"/>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Output thực tế</a:t>
            </a:r>
            <a:endParaRPr lang="en-US" sz="1900" dirty="0"/>
          </a:p>
        </p:txBody>
      </p:sp>
      <p:sp>
        <p:nvSpPr>
          <p:cNvPr id="43" name="Text 4">
            <a:extLst>
              <a:ext uri="{FF2B5EF4-FFF2-40B4-BE49-F238E27FC236}">
                <a16:creationId xmlns:a16="http://schemas.microsoft.com/office/drawing/2014/main" id="{5A6FC00A-8795-5DD7-02CA-55F3F33368ED}"/>
              </a:ext>
            </a:extLst>
          </p:cNvPr>
          <p:cNvSpPr/>
          <p:nvPr/>
        </p:nvSpPr>
        <p:spPr>
          <a:xfrm>
            <a:off x="427990" y="3107055"/>
            <a:ext cx="7334885" cy="2259965"/>
          </a:xfrm>
          <a:prstGeom prst="rect">
            <a:avLst/>
          </a:prstGeom>
          <a:noFill/>
        </p:spPr>
        <p:txBody>
          <a:bodyPr wrap="square" lIns="0" tIns="0" rIns="0" bIns="0" rtlCol="0" anchor="t"/>
          <a:lstStyle/>
          <a:p>
            <a:pPr marL="0" indent="0" algn="l">
              <a:lnSpc>
                <a:spcPts val="2250"/>
              </a:lnSpc>
              <a:buNone/>
            </a:pPr>
            <a:r>
              <a:rPr lang="en-US" altLang="en-US" sz="1400" dirty="0">
                <a:latin typeface="Montserrat" panose="00000500000000000000" pitchFamily="34" charset="0"/>
                <a:cs typeface="Montserrat" panose="00000500000000000000" pitchFamily="34" charset="0"/>
              </a:rPr>
              <a:t>Các ph</a:t>
            </a:r>
            <a:r>
              <a:rPr lang="" altLang="en-US" sz="1400" dirty="0">
                <a:latin typeface="Montserrat" panose="00000500000000000000" pitchFamily="34" charset="0"/>
                <a:cs typeface="Montserrat" panose="00000500000000000000" pitchFamily="34" charset="0"/>
              </a:rPr>
              <a:t>ư</a:t>
            </a:r>
            <a:r>
              <a:rPr lang="en-US" altLang="en-US" sz="1400" dirty="0">
                <a:latin typeface="Montserrat" panose="00000500000000000000" pitchFamily="34" charset="0"/>
                <a:cs typeface="Montserrat" panose="00000500000000000000" pitchFamily="34" charset="0"/>
              </a:rPr>
              <a:t>ơng pháp lane thông th</a:t>
            </a:r>
            <a:r>
              <a:rPr lang="" altLang="en-US" sz="1400" dirty="0">
                <a:latin typeface="Montserrat" panose="00000500000000000000" pitchFamily="34" charset="0"/>
                <a:cs typeface="Montserrat" panose="00000500000000000000" pitchFamily="34" charset="0"/>
              </a:rPr>
              <a:t>ư</a:t>
            </a:r>
            <a:r>
              <a:rPr lang="en-US" altLang="en-US" sz="1400" dirty="0">
                <a:latin typeface="Montserrat" panose="00000500000000000000" pitchFamily="34" charset="0"/>
                <a:cs typeface="Montserrat" panose="00000500000000000000" pitchFamily="34" charset="0"/>
              </a:rPr>
              <a:t>ờng phụ thuộc vào việc camera phải nhìn thấy:</a:t>
            </a:r>
          </a:p>
          <a:p>
            <a:pPr marL="285750" indent="-285750" algn="l">
              <a:lnSpc>
                <a:spcPts val="2250"/>
              </a:lnSpc>
              <a:buFont typeface="Arial" panose="020B0604020202020204" pitchFamily="34" charset="0"/>
              <a:buChar char="•"/>
            </a:pPr>
            <a:r>
              <a:rPr lang="en-US" altLang="en-US" sz="1400" dirty="0">
                <a:latin typeface="Montserrat" panose="00000500000000000000" pitchFamily="34" charset="0"/>
                <a:cs typeface="Montserrat" panose="00000500000000000000" pitchFamily="34" charset="0"/>
              </a:rPr>
              <a:t>vạch lane;</a:t>
            </a:r>
          </a:p>
          <a:p>
            <a:pPr marL="285750" indent="-285750" algn="l">
              <a:lnSpc>
                <a:spcPts val="2250"/>
              </a:lnSpc>
              <a:buFont typeface="Arial" panose="020B0604020202020204" pitchFamily="34" charset="0"/>
              <a:buChar char="•"/>
            </a:pPr>
            <a:r>
              <a:rPr lang="en-US" altLang="en-US" sz="1400" dirty="0">
                <a:latin typeface="Montserrat" panose="00000500000000000000" pitchFamily="34" charset="0"/>
                <a:cs typeface="Montserrat" panose="00000500000000000000" pitchFamily="34" charset="0"/>
              </a:rPr>
              <a:t>biên </a:t>
            </a:r>
            <a:r>
              <a:rPr lang="" altLang="en-US" sz="1400" dirty="0">
                <a:latin typeface="Montserrat" panose="00000500000000000000" pitchFamily="34" charset="0"/>
                <a:cs typeface="Montserrat" panose="00000500000000000000" pitchFamily="34" charset="0"/>
              </a:rPr>
              <a:t>đư</a:t>
            </a:r>
            <a:r>
              <a:rPr lang="en-US" altLang="en-US" sz="1400" dirty="0">
                <a:latin typeface="Montserrat" panose="00000500000000000000" pitchFamily="34" charset="0"/>
                <a:cs typeface="Montserrat" panose="00000500000000000000" pitchFamily="34" charset="0"/>
              </a:rPr>
              <a:t>ờng;</a:t>
            </a:r>
          </a:p>
          <a:p>
            <a:pPr marL="285750" indent="-285750" algn="l">
              <a:lnSpc>
                <a:spcPts val="2250"/>
              </a:lnSpc>
              <a:buFont typeface="Arial" panose="020B0604020202020204" pitchFamily="34" charset="0"/>
              <a:buChar char="•"/>
            </a:pPr>
            <a:r>
              <a:rPr lang="en-US" altLang="en-US" sz="1400" dirty="0">
                <a:latin typeface="Montserrat" panose="00000500000000000000" pitchFamily="34" charset="0"/>
                <a:cs typeface="Montserrat" panose="00000500000000000000" pitchFamily="34" charset="0"/>
              </a:rPr>
              <a:t>feature trên mặt </a:t>
            </a:r>
            <a:r>
              <a:rPr lang="" altLang="en-US" sz="1400" dirty="0">
                <a:latin typeface="Montserrat" panose="00000500000000000000" pitchFamily="34" charset="0"/>
                <a:cs typeface="Montserrat" panose="00000500000000000000" pitchFamily="34" charset="0"/>
              </a:rPr>
              <a:t>đư</a:t>
            </a:r>
            <a:r>
              <a:rPr lang="en-US" altLang="en-US" sz="1400" dirty="0">
                <a:latin typeface="Montserrat" panose="00000500000000000000" pitchFamily="34" charset="0"/>
                <a:cs typeface="Montserrat" panose="00000500000000000000" pitchFamily="34" charset="0"/>
              </a:rPr>
              <a:t>ờng.</a:t>
            </a:r>
          </a:p>
          <a:p>
            <a:pPr marL="0" indent="0" algn="l">
              <a:lnSpc>
                <a:spcPts val="2250"/>
              </a:lnSpc>
              <a:buNone/>
            </a:pPr>
            <a:r>
              <a:rPr lang="en-US" altLang="en-US" sz="1400" dirty="0">
                <a:latin typeface="Montserrat" panose="00000500000000000000" pitchFamily="34" charset="0"/>
                <a:cs typeface="Montserrat" panose="00000500000000000000" pitchFamily="34" charset="0"/>
              </a:rPr>
              <a:t>Nh</a:t>
            </a:r>
            <a:r>
              <a:rPr lang="" altLang="en-US" sz="1400" dirty="0">
                <a:latin typeface="Montserrat" panose="00000500000000000000" pitchFamily="34" charset="0"/>
                <a:cs typeface="Montserrat" panose="00000500000000000000" pitchFamily="34" charset="0"/>
              </a:rPr>
              <a:t>ư</a:t>
            </a:r>
            <a:r>
              <a:rPr lang="en-US" altLang="en-US" sz="1400" dirty="0">
                <a:latin typeface="Montserrat" panose="00000500000000000000" pitchFamily="34" charset="0"/>
                <a:cs typeface="Montserrat" panose="00000500000000000000" pitchFamily="34" charset="0"/>
              </a:rPr>
              <a:t>ng trong thực tế có thể xảy ra</a:t>
            </a:r>
            <a:r>
              <a:rPr lang="" altLang="en-US" sz="1400" dirty="0">
                <a:latin typeface="Montserrat" panose="00000500000000000000" pitchFamily="34" charset="0"/>
                <a:cs typeface="Montserrat" panose="00000500000000000000" pitchFamily="34" charset="0"/>
              </a:rPr>
              <a:t> </a:t>
            </a:r>
            <a:r>
              <a:rPr lang="en-US" altLang="en-US" sz="1400" dirty="0">
                <a:latin typeface="Montserrat" panose="00000500000000000000" pitchFamily="34" charset="0"/>
                <a:cs typeface="Montserrat" panose="00000500000000000000" pitchFamily="34" charset="0"/>
              </a:rPr>
              <a:t>Lane mờ → Lane bị che → gần nh</a:t>
            </a:r>
            <a:r>
              <a:rPr lang="" altLang="en-US" sz="1400" dirty="0">
                <a:latin typeface="Montserrat" panose="00000500000000000000" pitchFamily="34" charset="0"/>
                <a:cs typeface="Montserrat" panose="00000500000000000000" pitchFamily="34" charset="0"/>
              </a:rPr>
              <a:t>ư </a:t>
            </a:r>
            <a:r>
              <a:rPr lang="en-US" altLang="en-US" sz="1400" dirty="0">
                <a:latin typeface="Montserrat" panose="00000500000000000000" pitchFamily="34" charset="0"/>
                <a:cs typeface="Montserrat" panose="00000500000000000000" pitchFamily="34" charset="0"/>
              </a:rPr>
              <a:t>không còn Lane Feature</a:t>
            </a:r>
          </a:p>
          <a:p>
            <a:pPr marL="0" indent="0" algn="l">
              <a:lnSpc>
                <a:spcPts val="2250"/>
              </a:lnSpc>
              <a:buNone/>
            </a:pPr>
            <a:r>
              <a:rPr lang="en-US" altLang="en-US" sz="1400" dirty="0">
                <a:latin typeface="Montserrat" panose="00000500000000000000" pitchFamily="34" charset="0"/>
                <a:cs typeface="Montserrat" panose="00000500000000000000" pitchFamily="34" charset="0"/>
              </a:rPr>
              <a:t>Khi </a:t>
            </a:r>
            <a:r>
              <a:rPr lang="" altLang="en-US" sz="1400" dirty="0">
                <a:latin typeface="Montserrat" panose="00000500000000000000" pitchFamily="34" charset="0"/>
                <a:cs typeface="Montserrat" panose="00000500000000000000" pitchFamily="34" charset="0"/>
              </a:rPr>
              <a:t>đ</a:t>
            </a:r>
            <a:r>
              <a:rPr lang="en-US" altLang="en-US" sz="1400" dirty="0">
                <a:latin typeface="Montserrat" panose="00000500000000000000" pitchFamily="34" charset="0"/>
                <a:cs typeface="Montserrat" panose="00000500000000000000" pitchFamily="34" charset="0"/>
              </a:rPr>
              <a:t>ó chỉ cố dùng thuật toán phát hiện feature mạnh hơn vẫn có thể thất bại và tốn nhiều thời gian xử l</a:t>
            </a:r>
            <a:r>
              <a:rPr lang="" altLang="en-US" sz="1400" dirty="0">
                <a:latin typeface="Montserrat" panose="00000500000000000000" pitchFamily="34" charset="0"/>
                <a:cs typeface="Montserrat" panose="00000500000000000000" pitchFamily="34" charset="0"/>
              </a:rPr>
              <a:t>ý.</a:t>
            </a:r>
          </a:p>
          <a:p>
            <a:pPr marL="0" indent="0" algn="l">
              <a:lnSpc>
                <a:spcPts val="2250"/>
              </a:lnSpc>
              <a:buNone/>
            </a:pPr>
            <a:r>
              <a:rPr lang="en-US" altLang="en-US" sz="1400" dirty="0">
                <a:latin typeface="Montserrat" panose="00000500000000000000" pitchFamily="34" charset="0"/>
                <a:cs typeface="Montserrat" panose="00000500000000000000" pitchFamily="34" charset="0"/>
              </a:rPr>
              <a:t>Bài báo giải quyết việc Ego-Lane bị mất do thiếu lane feature bằng cách dùng hình dạng </a:t>
            </a:r>
            <a:r>
              <a:rPr lang="" altLang="en-US" sz="1400" dirty="0">
                <a:latin typeface="Montserrat" panose="00000500000000000000" pitchFamily="34" charset="0"/>
                <a:cs typeface="Montserrat" panose="00000500000000000000" pitchFamily="34" charset="0"/>
              </a:rPr>
              <a:t>đư</a:t>
            </a:r>
            <a:r>
              <a:rPr lang="en-US" altLang="en-US" sz="1400" dirty="0">
                <a:latin typeface="Montserrat" panose="00000500000000000000" pitchFamily="34" charset="0"/>
                <a:cs typeface="Montserrat" panose="00000500000000000000" pitchFamily="34" charset="0"/>
              </a:rPr>
              <a:t>ờng từ bản </a:t>
            </a:r>
            <a:r>
              <a:rPr lang="" altLang="en-US" sz="1400" dirty="0">
                <a:latin typeface="Montserrat" panose="00000500000000000000" pitchFamily="34" charset="0"/>
                <a:cs typeface="Montserrat" panose="00000500000000000000" pitchFamily="34" charset="0"/>
              </a:rPr>
              <a:t>đ</a:t>
            </a:r>
            <a:r>
              <a:rPr lang="en-US" altLang="en-US" sz="1400" dirty="0">
                <a:latin typeface="Montserrat" panose="00000500000000000000" pitchFamily="34" charset="0"/>
                <a:cs typeface="Montserrat" panose="00000500000000000000" pitchFamily="34" charset="0"/>
              </a:rPr>
              <a:t>ồ làm thông tin tham chiếu, nhờ </a:t>
            </a:r>
            <a:r>
              <a:rPr lang="" altLang="en-US" sz="1400" dirty="0">
                <a:latin typeface="Montserrat" panose="00000500000000000000" pitchFamily="34" charset="0"/>
                <a:cs typeface="Montserrat" panose="00000500000000000000" pitchFamily="34" charset="0"/>
              </a:rPr>
              <a:t>đ</a:t>
            </a:r>
            <a:r>
              <a:rPr lang="en-US" altLang="en-US" sz="1400" dirty="0">
                <a:latin typeface="Montserrat" panose="00000500000000000000" pitchFamily="34" charset="0"/>
                <a:cs typeface="Montserrat" panose="00000500000000000000" pitchFamily="34" charset="0"/>
              </a:rPr>
              <a:t>ó vẫn </a:t>
            </a:r>
            <a:r>
              <a:rPr lang="" altLang="en-US" sz="1400" dirty="0">
                <a:latin typeface="Montserrat" panose="00000500000000000000" pitchFamily="34" charset="0"/>
                <a:cs typeface="Montserrat" panose="00000500000000000000" pitchFamily="34" charset="0"/>
              </a:rPr>
              <a:t>ư</a:t>
            </a:r>
            <a:r>
              <a:rPr lang="en-US" altLang="en-US" sz="1400" dirty="0">
                <a:latin typeface="Montserrat" panose="00000500000000000000" pitchFamily="34" charset="0"/>
                <a:cs typeface="Montserrat" panose="00000500000000000000" pitchFamily="34" charset="0"/>
              </a:rPr>
              <a:t>ớc l</a:t>
            </a:r>
            <a:r>
              <a:rPr lang="" altLang="en-US" sz="1400" dirty="0">
                <a:latin typeface="Montserrat" panose="00000500000000000000" pitchFamily="34" charset="0"/>
                <a:cs typeface="Montserrat" panose="00000500000000000000" pitchFamily="34" charset="0"/>
              </a:rPr>
              <a:t>ư</a:t>
            </a:r>
            <a:r>
              <a:rPr lang="en-US" altLang="en-US" sz="1400" dirty="0">
                <a:latin typeface="Montserrat" panose="00000500000000000000" pitchFamily="34" charset="0"/>
                <a:cs typeface="Montserrat" panose="00000500000000000000" pitchFamily="34" charset="0"/>
              </a:rPr>
              <a:t>ợng </a:t>
            </a:r>
            <a:r>
              <a:rPr lang="" altLang="en-US" sz="1400" dirty="0">
                <a:latin typeface="Montserrat" panose="00000500000000000000" pitchFamily="34" charset="0"/>
                <a:cs typeface="Montserrat" panose="00000500000000000000" pitchFamily="34" charset="0"/>
              </a:rPr>
              <a:t>đư</a:t>
            </a:r>
            <a:r>
              <a:rPr lang="en-US" altLang="en-US" sz="1400" dirty="0">
                <a:latin typeface="Montserrat" panose="00000500000000000000" pitchFamily="34" charset="0"/>
                <a:cs typeface="Montserrat" panose="00000500000000000000" pitchFamily="34" charset="0"/>
              </a:rPr>
              <a:t>ợc hai biên Ego-Lane ngay cả khi camera thấy rất ít hoặc không thấy r</a:t>
            </a:r>
            <a:r>
              <a:rPr lang="" altLang="en-US" sz="1400" dirty="0">
                <a:latin typeface="Montserrat" panose="00000500000000000000" pitchFamily="34" charset="0"/>
                <a:cs typeface="Montserrat" panose="00000500000000000000" pitchFamily="34" charset="0"/>
              </a:rPr>
              <a:t>õ </a:t>
            </a:r>
            <a:r>
              <a:rPr lang="en-US" altLang="en-US" sz="1400" dirty="0">
                <a:latin typeface="Montserrat" panose="00000500000000000000" pitchFamily="34" charset="0"/>
                <a:cs typeface="Montserrat" panose="00000500000000000000" pitchFamily="34" charset="0"/>
              </a:rPr>
              <a:t>vạch lane.</a:t>
            </a:r>
          </a:p>
        </p:txBody>
      </p:sp>
      <p:sp>
        <p:nvSpPr>
          <p:cNvPr id="45" name="Text 4">
            <a:extLst>
              <a:ext uri="{FF2B5EF4-FFF2-40B4-BE49-F238E27FC236}">
                <a16:creationId xmlns:a16="http://schemas.microsoft.com/office/drawing/2014/main" id="{5391208B-786E-E722-F0FA-6572508B7DA4}"/>
              </a:ext>
            </a:extLst>
          </p:cNvPr>
          <p:cNvSpPr/>
          <p:nvPr/>
        </p:nvSpPr>
        <p:spPr>
          <a:xfrm>
            <a:off x="427857" y="7268653"/>
            <a:ext cx="7153551" cy="1158240"/>
          </a:xfrm>
          <a:prstGeom prst="rect">
            <a:avLst/>
          </a:prstGeom>
          <a:noFill/>
        </p:spPr>
        <p:txBody>
          <a:bodyPr wrap="square" lIns="0" tIns="0" rIns="0" bIns="0" rtlCol="0" anchor="t"/>
          <a:lstStyle/>
          <a:p>
            <a:pPr marL="0" indent="0" algn="l">
              <a:lnSpc>
                <a:spcPts val="2250"/>
              </a:lnSpc>
              <a:buNone/>
            </a:pPr>
            <a:r>
              <a:rPr lang="" alt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Ư</a:t>
            </a:r>
            <a:r>
              <a:rPr lang="en-US" alt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ớc l</a:t>
            </a:r>
            <a:r>
              <a:rPr lang="" alt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ư</a:t>
            </a:r>
            <a:r>
              <a:rPr lang="en-US" alt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ợng hai biên Ego-Lane, xác </a:t>
            </a:r>
            <a:r>
              <a:rPr lang="" alt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đ</a:t>
            </a:r>
            <a:r>
              <a:rPr lang="en-US" alt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ịnh vùng làn </a:t>
            </a:r>
            <a:r>
              <a:rPr lang="" alt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đư</a:t>
            </a:r>
            <a:r>
              <a:rPr lang="en-US" alt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ờng mà xe </a:t>
            </a:r>
            <a:r>
              <a:rPr lang="" alt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đ</a:t>
            </a:r>
            <a:r>
              <a:rPr lang="en-US" altLang="en-US" sz="1400" dirty="0" err="1">
                <a:solidFill>
                  <a:srgbClr val="384653"/>
                </a:solidFill>
                <a:latin typeface="Montserrat" panose="00000500000000000000" pitchFamily="34" charset="0"/>
                <a:ea typeface="Montserrat" panose="00000500000000000000" pitchFamily="34" charset="-122"/>
                <a:cs typeface="Montserrat" panose="00000500000000000000" pitchFamily="34" charset="-120"/>
              </a:rPr>
              <a:t>ang di chuyển ngay cả khi lane feature bị thiếu hoặc khó quan sát.</a:t>
            </a:r>
          </a:p>
        </p:txBody>
      </p:sp>
      <p:sp>
        <p:nvSpPr>
          <p:cNvPr id="47" name="Text 4">
            <a:extLst>
              <a:ext uri="{FF2B5EF4-FFF2-40B4-BE49-F238E27FC236}">
                <a16:creationId xmlns:a16="http://schemas.microsoft.com/office/drawing/2014/main" id="{2A36F278-4DFF-6654-3267-DB3D1CD4A247}"/>
              </a:ext>
            </a:extLst>
          </p:cNvPr>
          <p:cNvSpPr/>
          <p:nvPr/>
        </p:nvSpPr>
        <p:spPr>
          <a:xfrm>
            <a:off x="9210358" y="7071124"/>
            <a:ext cx="6852317" cy="1158240"/>
          </a:xfrm>
          <a:prstGeom prst="rect">
            <a:avLst/>
          </a:prstGeom>
          <a:noFill/>
        </p:spPr>
        <p:txBody>
          <a:bodyPr wrap="square" lIns="0" tIns="0" rIns="0" bIns="0" rtlCol="0" anchor="t"/>
          <a:lstStyle/>
          <a:p>
            <a:pPr marL="0" indent="0" algn="l">
              <a:lnSpc>
                <a:spcPts val="2250"/>
              </a:lnSpc>
              <a:buNone/>
            </a:pPr>
            <a:endParaRPr lang="en-US" sz="1400" dirty="0"/>
          </a:p>
        </p:txBody>
      </p:sp>
      <p:pic>
        <p:nvPicPr>
          <p:cNvPr id="49" name="Picture 48">
            <a:extLst>
              <a:ext uri="{FF2B5EF4-FFF2-40B4-BE49-F238E27FC236}">
                <a16:creationId xmlns:a16="http://schemas.microsoft.com/office/drawing/2014/main" id="{A1398C0F-0140-2F85-E637-4E6A0D0B5281}"/>
              </a:ext>
            </a:extLst>
          </p:cNvPr>
          <p:cNvPicPr>
            <a:picLocks noChangeAspect="1"/>
          </p:cNvPicPr>
          <p:nvPr/>
        </p:nvPicPr>
        <p:blipFill>
          <a:blip r:embed="rId8"/>
          <a:stretch>
            <a:fillRect/>
          </a:stretch>
        </p:blipFill>
        <p:spPr>
          <a:xfrm>
            <a:off x="8707755" y="1545590"/>
            <a:ext cx="5929630" cy="4607560"/>
          </a:xfrm>
          <a:prstGeom prst="rect">
            <a:avLst/>
          </a:prstGeom>
        </p:spPr>
      </p:pic>
    </p:spTree>
    <p:extLst>
      <p:ext uri="{BB962C8B-B14F-4D97-AF65-F5344CB8AC3E}">
        <p14:creationId xmlns:p14="http://schemas.microsoft.com/office/powerpoint/2010/main" val="386580278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able 28">
            <a:extLst>
              <a:ext uri="{FF2B5EF4-FFF2-40B4-BE49-F238E27FC236}">
                <a16:creationId xmlns:a16="http://schemas.microsoft.com/office/drawing/2014/main" id="{DF42F3D5-4804-FDF9-C66B-BF0874AFC277}"/>
              </a:ext>
            </a:extLst>
          </p:cNvPr>
          <p:cNvGraphicFramePr>
            <a:graphicFrameLocks noGrp="1"/>
          </p:cNvGraphicFramePr>
          <p:nvPr>
            <p:extLst>
              <p:ext uri="{D42A27DB-BD31-4B8C-83A1-F6EECF244321}">
                <p14:modId xmlns:p14="http://schemas.microsoft.com/office/powerpoint/2010/main" val="430508507"/>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6</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3" name="Picture 2">
            <a:extLst>
              <a:ext uri="{FF2B5EF4-FFF2-40B4-BE49-F238E27FC236}">
                <a16:creationId xmlns:a16="http://schemas.microsoft.com/office/drawing/2014/main" id="{57B46661-AB01-67F0-1B70-99B56FB14670}"/>
              </a:ext>
            </a:extLst>
          </p:cNvPr>
          <p:cNvPicPr>
            <a:picLocks noChangeAspect="1"/>
          </p:cNvPicPr>
          <p:nvPr/>
        </p:nvPicPr>
        <p:blipFill>
          <a:blip r:embed="rId2"/>
          <a:stretch>
            <a:fillRect/>
          </a:stretch>
        </p:blipFill>
        <p:spPr>
          <a:xfrm>
            <a:off x="9906156" y="6376129"/>
            <a:ext cx="4524219" cy="1853471"/>
          </a:xfrm>
          <a:prstGeom prst="rect">
            <a:avLst/>
          </a:prstGeom>
          <a:noFill/>
        </p:spPr>
      </p:pic>
      <p:pic>
        <p:nvPicPr>
          <p:cNvPr id="5" name="Picture 4">
            <a:extLst>
              <a:ext uri="{FF2B5EF4-FFF2-40B4-BE49-F238E27FC236}">
                <a16:creationId xmlns:a16="http://schemas.microsoft.com/office/drawing/2014/main" id="{24219446-EB4A-F86A-D9A2-BF55B958FA04}"/>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7" name="Shape 2">
            <a:extLst>
              <a:ext uri="{FF2B5EF4-FFF2-40B4-BE49-F238E27FC236}">
                <a16:creationId xmlns:a16="http://schemas.microsoft.com/office/drawing/2014/main" id="{9E802BE7-7BC2-F45A-9A14-5DE97E9E7216}"/>
              </a:ext>
            </a:extLst>
          </p:cNvPr>
          <p:cNvSpPr/>
          <p:nvPr/>
        </p:nvSpPr>
        <p:spPr>
          <a:xfrm>
            <a:off x="118534" y="1229683"/>
            <a:ext cx="8153400" cy="3702547"/>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11" name="Picture 10">
            <a:extLst>
              <a:ext uri="{FF2B5EF4-FFF2-40B4-BE49-F238E27FC236}">
                <a16:creationId xmlns:a16="http://schemas.microsoft.com/office/drawing/2014/main" id="{34A75555-9C09-484A-2DF4-4B0B5C691453}"/>
              </a:ext>
            </a:extLst>
          </p:cNvPr>
          <p:cNvPicPr/>
          <p:nvPr/>
        </p:nvPicPr>
        <p:blipFill>
          <a:blip r:embed="rId3"/>
          <a:stretch>
            <a:fillRect/>
          </a:stretch>
        </p:blipFill>
        <p:spPr>
          <a:xfrm>
            <a:off x="-118532" y="-145263"/>
            <a:ext cx="1371600" cy="1390223"/>
          </a:xfrm>
          <a:prstGeom prst="rect">
            <a:avLst/>
          </a:prstGeom>
        </p:spPr>
      </p:pic>
      <p:pic>
        <p:nvPicPr>
          <p:cNvPr id="13" name="Picture 12">
            <a:extLst>
              <a:ext uri="{FF2B5EF4-FFF2-40B4-BE49-F238E27FC236}">
                <a16:creationId xmlns:a16="http://schemas.microsoft.com/office/drawing/2014/main" id="{0DC5FCBA-7E1A-51A2-8636-D4A0762FCF29}"/>
              </a:ext>
            </a:extLst>
          </p:cNvPr>
          <p:cNvPicPr>
            <a:picLocks noChangeAspect="1"/>
          </p:cNvPicPr>
          <p:nvPr/>
        </p:nvPicPr>
        <p:blipFill>
          <a:blip r:embed="rId4"/>
          <a:stretch>
            <a:fillRect/>
          </a:stretch>
        </p:blipFill>
        <p:spPr>
          <a:xfrm>
            <a:off x="-118532" y="1111603"/>
            <a:ext cx="3073558" cy="133357"/>
          </a:xfrm>
          <a:prstGeom prst="rect">
            <a:avLst/>
          </a:prstGeom>
        </p:spPr>
      </p:pic>
      <p:sp>
        <p:nvSpPr>
          <p:cNvPr id="15" name="Text 3">
            <a:extLst>
              <a:ext uri="{FF2B5EF4-FFF2-40B4-BE49-F238E27FC236}">
                <a16:creationId xmlns:a16="http://schemas.microsoft.com/office/drawing/2014/main" id="{DBDD0338-1F7B-6B08-BAD8-B5795EB364DC}"/>
              </a:ext>
            </a:extLst>
          </p:cNvPr>
          <p:cNvSpPr/>
          <p:nvPr/>
        </p:nvSpPr>
        <p:spPr>
          <a:xfrm>
            <a:off x="118745" y="4916170"/>
            <a:ext cx="8200390" cy="2701290"/>
          </a:xfrm>
          <a:prstGeom prst="rect">
            <a:avLst/>
          </a:prstGeom>
          <a:noFill/>
        </p:spPr>
        <p:txBody>
          <a:bodyPr wrap="square" lIns="0" tIns="0" rIns="0" bIns="0" rtlCol="0" anchor="t"/>
          <a:lstStyle/>
          <a:p>
            <a:pPr marL="0" indent="0" algn="just">
              <a:lnSpc>
                <a:spcPct val="150000"/>
              </a:lnSpc>
              <a:buNone/>
            </a:pPr>
            <a:r>
              <a:rPr lang="en-US" altLang="vi-VN"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Bài báo sử dụng</a:t>
            </a:r>
            <a:r>
              <a:rPr lang="vi-VN"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 : </a:t>
            </a:r>
          </a:p>
          <a:p>
            <a:pPr marL="285750" indent="-285750" algn="just">
              <a:lnSpc>
                <a:spcPct val="150000"/>
              </a:lnSpc>
              <a:buFont typeface="Arial" panose="020B0604020202020204" pitchFamily="34" charset="0"/>
              <a:buChar char="•"/>
            </a:pPr>
            <a:r>
              <a:rPr lang="en-US" altLang="en-US" sz="1500" dirty="0">
                <a:solidFill>
                  <a:srgbClr val="FF0000"/>
                </a:solidFill>
                <a:latin typeface="Montserrat" panose="00000500000000000000" pitchFamily="34" charset="0"/>
                <a:ea typeface="Barlow Bold" panose="00000800000000000000" pitchFamily="34" charset="-122"/>
                <a:cs typeface="Montserrat" panose="00000500000000000000" pitchFamily="34" charset="0"/>
              </a:rPr>
              <a:t>LiDAR</a:t>
            </a: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 xác </a:t>
            </a:r>
            <a:r>
              <a:rPr lang=""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đ</a:t>
            </a: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ịnh vùng mặt </a:t>
            </a:r>
            <a:r>
              <a:rPr lang=""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đư</a:t>
            </a: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ờng cần xử l</a:t>
            </a:r>
            <a:r>
              <a:rPr lang=""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ý (</a:t>
            </a: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ROI).</a:t>
            </a:r>
          </a:p>
          <a:p>
            <a:pPr marL="285750" indent="-285750" algn="just">
              <a:lnSpc>
                <a:spcPct val="150000"/>
              </a:lnSpc>
              <a:buFont typeface="Arial" panose="020B0604020202020204" pitchFamily="34" charset="0"/>
              <a:buChar char="•"/>
            </a:pPr>
            <a:r>
              <a:rPr lang="en-US" altLang="en-US" sz="1500" dirty="0">
                <a:solidFill>
                  <a:srgbClr val="FF0000"/>
                </a:solidFill>
                <a:latin typeface="Montserrat" panose="00000500000000000000" pitchFamily="34" charset="0"/>
                <a:ea typeface="Barlow Bold" panose="00000800000000000000" pitchFamily="34" charset="-122"/>
                <a:cs typeface="Montserrat" panose="00000500000000000000" pitchFamily="34" charset="0"/>
              </a:rPr>
              <a:t>Camera</a:t>
            </a: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 trích xuất các lane feature còn nhìn thấy.</a:t>
            </a:r>
          </a:p>
          <a:p>
            <a:pPr marL="285750" indent="-285750" algn="just">
              <a:lnSpc>
                <a:spcPct val="150000"/>
              </a:lnSpc>
              <a:buFont typeface="Arial" panose="020B0604020202020204" pitchFamily="34" charset="0"/>
              <a:buChar char="•"/>
            </a:pP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 </a:t>
            </a:r>
            <a:r>
              <a:rPr lang="en-US" altLang="en-US" sz="1500" dirty="0">
                <a:solidFill>
                  <a:srgbClr val="FF0000"/>
                </a:solidFill>
                <a:latin typeface="Montserrat" panose="00000500000000000000" pitchFamily="34" charset="0"/>
                <a:ea typeface="Barlow Bold" panose="00000800000000000000" pitchFamily="34" charset="-122"/>
                <a:cs typeface="Montserrat" panose="00000500000000000000" pitchFamily="34" charset="0"/>
              </a:rPr>
              <a:t>OpenStreetMap(OSM)</a:t>
            </a: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 cung cấp hình dạng con </a:t>
            </a:r>
            <a:r>
              <a:rPr lang=""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đư</a:t>
            </a: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ờng làm lane model tham chiếu.</a:t>
            </a:r>
          </a:p>
          <a:p>
            <a:pPr marL="285750" indent="-285750" algn="just">
              <a:lnSpc>
                <a:spcPct val="150000"/>
              </a:lnSpc>
              <a:buFont typeface="Arial" panose="020B0604020202020204" pitchFamily="34" charset="0"/>
              <a:buChar char="•"/>
            </a:pP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Dùng search-based optimization </a:t>
            </a:r>
            <a:r>
              <a:rPr lang=""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đ</a:t>
            </a: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ể c</a:t>
            </a:r>
            <a:r>
              <a:rPr lang=""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ă</a:t>
            </a: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n chỉnh road model từ OSM với các lane feature thực tế.</a:t>
            </a:r>
          </a:p>
          <a:p>
            <a:pPr marL="285750" indent="-285750" algn="just">
              <a:lnSpc>
                <a:spcPct val="150000"/>
              </a:lnSpc>
              <a:buFont typeface="Arial" panose="020B0604020202020204" pitchFamily="34" charset="0"/>
              <a:buChar char="•"/>
            </a:pP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Sau cùng xác </a:t>
            </a:r>
            <a:r>
              <a:rPr lang=""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đ</a:t>
            </a: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ịnh biên trái + biên phải + vùng </a:t>
            </a:r>
            <a:r>
              <a:rPr lang="en-US" altLang="en-US" sz="1500" dirty="0">
                <a:solidFill>
                  <a:srgbClr val="384653"/>
                </a:solidFill>
                <a:latin typeface="Montserrat" panose="00000500000000000000" pitchFamily="34" charset="0"/>
                <a:ea typeface="Microsoft YaHei" panose="020B0503020204020204" charset="-122"/>
                <a:cs typeface="Montserrat" panose="00000500000000000000" pitchFamily="34" charset="0"/>
              </a:rPr>
              <a:t>E</a:t>
            </a:r>
            <a:r>
              <a:rPr lang="en-US" altLang="en-US"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go-Lane của xe.</a:t>
            </a:r>
            <a:r>
              <a:rPr lang="vi-VN" sz="1500" dirty="0">
                <a:solidFill>
                  <a:srgbClr val="384653"/>
                </a:solidFill>
                <a:latin typeface="Montserrat" panose="00000500000000000000" pitchFamily="34" charset="0"/>
                <a:ea typeface="Barlow Bold" panose="00000800000000000000" pitchFamily="34" charset="-122"/>
                <a:cs typeface="Montserrat" panose="00000500000000000000" pitchFamily="34" charset="0"/>
              </a:rPr>
              <a:t> </a:t>
            </a:r>
            <a:endParaRPr lang="en-US" sz="1500" dirty="0">
              <a:latin typeface="Montserrat" panose="00000500000000000000" pitchFamily="34" charset="0"/>
              <a:cs typeface="Montserrat" panose="00000500000000000000" pitchFamily="34" charset="0"/>
            </a:endParaRPr>
          </a:p>
        </p:txBody>
      </p:sp>
      <p:pic>
        <p:nvPicPr>
          <p:cNvPr id="17" name="Picture 16">
            <a:extLst>
              <a:ext uri="{FF2B5EF4-FFF2-40B4-BE49-F238E27FC236}">
                <a16:creationId xmlns:a16="http://schemas.microsoft.com/office/drawing/2014/main" id="{86067F19-74CC-2183-36CD-28260D9E3EED}"/>
              </a:ext>
            </a:extLst>
          </p:cNvPr>
          <p:cNvPicPr>
            <a:picLocks noChangeAspect="1"/>
          </p:cNvPicPr>
          <p:nvPr/>
        </p:nvPicPr>
        <p:blipFill>
          <a:blip r:embed="rId5"/>
          <a:stretch>
            <a:fillRect/>
          </a:stretch>
        </p:blipFill>
        <p:spPr>
          <a:xfrm>
            <a:off x="795020" y="1379220"/>
            <a:ext cx="6800850" cy="3402965"/>
          </a:xfrm>
          <a:prstGeom prst="rect">
            <a:avLst/>
          </a:prstGeom>
        </p:spPr>
      </p:pic>
      <p:sp>
        <p:nvSpPr>
          <p:cNvPr id="19" name="Shape 2">
            <a:extLst>
              <a:ext uri="{FF2B5EF4-FFF2-40B4-BE49-F238E27FC236}">
                <a16:creationId xmlns:a16="http://schemas.microsoft.com/office/drawing/2014/main" id="{A4DA480B-73FE-7A5F-26BB-E73E92E50B98}"/>
              </a:ext>
            </a:extLst>
          </p:cNvPr>
          <p:cNvSpPr/>
          <p:nvPr/>
        </p:nvSpPr>
        <p:spPr>
          <a:xfrm>
            <a:off x="8319176" y="1224522"/>
            <a:ext cx="7084547" cy="5364238"/>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21" name="Picture 20">
            <a:extLst>
              <a:ext uri="{FF2B5EF4-FFF2-40B4-BE49-F238E27FC236}">
                <a16:creationId xmlns:a16="http://schemas.microsoft.com/office/drawing/2014/main" id="{C0A56354-6E12-A20B-397B-93DE482EEB09}"/>
              </a:ext>
            </a:extLst>
          </p:cNvPr>
          <p:cNvPicPr>
            <a:picLocks noChangeAspect="1"/>
          </p:cNvPicPr>
          <p:nvPr/>
        </p:nvPicPr>
        <p:blipFill>
          <a:blip r:embed="rId6"/>
          <a:stretch>
            <a:fillRect/>
          </a:stretch>
        </p:blipFill>
        <p:spPr>
          <a:xfrm>
            <a:off x="8707755" y="1545590"/>
            <a:ext cx="5929630" cy="4607560"/>
          </a:xfrm>
          <a:prstGeom prst="rect">
            <a:avLst/>
          </a:prstGeom>
        </p:spPr>
      </p:pic>
      <p:sp>
        <p:nvSpPr>
          <p:cNvPr id="23" name="Shape 2">
            <a:extLst>
              <a:ext uri="{FF2B5EF4-FFF2-40B4-BE49-F238E27FC236}">
                <a16:creationId xmlns:a16="http://schemas.microsoft.com/office/drawing/2014/main" id="{7ED3E51E-685C-3FEA-442E-3431F9E2B8EF}"/>
              </a:ext>
            </a:extLst>
          </p:cNvPr>
          <p:cNvSpPr/>
          <p:nvPr/>
        </p:nvSpPr>
        <p:spPr>
          <a:xfrm>
            <a:off x="8914130" y="6755765"/>
            <a:ext cx="5516245" cy="1235075"/>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25" name="Text Box 11">
            <a:extLst>
              <a:ext uri="{FF2B5EF4-FFF2-40B4-BE49-F238E27FC236}">
                <a16:creationId xmlns:a16="http://schemas.microsoft.com/office/drawing/2014/main" id="{E4A7B49C-F3C2-DD14-6B50-02AE507B860A}"/>
              </a:ext>
            </a:extLst>
          </p:cNvPr>
          <p:cNvSpPr txBox="1"/>
          <p:nvPr/>
        </p:nvSpPr>
        <p:spPr>
          <a:xfrm>
            <a:off x="9059545" y="6910070"/>
            <a:ext cx="5225415" cy="890905"/>
          </a:xfrm>
          <a:prstGeom prst="rect">
            <a:avLst/>
          </a:prstGeom>
          <a:noFill/>
          <a:ln>
            <a:noFill/>
          </a:ln>
          <a:extLst>
            <a:ext uri="{909E8E84-426E-40DD-AFC4-6F175D3DCCD1}">
              <a14:hiddenFill xmlns:a14="http://schemas.microsoft.com/office/drawing/2010/main">
                <a:gradFill>
                  <a:gsLst>
                    <a:gs pos="50000">
                      <a:schemeClr val="accent1"/>
                    </a:gs>
                    <a:gs pos="0">
                      <a:schemeClr val="accent1">
                        <a:lumMod val="25000"/>
                        <a:lumOff val="75000"/>
                      </a:schemeClr>
                    </a:gs>
                    <a:gs pos="100000">
                      <a:schemeClr val="accent1">
                        <a:lumMod val="85000"/>
                      </a:schemeClr>
                    </a:gs>
                  </a:gsLst>
                  <a:lin ang="5400000" scaled="1"/>
                </a:gradFill>
              </a14:hiddenFill>
            </a:ext>
          </a:extLst>
        </p:spPr>
        <p:txBody>
          <a:bodyPr>
            <a:noAutofit/>
          </a:bodyPr>
          <a:lstStyle/>
          <a:p>
            <a:pPr algn="just"/>
            <a:r>
              <a:rPr lang="en-US" altLang="en-US" sz="1600">
                <a:latin typeface="Montserrat" panose="00000500000000000000" pitchFamily="34" charset="0"/>
                <a:cs typeface="Montserrat" panose="00000500000000000000" pitchFamily="34" charset="0"/>
              </a:rPr>
              <a:t>Khi lane feature bị thiếu, hệ thống không hoàn toàn phụ thuộc vào camera mà sử dụng hình dạng </a:t>
            </a:r>
            <a:r>
              <a:rPr lang="" altLang="en-US" sz="1600">
                <a:latin typeface="Montserrat" panose="00000500000000000000" pitchFamily="34" charset="0"/>
                <a:cs typeface="Montserrat" panose="00000500000000000000" pitchFamily="34" charset="0"/>
              </a:rPr>
              <a:t>đư</a:t>
            </a:r>
            <a:r>
              <a:rPr lang="en-US" altLang="en-US" sz="1600">
                <a:latin typeface="Montserrat" panose="00000500000000000000" pitchFamily="34" charset="0"/>
                <a:cs typeface="Montserrat" panose="00000500000000000000" pitchFamily="34" charset="0"/>
              </a:rPr>
              <a:t>ờng từ bản </a:t>
            </a:r>
            <a:r>
              <a:rPr lang="" altLang="en-US" sz="1600">
                <a:latin typeface="Montserrat" panose="00000500000000000000" pitchFamily="34" charset="0"/>
                <a:cs typeface="Montserrat" panose="00000500000000000000" pitchFamily="34" charset="0"/>
              </a:rPr>
              <a:t>đ</a:t>
            </a:r>
            <a:r>
              <a:rPr lang="en-US" altLang="en-US" sz="1600">
                <a:latin typeface="Montserrat" panose="00000500000000000000" pitchFamily="34" charset="0"/>
                <a:cs typeface="Montserrat" panose="00000500000000000000" pitchFamily="34" charset="0"/>
              </a:rPr>
              <a:t>ồ </a:t>
            </a:r>
            <a:r>
              <a:rPr lang="" altLang="en-US" sz="1600">
                <a:latin typeface="Montserrat" panose="00000500000000000000" pitchFamily="34" charset="0"/>
                <a:cs typeface="Montserrat" panose="00000500000000000000" pitchFamily="34" charset="0"/>
              </a:rPr>
              <a:t>đ</a:t>
            </a:r>
            <a:r>
              <a:rPr lang="en-US" altLang="en-US" sz="1600">
                <a:latin typeface="Montserrat" panose="00000500000000000000" pitchFamily="34" charset="0"/>
                <a:cs typeface="Montserrat" panose="00000500000000000000" pitchFamily="34" charset="0"/>
              </a:rPr>
              <a:t>ể bù lại thông tin bị mất.</a:t>
            </a:r>
          </a:p>
        </p:txBody>
      </p:sp>
      <p:sp>
        <p:nvSpPr>
          <p:cNvPr id="27" name="Text Box 13">
            <a:extLst>
              <a:ext uri="{FF2B5EF4-FFF2-40B4-BE49-F238E27FC236}">
                <a16:creationId xmlns:a16="http://schemas.microsoft.com/office/drawing/2014/main" id="{CC463944-E938-7C62-CE21-55A29A87234B}"/>
              </a:ext>
            </a:extLst>
          </p:cNvPr>
          <p:cNvSpPr txBox="1"/>
          <p:nvPr/>
        </p:nvSpPr>
        <p:spPr>
          <a:xfrm>
            <a:off x="8114030" y="7063740"/>
            <a:ext cx="629920" cy="583565"/>
          </a:xfrm>
          <a:prstGeom prst="rect">
            <a:avLst/>
          </a:prstGeom>
          <a:noFill/>
        </p:spPr>
        <p:txBody>
          <a:bodyPr wrap="square" rtlCol="0" anchor="t">
            <a:spAutoFit/>
          </a:bodyPr>
          <a:lstStyle/>
          <a:p>
            <a:r>
              <a:rPr lang="en-US" sz="3200">
                <a:latin typeface="Cambria Math" panose="02040503050406030204" charset="0"/>
                <a:cs typeface="Cambria Math" panose="02040503050406030204" charset="0"/>
              </a:rPr>
              <a:t>⇒</a:t>
            </a:r>
          </a:p>
        </p:txBody>
      </p:sp>
    </p:spTree>
    <p:extLst>
      <p:ext uri="{BB962C8B-B14F-4D97-AF65-F5344CB8AC3E}">
        <p14:creationId xmlns:p14="http://schemas.microsoft.com/office/powerpoint/2010/main" val="347899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6AFFAE2B-AC25-F3D8-43F3-D1E4014E32D9}"/>
              </a:ext>
            </a:extLst>
          </p:cNvPr>
          <p:cNvGraphicFramePr>
            <a:graphicFrameLocks noGrp="1"/>
          </p:cNvGraphicFramePr>
          <p:nvPr>
            <p:extLst>
              <p:ext uri="{D42A27DB-BD31-4B8C-83A1-F6EECF244321}">
                <p14:modId xmlns:p14="http://schemas.microsoft.com/office/powerpoint/2010/main" val="430508507"/>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6</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3" name="Picture 2">
            <a:extLst>
              <a:ext uri="{FF2B5EF4-FFF2-40B4-BE49-F238E27FC236}">
                <a16:creationId xmlns:a16="http://schemas.microsoft.com/office/drawing/2014/main" id="{2D1C021A-7E88-4717-EA3D-80318FB05E08}"/>
              </a:ext>
            </a:extLst>
          </p:cNvPr>
          <p:cNvPicPr>
            <a:picLocks noChangeAspect="1"/>
          </p:cNvPicPr>
          <p:nvPr/>
        </p:nvPicPr>
        <p:blipFill>
          <a:blip r:embed="rId2"/>
          <a:stretch>
            <a:fillRect/>
          </a:stretch>
        </p:blipFill>
        <p:spPr>
          <a:xfrm>
            <a:off x="1819910" y="5060315"/>
            <a:ext cx="4845050" cy="3126105"/>
          </a:xfrm>
          <a:prstGeom prst="rect">
            <a:avLst/>
          </a:prstGeom>
        </p:spPr>
      </p:pic>
      <p:pic>
        <p:nvPicPr>
          <p:cNvPr id="5" name="Picture 4">
            <a:extLst>
              <a:ext uri="{FF2B5EF4-FFF2-40B4-BE49-F238E27FC236}">
                <a16:creationId xmlns:a16="http://schemas.microsoft.com/office/drawing/2014/main" id="{2AA3D8B1-909C-8585-60D5-18F6D33CF308}"/>
              </a:ext>
            </a:extLst>
          </p:cNvPr>
          <p:cNvPicPr>
            <a:picLocks noChangeAspect="1"/>
          </p:cNvPicPr>
          <p:nvPr/>
        </p:nvPicPr>
        <p:blipFill>
          <a:blip r:embed="rId3"/>
          <a:stretch>
            <a:fillRect/>
          </a:stretch>
        </p:blipFill>
        <p:spPr>
          <a:xfrm>
            <a:off x="9906156" y="6376129"/>
            <a:ext cx="4524219" cy="1853471"/>
          </a:xfrm>
          <a:prstGeom prst="rect">
            <a:avLst/>
          </a:prstGeom>
          <a:noFill/>
        </p:spPr>
      </p:pic>
      <p:pic>
        <p:nvPicPr>
          <p:cNvPr id="7" name="Picture 6">
            <a:extLst>
              <a:ext uri="{FF2B5EF4-FFF2-40B4-BE49-F238E27FC236}">
                <a16:creationId xmlns:a16="http://schemas.microsoft.com/office/drawing/2014/main" id="{88E93CE5-A50B-6CA8-0486-A97896442ECF}"/>
              </a:ext>
            </a:extLst>
          </p:cNvPr>
          <p:cNvPicPr>
            <a:picLocks noChangeAspect="1"/>
          </p:cNvPicPr>
          <p:nvPr/>
        </p:nvPicPr>
        <p:blipFill>
          <a:blip r:embed="rId3"/>
          <a:stretch>
            <a:fillRect/>
          </a:stretch>
        </p:blipFill>
        <p:spPr>
          <a:xfrm>
            <a:off x="10106181" y="6376129"/>
            <a:ext cx="4524219" cy="1853471"/>
          </a:xfrm>
          <a:prstGeom prst="rect">
            <a:avLst/>
          </a:prstGeom>
          <a:noFill/>
        </p:spPr>
      </p:pic>
      <p:sp>
        <p:nvSpPr>
          <p:cNvPr id="9" name="Shape 2">
            <a:extLst>
              <a:ext uri="{FF2B5EF4-FFF2-40B4-BE49-F238E27FC236}">
                <a16:creationId xmlns:a16="http://schemas.microsoft.com/office/drawing/2014/main" id="{01274315-BBFF-C3B6-51CF-2F81CB5614CE}"/>
              </a:ext>
            </a:extLst>
          </p:cNvPr>
          <p:cNvSpPr/>
          <p:nvPr/>
        </p:nvSpPr>
        <p:spPr>
          <a:xfrm>
            <a:off x="165735" y="1257935"/>
            <a:ext cx="8153400" cy="3789680"/>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13" name="Picture 12">
            <a:extLst>
              <a:ext uri="{FF2B5EF4-FFF2-40B4-BE49-F238E27FC236}">
                <a16:creationId xmlns:a16="http://schemas.microsoft.com/office/drawing/2014/main" id="{FB0602AB-2A23-02DD-07B6-51FC253BCCBD}"/>
              </a:ext>
            </a:extLst>
          </p:cNvPr>
          <p:cNvPicPr/>
          <p:nvPr/>
        </p:nvPicPr>
        <p:blipFill>
          <a:blip r:embed="rId4"/>
          <a:stretch>
            <a:fillRect/>
          </a:stretch>
        </p:blipFill>
        <p:spPr>
          <a:xfrm>
            <a:off x="-118532" y="-145263"/>
            <a:ext cx="1371600" cy="1390223"/>
          </a:xfrm>
          <a:prstGeom prst="rect">
            <a:avLst/>
          </a:prstGeom>
        </p:spPr>
      </p:pic>
      <p:pic>
        <p:nvPicPr>
          <p:cNvPr id="15" name="Picture 14">
            <a:extLst>
              <a:ext uri="{FF2B5EF4-FFF2-40B4-BE49-F238E27FC236}">
                <a16:creationId xmlns:a16="http://schemas.microsoft.com/office/drawing/2014/main" id="{E720480E-5047-C2D3-0E6D-B0C61AAA64EF}"/>
              </a:ext>
            </a:extLst>
          </p:cNvPr>
          <p:cNvPicPr>
            <a:picLocks noChangeAspect="1"/>
          </p:cNvPicPr>
          <p:nvPr/>
        </p:nvPicPr>
        <p:blipFill>
          <a:blip r:embed="rId5"/>
          <a:stretch>
            <a:fillRect/>
          </a:stretch>
        </p:blipFill>
        <p:spPr>
          <a:xfrm>
            <a:off x="-118532" y="1111603"/>
            <a:ext cx="3073558" cy="133357"/>
          </a:xfrm>
          <a:prstGeom prst="rect">
            <a:avLst/>
          </a:prstGeom>
        </p:spPr>
      </p:pic>
      <p:sp>
        <p:nvSpPr>
          <p:cNvPr id="17" name="Text 3">
            <a:extLst>
              <a:ext uri="{FF2B5EF4-FFF2-40B4-BE49-F238E27FC236}">
                <a16:creationId xmlns:a16="http://schemas.microsoft.com/office/drawing/2014/main" id="{44620883-7682-F79E-7722-7B2F9209AAFA}"/>
              </a:ext>
            </a:extLst>
          </p:cNvPr>
          <p:cNvSpPr/>
          <p:nvPr/>
        </p:nvSpPr>
        <p:spPr>
          <a:xfrm>
            <a:off x="328295" y="1383665"/>
            <a:ext cx="7828915" cy="2701290"/>
          </a:xfrm>
          <a:prstGeom prst="rect">
            <a:avLst/>
          </a:prstGeom>
          <a:noFill/>
        </p:spPr>
        <p:txBody>
          <a:bodyPr wrap="square" lIns="0" tIns="0" rIns="0" bIns="0" rtlCol="0" anchor="t"/>
          <a:lstStyle/>
          <a:p>
            <a:pPr indent="0" algn="just">
              <a:lnSpc>
                <a:spcPct val="150000"/>
              </a:lnSpc>
              <a:buFont typeface="Arial" panose="020B0604020202020204" pitchFamily="34" charset="0"/>
              <a:buNone/>
            </a:pPr>
            <a:r>
              <a:rPr lang="en-US" sz="1400" b="1" dirty="0">
                <a:solidFill>
                  <a:schemeClr val="tx1"/>
                </a:solidFill>
                <a:latin typeface="Montserrat" panose="00000500000000000000" pitchFamily="34" charset="0"/>
                <a:ea typeface="Barlow Bold" panose="00000800000000000000" pitchFamily="34" charset="-122"/>
                <a:cs typeface="Montserrat" panose="00000500000000000000" pitchFamily="34" charset="0"/>
              </a:rPr>
              <a:t>Kết luận:</a:t>
            </a:r>
          </a:p>
          <a:p>
            <a:pPr marL="285750" indent="-285750" algn="just">
              <a:lnSpc>
                <a:spcPct val="150000"/>
              </a:lnSpc>
              <a:buFont typeface="Arial" panose="020B0604020202020204" pitchFamily="34" charset="0"/>
              <a:buChar char="•"/>
            </a:pPr>
            <a:r>
              <a:rPr lang="en-US" altLang="en-US" sz="1400" dirty="0">
                <a:solidFill>
                  <a:schemeClr val="tx1"/>
                </a:solidFill>
                <a:latin typeface="Montserrat" panose="00000500000000000000" pitchFamily="34" charset="0"/>
                <a:ea typeface="Barlow Bold" panose="00000800000000000000" pitchFamily="34" charset="-122"/>
                <a:cs typeface="Montserrat" panose="00000500000000000000" pitchFamily="34" charset="0"/>
              </a:rPr>
              <a:t>Các </a:t>
            </a:r>
            <a:r>
              <a:rPr lang="en-US" altLang="en-US" sz="1400" dirty="0">
                <a:solidFill>
                  <a:schemeClr val="tx1"/>
                </a:solidFill>
                <a:latin typeface="Montserrat" panose="00000500000000000000" pitchFamily="34" charset="0"/>
                <a:ea typeface="Microsoft YaHei" panose="020B0503020204020204" charset="-122"/>
                <a:cs typeface="Montserrat" panose="00000500000000000000" pitchFamily="34" charset="0"/>
              </a:rPr>
              <a:t>hình ảnh kết quả cho thấy Ego-Lane vẫn </a:t>
            </a:r>
            <a:r>
              <a:rPr lang="" altLang="en-US" sz="1400" dirty="0">
                <a:solidFill>
                  <a:schemeClr val="tx1"/>
                </a:solidFill>
                <a:latin typeface="Montserrat" panose="00000500000000000000" pitchFamily="34" charset="0"/>
                <a:ea typeface="Microsoft YaHei" panose="020B0503020204020204" charset="-122"/>
                <a:cs typeface="Montserrat" panose="00000500000000000000" pitchFamily="34" charset="0"/>
              </a:rPr>
              <a:t>đư</a:t>
            </a:r>
            <a:r>
              <a:rPr lang="en-US" altLang="en-US" sz="1400" dirty="0">
                <a:solidFill>
                  <a:schemeClr val="tx1"/>
                </a:solidFill>
                <a:latin typeface="Montserrat" panose="00000500000000000000" pitchFamily="34" charset="0"/>
                <a:ea typeface="Microsoft YaHei" panose="020B0503020204020204" charset="-122"/>
                <a:cs typeface="Montserrat" panose="00000500000000000000" pitchFamily="34" charset="0"/>
              </a:rPr>
              <a:t>ợc phát hiện trong tr</a:t>
            </a:r>
            <a:r>
              <a:rPr lang="" altLang="en-US" sz="1400" dirty="0">
                <a:solidFill>
                  <a:schemeClr val="tx1"/>
                </a:solidFill>
                <a:latin typeface="Montserrat" panose="00000500000000000000" pitchFamily="34" charset="0"/>
                <a:ea typeface="Microsoft YaHei" panose="020B0503020204020204" charset="-122"/>
                <a:cs typeface="Montserrat" panose="00000500000000000000" pitchFamily="34" charset="0"/>
              </a:rPr>
              <a:t>ư</a:t>
            </a:r>
            <a:r>
              <a:rPr lang="en-US" altLang="en-US" sz="1400" dirty="0">
                <a:solidFill>
                  <a:schemeClr val="tx1"/>
                </a:solidFill>
                <a:latin typeface="Montserrat" panose="00000500000000000000" pitchFamily="34" charset="0"/>
                <a:ea typeface="Microsoft YaHei" panose="020B0503020204020204" charset="-122"/>
                <a:cs typeface="Montserrat" panose="00000500000000000000" pitchFamily="34" charset="0"/>
              </a:rPr>
              <a:t>ờng hợp: lane bị mòn; vật thể che lane; vào tunnel; vùng lane bị quá tối/sáng; gần nh</a:t>
            </a:r>
            <a:r>
              <a:rPr lang="" altLang="en-US" sz="1400" dirty="0">
                <a:solidFill>
                  <a:schemeClr val="tx1"/>
                </a:solidFill>
                <a:latin typeface="Montserrat" panose="00000500000000000000" pitchFamily="34" charset="0"/>
                <a:ea typeface="Microsoft YaHei" panose="020B0503020204020204" charset="-122"/>
                <a:cs typeface="Montserrat" panose="00000500000000000000" pitchFamily="34" charset="0"/>
              </a:rPr>
              <a:t>ư </a:t>
            </a:r>
            <a:r>
              <a:rPr lang="en-US" altLang="en-US" sz="1400" dirty="0">
                <a:solidFill>
                  <a:schemeClr val="tx1"/>
                </a:solidFill>
                <a:latin typeface="Montserrat" panose="00000500000000000000" pitchFamily="34" charset="0"/>
                <a:ea typeface="Microsoft YaHei" panose="020B0503020204020204" charset="-122"/>
                <a:cs typeface="Montserrat" panose="00000500000000000000" pitchFamily="34" charset="0"/>
              </a:rPr>
              <a:t>không còn lane feature.</a:t>
            </a:r>
          </a:p>
          <a:p>
            <a:pPr marL="285750" indent="-285750" algn="just">
              <a:lnSpc>
                <a:spcPct val="150000"/>
              </a:lnSpc>
              <a:buFont typeface="Arial" panose="020B0604020202020204" pitchFamily="34" charset="0"/>
              <a:buChar char="•"/>
            </a:pPr>
            <a:r>
              <a:rPr lang="en-US" altLang="en-US" sz="1400" dirty="0">
                <a:solidFill>
                  <a:schemeClr val="tx1"/>
                </a:solidFill>
                <a:latin typeface="Montserrat" panose="00000500000000000000" pitchFamily="34" charset="0"/>
                <a:ea typeface="Microsoft YaHei" panose="020B0503020204020204" charset="-122"/>
                <a:cs typeface="Montserrat" panose="00000500000000000000" pitchFamily="34" charset="0"/>
              </a:rPr>
              <a:t>MELD không chỉ </a:t>
            </a:r>
            <a:r>
              <a:rPr lang="" altLang="en-US" sz="1400" dirty="0">
                <a:solidFill>
                  <a:schemeClr val="tx1"/>
                </a:solidFill>
                <a:latin typeface="Montserrat" panose="00000500000000000000" pitchFamily="34" charset="0"/>
                <a:ea typeface="Microsoft YaHei" panose="020B0503020204020204" charset="-122"/>
                <a:cs typeface="Montserrat" panose="00000500000000000000" pitchFamily="34" charset="0"/>
              </a:rPr>
              <a:t>đ</a:t>
            </a:r>
            <a:r>
              <a:rPr lang="en-US" altLang="en-US" sz="1400" dirty="0">
                <a:solidFill>
                  <a:schemeClr val="tx1"/>
                </a:solidFill>
                <a:latin typeface="Montserrat" panose="00000500000000000000" pitchFamily="34" charset="0"/>
                <a:ea typeface="Microsoft YaHei" panose="020B0503020204020204" charset="-122"/>
                <a:cs typeface="Montserrat" panose="00000500000000000000" pitchFamily="34" charset="0"/>
              </a:rPr>
              <a:t>ạt MaxF 93.56% cao nhất trên KITTI Lane trong nhóm so sánh, mà còn duy trì tốt hơn khi lane feature bị thiếu so với các mô hình hình học truyền thống.</a:t>
            </a:r>
          </a:p>
          <a:p>
            <a:pPr indent="0" algn="just">
              <a:lnSpc>
                <a:spcPct val="150000"/>
              </a:lnSpc>
              <a:buFont typeface="Arial" panose="020B0604020202020204" pitchFamily="34" charset="0"/>
              <a:buNone/>
            </a:pPr>
            <a:r>
              <a:rPr lang="en-US" sz="1400" b="1" dirty="0">
                <a:latin typeface="Montserrat" panose="00000500000000000000" pitchFamily="34" charset="0"/>
                <a:cs typeface="Montserrat" panose="00000500000000000000" pitchFamily="34" charset="0"/>
              </a:rPr>
              <a:t>Những hạn chế:</a:t>
            </a:r>
          </a:p>
          <a:p>
            <a:pPr marL="285750" indent="-285750" algn="just">
              <a:lnSpc>
                <a:spcPct val="150000"/>
              </a:lnSpc>
              <a:buFont typeface="Arial" panose="020B0604020202020204" pitchFamily="34" charset="0"/>
              <a:buChar char="•"/>
            </a:pPr>
            <a:r>
              <a:rPr lang="en-US" altLang="en-US" sz="1400" dirty="0">
                <a:latin typeface="Montserrat" panose="00000500000000000000" pitchFamily="34" charset="0"/>
                <a:cs typeface="Montserrat" panose="00000500000000000000" pitchFamily="34" charset="0"/>
              </a:rPr>
              <a:t>Chỉ kiểm chứng trên một loại </a:t>
            </a:r>
            <a:r>
              <a:rPr lang="" altLang="en-US" sz="1400" dirty="0">
                <a:latin typeface="Montserrat" panose="00000500000000000000" pitchFamily="34" charset="0"/>
                <a:cs typeface="Montserrat" panose="00000500000000000000" pitchFamily="34" charset="0"/>
              </a:rPr>
              <a:t>đư</a:t>
            </a:r>
            <a:r>
              <a:rPr lang="en-US" altLang="en-US" sz="1400" dirty="0">
                <a:latin typeface="Montserrat" panose="00000500000000000000" pitchFamily="34" charset="0"/>
                <a:cs typeface="Montserrat" panose="00000500000000000000" pitchFamily="34" charset="0"/>
              </a:rPr>
              <a:t>ờng là two-way road chưa kiểm chứng trên multi-lane road; giao lộ; </a:t>
            </a:r>
            <a:r>
              <a:rPr lang="" altLang="en-US" sz="1400" dirty="0">
                <a:latin typeface="Montserrat" panose="00000500000000000000" pitchFamily="34" charset="0"/>
                <a:cs typeface="Montserrat" panose="00000500000000000000" pitchFamily="34" charset="0"/>
              </a:rPr>
              <a:t>đư</a:t>
            </a:r>
            <a:r>
              <a:rPr lang="en-US" altLang="en-US" sz="1400" dirty="0">
                <a:latin typeface="Montserrat" panose="00000500000000000000" pitchFamily="34" charset="0"/>
                <a:cs typeface="Montserrat" panose="00000500000000000000" pitchFamily="34" charset="0"/>
              </a:rPr>
              <a:t>ờng không có centerline.</a:t>
            </a:r>
          </a:p>
          <a:p>
            <a:pPr marL="285750" indent="-285750" algn="just">
              <a:lnSpc>
                <a:spcPct val="150000"/>
              </a:lnSpc>
              <a:buFont typeface="Arial" panose="020B0604020202020204" pitchFamily="34" charset="0"/>
              <a:buChar char="•"/>
            </a:pPr>
            <a:r>
              <a:rPr lang="en-US" altLang="en-US" sz="1400" dirty="0">
                <a:latin typeface="Montserrat" panose="00000500000000000000" pitchFamily="34" charset="0"/>
                <a:cs typeface="Montserrat" panose="00000500000000000000" pitchFamily="34" charset="0"/>
              </a:rPr>
              <a:t>Độ chính xác phụ thuộc vào map và vị trí xe, OpenStreetMap vẫn có sai số</a:t>
            </a:r>
          </a:p>
        </p:txBody>
      </p:sp>
      <p:sp>
        <p:nvSpPr>
          <p:cNvPr id="19" name="Shape 2">
            <a:extLst>
              <a:ext uri="{FF2B5EF4-FFF2-40B4-BE49-F238E27FC236}">
                <a16:creationId xmlns:a16="http://schemas.microsoft.com/office/drawing/2014/main" id="{1CA4A1CD-0C9A-88DD-1FBA-934C99F6E435}"/>
              </a:ext>
            </a:extLst>
          </p:cNvPr>
          <p:cNvSpPr/>
          <p:nvPr/>
        </p:nvSpPr>
        <p:spPr>
          <a:xfrm>
            <a:off x="8319176" y="1224522"/>
            <a:ext cx="7084547" cy="5364238"/>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21" name="Picture 20">
            <a:extLst>
              <a:ext uri="{FF2B5EF4-FFF2-40B4-BE49-F238E27FC236}">
                <a16:creationId xmlns:a16="http://schemas.microsoft.com/office/drawing/2014/main" id="{EE0FCA58-10E8-81D2-50DD-64762355DDEA}"/>
              </a:ext>
            </a:extLst>
          </p:cNvPr>
          <p:cNvPicPr>
            <a:picLocks noChangeAspect="1"/>
          </p:cNvPicPr>
          <p:nvPr/>
        </p:nvPicPr>
        <p:blipFill>
          <a:blip r:embed="rId6"/>
          <a:stretch>
            <a:fillRect/>
          </a:stretch>
        </p:blipFill>
        <p:spPr>
          <a:xfrm>
            <a:off x="8647430" y="1383665"/>
            <a:ext cx="5989955" cy="5058410"/>
          </a:xfrm>
          <a:prstGeom prst="rect">
            <a:avLst/>
          </a:prstGeom>
        </p:spPr>
      </p:pic>
    </p:spTree>
    <p:extLst>
      <p:ext uri="{BB962C8B-B14F-4D97-AF65-F5344CB8AC3E}">
        <p14:creationId xmlns:p14="http://schemas.microsoft.com/office/powerpoint/2010/main" val="48000558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3" name="Table 62">
            <a:extLst>
              <a:ext uri="{FF2B5EF4-FFF2-40B4-BE49-F238E27FC236}">
                <a16:creationId xmlns:a16="http://schemas.microsoft.com/office/drawing/2014/main" id="{38FCEDA6-1438-EFB2-F737-8A0A0023C427}"/>
              </a:ext>
            </a:extLst>
          </p:cNvPr>
          <p:cNvGraphicFramePr>
            <a:graphicFrameLocks noGrp="1"/>
          </p:cNvGraphicFramePr>
          <p:nvPr>
            <p:extLst>
              <p:ext uri="{D42A27DB-BD31-4B8C-83A1-F6EECF244321}">
                <p14:modId xmlns:p14="http://schemas.microsoft.com/office/powerpoint/2010/main" val="3051766486"/>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7</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3" name="Picture 2">
            <a:extLst>
              <a:ext uri="{FF2B5EF4-FFF2-40B4-BE49-F238E27FC236}">
                <a16:creationId xmlns:a16="http://schemas.microsoft.com/office/drawing/2014/main" id="{2FD3755F-289F-2D65-EAC7-9AE3CD96F705}"/>
              </a:ext>
            </a:extLst>
          </p:cNvPr>
          <p:cNvPicPr>
            <a:picLocks noChangeAspect="1"/>
          </p:cNvPicPr>
          <p:nvPr/>
        </p:nvPicPr>
        <p:blipFill>
          <a:blip r:embed="rId2"/>
          <a:stretch>
            <a:fillRect/>
          </a:stretch>
        </p:blipFill>
        <p:spPr>
          <a:xfrm>
            <a:off x="10106181" y="6376129"/>
            <a:ext cx="4524219" cy="1853471"/>
          </a:xfrm>
          <a:prstGeom prst="rect">
            <a:avLst/>
          </a:prstGeom>
          <a:noFill/>
        </p:spPr>
      </p:pic>
      <p:sp>
        <p:nvSpPr>
          <p:cNvPr id="5" name="Shape 2">
            <a:extLst>
              <a:ext uri="{FF2B5EF4-FFF2-40B4-BE49-F238E27FC236}">
                <a16:creationId xmlns:a16="http://schemas.microsoft.com/office/drawing/2014/main" id="{EE8D0A05-31FA-6299-B50D-D42E34271D17}"/>
              </a:ext>
            </a:extLst>
          </p:cNvPr>
          <p:cNvSpPr/>
          <p:nvPr/>
        </p:nvSpPr>
        <p:spPr>
          <a:xfrm>
            <a:off x="8075827" y="1111603"/>
            <a:ext cx="7286844" cy="5001330"/>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7" name="Image 0" descr="preencoded.png">
            <a:extLst>
              <a:ext uri="{FF2B5EF4-FFF2-40B4-BE49-F238E27FC236}">
                <a16:creationId xmlns:a16="http://schemas.microsoft.com/office/drawing/2014/main" id="{70A561E0-31DA-C06B-0314-5FE592E02DC4}"/>
              </a:ext>
            </a:extLst>
          </p:cNvPr>
          <p:cNvPicPr>
            <a:picLocks noChangeAspect="1"/>
          </p:cNvPicPr>
          <p:nvPr/>
        </p:nvPicPr>
        <p:blipFill>
          <a:blip r:embed="rId3"/>
          <a:stretch>
            <a:fillRect/>
          </a:stretch>
        </p:blipFill>
        <p:spPr>
          <a:xfrm flipH="1">
            <a:off x="893265" y="1392751"/>
            <a:ext cx="65834" cy="318574"/>
          </a:xfrm>
          <a:prstGeom prst="rect">
            <a:avLst/>
          </a:prstGeom>
        </p:spPr>
      </p:pic>
      <p:pic>
        <p:nvPicPr>
          <p:cNvPr id="11" name="Picture 10">
            <a:extLst>
              <a:ext uri="{FF2B5EF4-FFF2-40B4-BE49-F238E27FC236}">
                <a16:creationId xmlns:a16="http://schemas.microsoft.com/office/drawing/2014/main" id="{80D1D875-B3E8-6930-8EC7-1F1551AC2A84}"/>
              </a:ext>
            </a:extLst>
          </p:cNvPr>
          <p:cNvPicPr/>
          <p:nvPr/>
        </p:nvPicPr>
        <p:blipFill>
          <a:blip r:embed="rId4"/>
          <a:stretch>
            <a:fillRect/>
          </a:stretch>
        </p:blipFill>
        <p:spPr>
          <a:xfrm>
            <a:off x="-118532" y="-145263"/>
            <a:ext cx="1371600" cy="1390223"/>
          </a:xfrm>
          <a:prstGeom prst="rect">
            <a:avLst/>
          </a:prstGeom>
        </p:spPr>
      </p:pic>
      <p:pic>
        <p:nvPicPr>
          <p:cNvPr id="13" name="Picture 12">
            <a:extLst>
              <a:ext uri="{FF2B5EF4-FFF2-40B4-BE49-F238E27FC236}">
                <a16:creationId xmlns:a16="http://schemas.microsoft.com/office/drawing/2014/main" id="{B4663A91-75C6-080B-3D23-76BE64470FC9}"/>
              </a:ext>
            </a:extLst>
          </p:cNvPr>
          <p:cNvPicPr>
            <a:picLocks noChangeAspect="1"/>
          </p:cNvPicPr>
          <p:nvPr/>
        </p:nvPicPr>
        <p:blipFill>
          <a:blip r:embed="rId5"/>
          <a:stretch>
            <a:fillRect/>
          </a:stretch>
        </p:blipFill>
        <p:spPr>
          <a:xfrm>
            <a:off x="-118532" y="1111603"/>
            <a:ext cx="3073558" cy="133357"/>
          </a:xfrm>
          <a:prstGeom prst="rect">
            <a:avLst/>
          </a:prstGeom>
        </p:spPr>
      </p:pic>
      <p:pic>
        <p:nvPicPr>
          <p:cNvPr id="15" name="Picture 14">
            <a:extLst>
              <a:ext uri="{FF2B5EF4-FFF2-40B4-BE49-F238E27FC236}">
                <a16:creationId xmlns:a16="http://schemas.microsoft.com/office/drawing/2014/main" id="{4E93CB5C-D151-B7EA-2740-3BD58A076AF2}"/>
              </a:ext>
            </a:extLst>
          </p:cNvPr>
          <p:cNvPicPr>
            <a:picLocks noChangeAspect="1"/>
          </p:cNvPicPr>
          <p:nvPr/>
        </p:nvPicPr>
        <p:blipFill>
          <a:blip r:embed="rId6"/>
          <a:stretch>
            <a:fillRect/>
          </a:stretch>
        </p:blipFill>
        <p:spPr>
          <a:xfrm>
            <a:off x="345006" y="1312987"/>
            <a:ext cx="463574" cy="476274"/>
          </a:xfrm>
          <a:prstGeom prst="rect">
            <a:avLst/>
          </a:prstGeom>
        </p:spPr>
      </p:pic>
      <p:sp>
        <p:nvSpPr>
          <p:cNvPr id="17" name="Shape 3">
            <a:extLst>
              <a:ext uri="{FF2B5EF4-FFF2-40B4-BE49-F238E27FC236}">
                <a16:creationId xmlns:a16="http://schemas.microsoft.com/office/drawing/2014/main" id="{0D75B1B1-0A29-FE38-1752-DC41B5EF644D}"/>
              </a:ext>
            </a:extLst>
          </p:cNvPr>
          <p:cNvSpPr/>
          <p:nvPr/>
        </p:nvSpPr>
        <p:spPr>
          <a:xfrm>
            <a:off x="951959" y="1403043"/>
            <a:ext cx="2910712" cy="308282"/>
          </a:xfrm>
          <a:prstGeom prst="roundRect">
            <a:avLst>
              <a:gd name="adj" fmla="val 6235"/>
            </a:avLst>
          </a:prstGeom>
          <a:solidFill>
            <a:srgbClr val="FFFFFF"/>
          </a:solidFill>
          <a:ln w="22860">
            <a:solidFill>
              <a:srgbClr val="BACFDD"/>
            </a:solidFill>
            <a:prstDash val="solid"/>
          </a:ln>
        </p:spPr>
      </p:sp>
      <p:sp>
        <p:nvSpPr>
          <p:cNvPr id="19" name="Text 4">
            <a:extLst>
              <a:ext uri="{FF2B5EF4-FFF2-40B4-BE49-F238E27FC236}">
                <a16:creationId xmlns:a16="http://schemas.microsoft.com/office/drawing/2014/main" id="{5822A4C0-C920-08C7-CF07-F92FB55622CE}"/>
              </a:ext>
            </a:extLst>
          </p:cNvPr>
          <p:cNvSpPr/>
          <p:nvPr/>
        </p:nvSpPr>
        <p:spPr>
          <a:xfrm>
            <a:off x="1017792" y="1352549"/>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Phát hiện Lane</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21" name="Image 0" descr="preencoded.png">
            <a:extLst>
              <a:ext uri="{FF2B5EF4-FFF2-40B4-BE49-F238E27FC236}">
                <a16:creationId xmlns:a16="http://schemas.microsoft.com/office/drawing/2014/main" id="{E6E654E8-9AD5-0464-94B6-E9D82223FED5}"/>
              </a:ext>
            </a:extLst>
          </p:cNvPr>
          <p:cNvPicPr>
            <a:picLocks noChangeAspect="1"/>
          </p:cNvPicPr>
          <p:nvPr/>
        </p:nvPicPr>
        <p:blipFill>
          <a:blip r:embed="rId3"/>
          <a:stretch>
            <a:fillRect/>
          </a:stretch>
        </p:blipFill>
        <p:spPr>
          <a:xfrm flipH="1">
            <a:off x="893265" y="1871565"/>
            <a:ext cx="65834" cy="318574"/>
          </a:xfrm>
          <a:prstGeom prst="rect">
            <a:avLst/>
          </a:prstGeom>
        </p:spPr>
      </p:pic>
      <p:pic>
        <p:nvPicPr>
          <p:cNvPr id="23" name="Picture 22">
            <a:extLst>
              <a:ext uri="{FF2B5EF4-FFF2-40B4-BE49-F238E27FC236}">
                <a16:creationId xmlns:a16="http://schemas.microsoft.com/office/drawing/2014/main" id="{DC749A44-DF9F-6F76-401D-D4BB2BF9378B}"/>
              </a:ext>
            </a:extLst>
          </p:cNvPr>
          <p:cNvPicPr>
            <a:picLocks noChangeAspect="1"/>
          </p:cNvPicPr>
          <p:nvPr/>
        </p:nvPicPr>
        <p:blipFill>
          <a:blip r:embed="rId6"/>
          <a:stretch>
            <a:fillRect/>
          </a:stretch>
        </p:blipFill>
        <p:spPr>
          <a:xfrm>
            <a:off x="345006" y="1791801"/>
            <a:ext cx="463574" cy="476274"/>
          </a:xfrm>
          <a:prstGeom prst="rect">
            <a:avLst/>
          </a:prstGeom>
        </p:spPr>
      </p:pic>
      <p:sp>
        <p:nvSpPr>
          <p:cNvPr id="25" name="Shape 3">
            <a:extLst>
              <a:ext uri="{FF2B5EF4-FFF2-40B4-BE49-F238E27FC236}">
                <a16:creationId xmlns:a16="http://schemas.microsoft.com/office/drawing/2014/main" id="{9FF7FE54-4034-1BDB-17F2-C23A292E2598}"/>
              </a:ext>
            </a:extLst>
          </p:cNvPr>
          <p:cNvSpPr/>
          <p:nvPr/>
        </p:nvSpPr>
        <p:spPr>
          <a:xfrm>
            <a:off x="951958" y="1881857"/>
            <a:ext cx="2899410" cy="308282"/>
          </a:xfrm>
          <a:prstGeom prst="roundRect">
            <a:avLst>
              <a:gd name="adj" fmla="val 6235"/>
            </a:avLst>
          </a:prstGeom>
          <a:solidFill>
            <a:srgbClr val="FFFFFF"/>
          </a:solidFill>
          <a:ln w="22860">
            <a:solidFill>
              <a:srgbClr val="BACFDD"/>
            </a:solidFill>
            <a:prstDash val="solid"/>
          </a:ln>
        </p:spPr>
      </p:sp>
      <p:sp>
        <p:nvSpPr>
          <p:cNvPr id="27" name="Text 4">
            <a:extLst>
              <a:ext uri="{FF2B5EF4-FFF2-40B4-BE49-F238E27FC236}">
                <a16:creationId xmlns:a16="http://schemas.microsoft.com/office/drawing/2014/main" id="{B0AA3136-2030-9E54-F4E4-73D3715EF06B}"/>
              </a:ext>
            </a:extLst>
          </p:cNvPr>
          <p:cNvSpPr/>
          <p:nvPr/>
        </p:nvSpPr>
        <p:spPr>
          <a:xfrm>
            <a:off x="1017792" y="1831363"/>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Phát hiện phương tiện</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29" name="Picture 28">
            <a:extLst>
              <a:ext uri="{FF2B5EF4-FFF2-40B4-BE49-F238E27FC236}">
                <a16:creationId xmlns:a16="http://schemas.microsoft.com/office/drawing/2014/main" id="{8776929A-AD51-335A-EF9D-9EF6DAD6A5C8}"/>
              </a:ext>
            </a:extLst>
          </p:cNvPr>
          <p:cNvPicPr>
            <a:picLocks noChangeAspect="1"/>
          </p:cNvPicPr>
          <p:nvPr/>
        </p:nvPicPr>
        <p:blipFill>
          <a:blip r:embed="rId7"/>
          <a:stretch>
            <a:fillRect/>
          </a:stretch>
        </p:blipFill>
        <p:spPr>
          <a:xfrm>
            <a:off x="4471754" y="1567574"/>
            <a:ext cx="482625" cy="463574"/>
          </a:xfrm>
          <a:prstGeom prst="rect">
            <a:avLst/>
          </a:prstGeom>
        </p:spPr>
      </p:pic>
      <p:pic>
        <p:nvPicPr>
          <p:cNvPr id="31" name="Image 0" descr="preencoded.png">
            <a:extLst>
              <a:ext uri="{FF2B5EF4-FFF2-40B4-BE49-F238E27FC236}">
                <a16:creationId xmlns:a16="http://schemas.microsoft.com/office/drawing/2014/main" id="{8B2D2BC5-6196-015C-22C5-A60E31110CF3}"/>
              </a:ext>
            </a:extLst>
          </p:cNvPr>
          <p:cNvPicPr>
            <a:picLocks noChangeAspect="1"/>
          </p:cNvPicPr>
          <p:nvPr/>
        </p:nvPicPr>
        <p:blipFill>
          <a:blip r:embed="rId3"/>
          <a:stretch>
            <a:fillRect/>
          </a:stretch>
        </p:blipFill>
        <p:spPr>
          <a:xfrm>
            <a:off x="4933950" y="1350010"/>
            <a:ext cx="173355" cy="836930"/>
          </a:xfrm>
          <a:prstGeom prst="rect">
            <a:avLst/>
          </a:prstGeom>
        </p:spPr>
      </p:pic>
      <p:sp>
        <p:nvSpPr>
          <p:cNvPr id="33" name="Shape 3">
            <a:extLst>
              <a:ext uri="{FF2B5EF4-FFF2-40B4-BE49-F238E27FC236}">
                <a16:creationId xmlns:a16="http://schemas.microsoft.com/office/drawing/2014/main" id="{F887CF72-E16B-F263-04C1-EF9FA00F7707}"/>
              </a:ext>
            </a:extLst>
          </p:cNvPr>
          <p:cNvSpPr/>
          <p:nvPr/>
        </p:nvSpPr>
        <p:spPr>
          <a:xfrm>
            <a:off x="4993005" y="1341120"/>
            <a:ext cx="2571115" cy="845820"/>
          </a:xfrm>
          <a:prstGeom prst="roundRect">
            <a:avLst>
              <a:gd name="adj" fmla="val 6235"/>
            </a:avLst>
          </a:prstGeom>
          <a:solidFill>
            <a:srgbClr val="FFFFFF"/>
          </a:solidFill>
          <a:ln w="22860">
            <a:solidFill>
              <a:srgbClr val="BACFDD"/>
            </a:solidFill>
            <a:prstDash val="solid"/>
          </a:ln>
        </p:spPr>
        <p:txBody>
          <a:bodyPr/>
          <a:lstStyle/>
          <a:p>
            <a:endParaRPr lang="en-US"/>
          </a:p>
        </p:txBody>
      </p:sp>
      <p:sp>
        <p:nvSpPr>
          <p:cNvPr id="35" name="Text 4">
            <a:extLst>
              <a:ext uri="{FF2B5EF4-FFF2-40B4-BE49-F238E27FC236}">
                <a16:creationId xmlns:a16="http://schemas.microsoft.com/office/drawing/2014/main" id="{1F309C38-7795-D30A-AE80-0ED6ADDD170D}"/>
              </a:ext>
            </a:extLst>
          </p:cNvPr>
          <p:cNvSpPr/>
          <p:nvPr/>
        </p:nvSpPr>
        <p:spPr>
          <a:xfrm>
            <a:off x="5038725" y="1393190"/>
            <a:ext cx="2240915" cy="396875"/>
          </a:xfrm>
          <a:prstGeom prst="rect">
            <a:avLst/>
          </a:prstGeom>
          <a:noFill/>
        </p:spPr>
        <p:txBody>
          <a:bodyPr wrap="none" lIns="0" tIns="0" rIns="0" bIns="0" rtlCol="0" anchor="t"/>
          <a:lstStyle/>
          <a:p>
            <a:pPr marL="0" indent="0" algn="l">
              <a:lnSpc>
                <a:spcPct val="100000"/>
              </a:lnSpc>
              <a:buNone/>
            </a:pPr>
            <a:r>
              <a:rPr lang="en-US" altLang="vi-VN" sz="2400" dirty="0">
                <a:latin typeface="Times New Roman" panose="02020603050405020304" pitchFamily="18" charset="0"/>
                <a:ea typeface="Barlow Bold" panose="00000800000000000000" pitchFamily="34" charset="-122"/>
                <a:cs typeface="Times New Roman" panose="02020603050405020304" pitchFamily="18" charset="0"/>
              </a:rPr>
              <a:t>Chưa giải quyết vấn</a:t>
            </a:r>
          </a:p>
          <a:p>
            <a:pPr marL="0" indent="0" algn="l">
              <a:lnSpc>
                <a:spcPct val="100000"/>
              </a:lnSpc>
              <a:buNone/>
            </a:pPr>
            <a:r>
              <a:rPr lang="en-US" altLang="vi-VN" sz="2400" dirty="0">
                <a:latin typeface="Times New Roman" panose="02020603050405020304" pitchFamily="18" charset="0"/>
                <a:ea typeface="Barlow Bold" panose="00000800000000000000" pitchFamily="34" charset="-122"/>
                <a:cs typeface="Times New Roman" panose="02020603050405020304" pitchFamily="18" charset="0"/>
              </a:rPr>
              <a:t>đề lane mất/mờ</a:t>
            </a:r>
            <a:endParaRPr lang="en-US" altLang="vi-VN" sz="2400" dirty="0">
              <a:solidFill>
                <a:srgbClr val="EE0000"/>
              </a:solidFill>
              <a:latin typeface="Times New Roman" panose="02020603050405020304" pitchFamily="18" charset="0"/>
              <a:ea typeface="Barlow Bold" panose="00000800000000000000" pitchFamily="34" charset="-122"/>
              <a:cs typeface="Times New Roman" panose="02020603050405020304" pitchFamily="18" charset="0"/>
            </a:endParaRPr>
          </a:p>
        </p:txBody>
      </p:sp>
      <p:sp>
        <p:nvSpPr>
          <p:cNvPr id="37" name="Shape 2">
            <a:extLst>
              <a:ext uri="{FF2B5EF4-FFF2-40B4-BE49-F238E27FC236}">
                <a16:creationId xmlns:a16="http://schemas.microsoft.com/office/drawing/2014/main" id="{A30639B2-CCC1-0001-50B5-2808C1A7A549}"/>
              </a:ext>
            </a:extLst>
          </p:cNvPr>
          <p:cNvSpPr/>
          <p:nvPr/>
        </p:nvSpPr>
        <p:spPr>
          <a:xfrm>
            <a:off x="344805" y="3024505"/>
            <a:ext cx="5685790" cy="3495040"/>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39" name="Text 3">
            <a:extLst>
              <a:ext uri="{FF2B5EF4-FFF2-40B4-BE49-F238E27FC236}">
                <a16:creationId xmlns:a16="http://schemas.microsoft.com/office/drawing/2014/main" id="{6E1B5304-8B18-A96B-4E35-B1103EACC276}"/>
              </a:ext>
            </a:extLst>
          </p:cNvPr>
          <p:cNvSpPr/>
          <p:nvPr/>
        </p:nvSpPr>
        <p:spPr>
          <a:xfrm>
            <a:off x="569762" y="3102708"/>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Vấn đề giải quyết</a:t>
            </a:r>
            <a:endParaRPr lang="en-US" sz="1900" dirty="0"/>
          </a:p>
        </p:txBody>
      </p:sp>
      <p:sp>
        <p:nvSpPr>
          <p:cNvPr id="41" name="Text 4">
            <a:extLst>
              <a:ext uri="{FF2B5EF4-FFF2-40B4-BE49-F238E27FC236}">
                <a16:creationId xmlns:a16="http://schemas.microsoft.com/office/drawing/2014/main" id="{9B1031EB-6F29-7BBC-48C6-5D5161C2BA57}"/>
              </a:ext>
            </a:extLst>
          </p:cNvPr>
          <p:cNvSpPr/>
          <p:nvPr/>
        </p:nvSpPr>
        <p:spPr>
          <a:xfrm>
            <a:off x="617295" y="3435320"/>
            <a:ext cx="5341598" cy="1158240"/>
          </a:xfrm>
          <a:prstGeom prst="rect">
            <a:avLst/>
          </a:prstGeom>
          <a:noFill/>
        </p:spPr>
        <p:txBody>
          <a:bodyPr wrap="square" lIns="0" tIns="0" rIns="0" bIns="0" rtlCol="0" anchor="t"/>
          <a:lstStyle/>
          <a:p>
            <a:pPr marL="0" indent="0" algn="just">
              <a:lnSpc>
                <a:spcPct val="150000"/>
              </a:lnSpc>
              <a:buNone/>
            </a:pPr>
            <a:r>
              <a:rPr lang="en-US" altLang="en-US" sz="1400" dirty="0">
                <a:solidFill>
                  <a:schemeClr val="tx1"/>
                </a:solidFill>
                <a:latin typeface="Montserrat" panose="00000500000000000000" pitchFamily="34" charset="0"/>
                <a:cs typeface="Montserrat" panose="00000500000000000000" pitchFamily="34" charset="0"/>
              </a:rPr>
              <a:t>TriLiteNet vì vậy hướng tới:</a:t>
            </a:r>
          </a:p>
          <a:p>
            <a:pPr marL="285750" indent="-285750" algn="just">
              <a:lnSpc>
                <a:spcPct val="150000"/>
              </a:lnSpc>
              <a:buFont typeface="Arial" panose="020B0604020202020204" pitchFamily="34" charset="0"/>
              <a:buChar char="•"/>
            </a:pPr>
            <a:r>
              <a:rPr lang="en-US" altLang="en-US" sz="1400" dirty="0">
                <a:solidFill>
                  <a:schemeClr val="tx1"/>
                </a:solidFill>
                <a:latin typeface="Montserrat" panose="00000500000000000000" pitchFamily="34" charset="0"/>
                <a:cs typeface="Montserrat" panose="00000500000000000000" pitchFamily="34" charset="0"/>
              </a:rPr>
              <a:t>Một mô hình multi-task nhẹ, thực hiện đồng thời ba nhiệm vụ phát hiện phương tiện phía trước, vùng có thể di chuyển, vạch lane nhưng vẫn giữ chi phí tính toán thấp để phù hợp embedded systems.</a:t>
            </a:r>
          </a:p>
        </p:txBody>
      </p:sp>
      <p:sp>
        <p:nvSpPr>
          <p:cNvPr id="43" name="Text 3">
            <a:extLst>
              <a:ext uri="{FF2B5EF4-FFF2-40B4-BE49-F238E27FC236}">
                <a16:creationId xmlns:a16="http://schemas.microsoft.com/office/drawing/2014/main" id="{29C533A1-3007-84D5-FCA7-6BF9EEFACD6B}"/>
              </a:ext>
            </a:extLst>
          </p:cNvPr>
          <p:cNvSpPr/>
          <p:nvPr/>
        </p:nvSpPr>
        <p:spPr>
          <a:xfrm>
            <a:off x="617295" y="5098246"/>
            <a:ext cx="2371964" cy="604361"/>
          </a:xfrm>
          <a:prstGeom prst="rect">
            <a:avLst/>
          </a:prstGeom>
          <a:noFill/>
        </p:spPr>
        <p:txBody>
          <a:bodyPr wrap="square" lIns="0" tIns="0" rIns="0" bIns="0" rtlCol="0" anchor="t"/>
          <a:lstStyle/>
          <a:p>
            <a:pPr marL="0" indent="0" algn="l">
              <a:lnSpc>
                <a:spcPts val="2350"/>
              </a:lnSpc>
              <a:buNone/>
            </a:pPr>
            <a:r>
              <a:rPr lang="vi-VN" sz="190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rPr>
              <a:t>Output thực tế</a:t>
            </a:r>
            <a:endParaRPr lang="en-US" sz="1900" dirty="0"/>
          </a:p>
        </p:txBody>
      </p:sp>
      <p:sp>
        <p:nvSpPr>
          <p:cNvPr id="45" name="Text 4">
            <a:extLst>
              <a:ext uri="{FF2B5EF4-FFF2-40B4-BE49-F238E27FC236}">
                <a16:creationId xmlns:a16="http://schemas.microsoft.com/office/drawing/2014/main" id="{B3F236CD-BFE4-B052-8F03-993C53F31989}"/>
              </a:ext>
            </a:extLst>
          </p:cNvPr>
          <p:cNvSpPr/>
          <p:nvPr/>
        </p:nvSpPr>
        <p:spPr>
          <a:xfrm>
            <a:off x="617220" y="5476240"/>
            <a:ext cx="5360035" cy="1158240"/>
          </a:xfrm>
          <a:prstGeom prst="rect">
            <a:avLst/>
          </a:prstGeom>
          <a:noFill/>
        </p:spPr>
        <p:txBody>
          <a:bodyPr wrap="square" lIns="0" tIns="0" rIns="0" bIns="0" rtlCol="0" anchor="t"/>
          <a:lstStyle/>
          <a:p>
            <a:pPr marL="285750" indent="-285750" algn="just">
              <a:lnSpc>
                <a:spcPct val="100000"/>
              </a:lnSpc>
              <a:buFont typeface="Arial" panose="020B0604020202020204" pitchFamily="34" charset="0"/>
              <a:buChar char="•"/>
            </a:pPr>
            <a:r>
              <a:rPr lang="vi-VN" sz="1400" dirty="0">
                <a:solidFill>
                  <a:schemeClr val="tx1"/>
                </a:solidFill>
                <a:latin typeface="Montserrat" panose="00000500000000000000" pitchFamily="34" charset="0"/>
                <a:ea typeface="Montserrat" panose="00000500000000000000" pitchFamily="34" charset="-122"/>
                <a:cs typeface="Montserrat" panose="00000500000000000000" pitchFamily="34" charset="0"/>
              </a:rPr>
              <a:t>Tạo perception tổng hợp để xe biết xe ở đâu, vùng nào chạy được và</a:t>
            </a:r>
            <a:r>
              <a:rPr lang="en-US" altLang="vi-VN" sz="1400" dirty="0">
                <a:solidFill>
                  <a:schemeClr val="tx1"/>
                </a:solidFill>
                <a:latin typeface="Montserrat" panose="00000500000000000000" pitchFamily="34" charset="0"/>
                <a:ea typeface="Montserrat" panose="00000500000000000000" pitchFamily="34" charset="-122"/>
                <a:cs typeface="Montserrat" panose="00000500000000000000" pitchFamily="34" charset="0"/>
              </a:rPr>
              <a:t> vạch</a:t>
            </a:r>
            <a:r>
              <a:rPr lang="vi-VN" sz="1400" dirty="0">
                <a:solidFill>
                  <a:schemeClr val="tx1"/>
                </a:solidFill>
                <a:latin typeface="Montserrat" panose="00000500000000000000" pitchFamily="34" charset="0"/>
                <a:ea typeface="Montserrat" panose="00000500000000000000" pitchFamily="34" charset="-122"/>
                <a:cs typeface="Montserrat" panose="00000500000000000000" pitchFamily="34" charset="0"/>
              </a:rPr>
              <a:t> lane ở đâu.</a:t>
            </a:r>
          </a:p>
          <a:p>
            <a:pPr marL="285750" indent="-285750" algn="just">
              <a:lnSpc>
                <a:spcPct val="100000"/>
              </a:lnSpc>
              <a:buFont typeface="Arial" panose="020B0604020202020204" pitchFamily="34" charset="0"/>
              <a:buChar char="•"/>
            </a:pPr>
            <a:r>
              <a:rPr lang="en-US" sz="1400" dirty="0">
                <a:solidFill>
                  <a:schemeClr val="tx1"/>
                </a:solidFill>
                <a:latin typeface="Montserrat" panose="00000500000000000000" pitchFamily="34" charset="0"/>
                <a:cs typeface="Montserrat" panose="00000500000000000000" pitchFamily="34" charset="0"/>
              </a:rPr>
              <a:t>Chạy và so sánh latency, power trên 2 board </a:t>
            </a:r>
            <a:r>
              <a:rPr lang="en-US" altLang="en-US" sz="1400" dirty="0">
                <a:solidFill>
                  <a:schemeClr val="tx1"/>
                </a:solidFill>
                <a:latin typeface="Montserrat" panose="00000500000000000000" pitchFamily="34" charset="0"/>
                <a:cs typeface="Montserrat" panose="00000500000000000000" pitchFamily="34" charset="0"/>
              </a:rPr>
              <a:t>NVIDIA Jetson Xavier và NVIDIA Jetson TX2</a:t>
            </a:r>
          </a:p>
        </p:txBody>
      </p:sp>
      <p:pic>
        <p:nvPicPr>
          <p:cNvPr id="47" name="Picture 46">
            <a:extLst>
              <a:ext uri="{FF2B5EF4-FFF2-40B4-BE49-F238E27FC236}">
                <a16:creationId xmlns:a16="http://schemas.microsoft.com/office/drawing/2014/main" id="{9D9570BB-C285-4F1F-7D95-EF7F1F9B4892}"/>
              </a:ext>
            </a:extLst>
          </p:cNvPr>
          <p:cNvPicPr>
            <a:picLocks noChangeAspect="1"/>
          </p:cNvPicPr>
          <p:nvPr/>
        </p:nvPicPr>
        <p:blipFill>
          <a:blip r:embed="rId6"/>
          <a:stretch>
            <a:fillRect/>
          </a:stretch>
        </p:blipFill>
        <p:spPr>
          <a:xfrm>
            <a:off x="345006" y="2241370"/>
            <a:ext cx="463574" cy="476274"/>
          </a:xfrm>
          <a:prstGeom prst="rect">
            <a:avLst/>
          </a:prstGeom>
        </p:spPr>
      </p:pic>
      <p:pic>
        <p:nvPicPr>
          <p:cNvPr id="49" name="Image 0" descr="preencoded.png">
            <a:extLst>
              <a:ext uri="{FF2B5EF4-FFF2-40B4-BE49-F238E27FC236}">
                <a16:creationId xmlns:a16="http://schemas.microsoft.com/office/drawing/2014/main" id="{DFE022D1-A748-EC51-A344-D3B4E4E752A7}"/>
              </a:ext>
            </a:extLst>
          </p:cNvPr>
          <p:cNvPicPr>
            <a:picLocks noChangeAspect="1"/>
          </p:cNvPicPr>
          <p:nvPr/>
        </p:nvPicPr>
        <p:blipFill>
          <a:blip r:embed="rId3"/>
          <a:stretch>
            <a:fillRect/>
          </a:stretch>
        </p:blipFill>
        <p:spPr>
          <a:xfrm flipH="1">
            <a:off x="904568" y="2354321"/>
            <a:ext cx="65834" cy="318574"/>
          </a:xfrm>
          <a:prstGeom prst="rect">
            <a:avLst/>
          </a:prstGeom>
        </p:spPr>
      </p:pic>
      <p:sp>
        <p:nvSpPr>
          <p:cNvPr id="51" name="Shape 3">
            <a:extLst>
              <a:ext uri="{FF2B5EF4-FFF2-40B4-BE49-F238E27FC236}">
                <a16:creationId xmlns:a16="http://schemas.microsoft.com/office/drawing/2014/main" id="{47FED7EC-84AE-9750-25B0-64BA2AFC3D6C}"/>
              </a:ext>
            </a:extLst>
          </p:cNvPr>
          <p:cNvSpPr/>
          <p:nvPr/>
        </p:nvSpPr>
        <p:spPr>
          <a:xfrm>
            <a:off x="959099" y="2359808"/>
            <a:ext cx="2899410" cy="308282"/>
          </a:xfrm>
          <a:prstGeom prst="roundRect">
            <a:avLst>
              <a:gd name="adj" fmla="val 6235"/>
            </a:avLst>
          </a:prstGeom>
          <a:solidFill>
            <a:srgbClr val="FFFFFF"/>
          </a:solidFill>
          <a:ln w="22860">
            <a:solidFill>
              <a:srgbClr val="BACFDD"/>
            </a:solidFill>
            <a:prstDash val="solid"/>
          </a:ln>
        </p:spPr>
      </p:sp>
      <p:sp>
        <p:nvSpPr>
          <p:cNvPr id="53" name="Text 4">
            <a:extLst>
              <a:ext uri="{FF2B5EF4-FFF2-40B4-BE49-F238E27FC236}">
                <a16:creationId xmlns:a16="http://schemas.microsoft.com/office/drawing/2014/main" id="{85E71457-FE5B-CA0B-6EA5-FD8651122E31}"/>
              </a:ext>
            </a:extLst>
          </p:cNvPr>
          <p:cNvSpPr/>
          <p:nvPr/>
        </p:nvSpPr>
        <p:spPr>
          <a:xfrm>
            <a:off x="1029095" y="2314119"/>
            <a:ext cx="2002651" cy="276777"/>
          </a:xfrm>
          <a:prstGeom prst="rect">
            <a:avLst/>
          </a:prstGeom>
          <a:noFill/>
        </p:spPr>
        <p:txBody>
          <a:bodyPr wrap="none" lIns="0" tIns="0" rIns="0" bIns="0" rtlCol="0" anchor="t"/>
          <a:lstStyle/>
          <a:p>
            <a:pPr marL="0" indent="0" algn="l">
              <a:lnSpc>
                <a:spcPct val="100000"/>
              </a:lnSpc>
              <a:buNone/>
            </a:pPr>
            <a:r>
              <a:rPr lang="vi-VN" sz="2400" dirty="0">
                <a:latin typeface="Times New Roman" panose="02020603050405020304" pitchFamily="18" charset="0"/>
                <a:ea typeface="Barlow Bold" panose="00000800000000000000" pitchFamily="34" charset="-122"/>
                <a:cs typeface="Times New Roman" panose="02020603050405020304" pitchFamily="18" charset="0"/>
              </a:rPr>
              <a:t>Drivable Area</a:t>
            </a:r>
            <a:endParaRPr lang="en-US" sz="2400" dirty="0">
              <a:solidFill>
                <a:srgbClr val="EE0000"/>
              </a:solidFill>
              <a:latin typeface="Times New Roman" panose="02020603050405020304" pitchFamily="18" charset="0"/>
              <a:cs typeface="Times New Roman" panose="02020603050405020304" pitchFamily="18" charset="0"/>
            </a:endParaRPr>
          </a:p>
        </p:txBody>
      </p:sp>
      <p:pic>
        <p:nvPicPr>
          <p:cNvPr id="55" name="Picture 54">
            <a:extLst>
              <a:ext uri="{FF2B5EF4-FFF2-40B4-BE49-F238E27FC236}">
                <a16:creationId xmlns:a16="http://schemas.microsoft.com/office/drawing/2014/main" id="{CC625DF3-537A-345C-F6D7-87694C44514B}"/>
              </a:ext>
            </a:extLst>
          </p:cNvPr>
          <p:cNvPicPr>
            <a:picLocks noChangeAspect="1"/>
          </p:cNvPicPr>
          <p:nvPr/>
        </p:nvPicPr>
        <p:blipFill>
          <a:blip r:embed="rId8"/>
          <a:stretch>
            <a:fillRect/>
          </a:stretch>
        </p:blipFill>
        <p:spPr>
          <a:xfrm>
            <a:off x="8375015" y="1276350"/>
            <a:ext cx="6167120" cy="4705350"/>
          </a:xfrm>
          <a:prstGeom prst="rect">
            <a:avLst/>
          </a:prstGeom>
        </p:spPr>
      </p:pic>
      <p:pic>
        <p:nvPicPr>
          <p:cNvPr id="57" name="Picture 56">
            <a:extLst>
              <a:ext uri="{FF2B5EF4-FFF2-40B4-BE49-F238E27FC236}">
                <a16:creationId xmlns:a16="http://schemas.microsoft.com/office/drawing/2014/main" id="{32FAA7DD-D90D-B51D-FCA3-796B293D9B22}"/>
              </a:ext>
            </a:extLst>
          </p:cNvPr>
          <p:cNvPicPr>
            <a:picLocks noChangeAspect="1"/>
          </p:cNvPicPr>
          <p:nvPr/>
        </p:nvPicPr>
        <p:blipFill>
          <a:blip r:embed="rId9"/>
          <a:stretch>
            <a:fillRect/>
          </a:stretch>
        </p:blipFill>
        <p:spPr>
          <a:xfrm>
            <a:off x="1880870" y="6619875"/>
            <a:ext cx="10883265" cy="1547495"/>
          </a:xfrm>
          <a:prstGeom prst="rect">
            <a:avLst/>
          </a:prstGeom>
        </p:spPr>
      </p:pic>
    </p:spTree>
    <p:extLst>
      <p:ext uri="{BB962C8B-B14F-4D97-AF65-F5344CB8AC3E}">
        <p14:creationId xmlns:p14="http://schemas.microsoft.com/office/powerpoint/2010/main" val="39759886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5" name="Table 84">
            <a:extLst>
              <a:ext uri="{FF2B5EF4-FFF2-40B4-BE49-F238E27FC236}">
                <a16:creationId xmlns:a16="http://schemas.microsoft.com/office/drawing/2014/main" id="{B9460F5A-E9BD-55DF-D68D-58051D0A77B4}"/>
              </a:ext>
            </a:extLst>
          </p:cNvPr>
          <p:cNvGraphicFramePr>
            <a:graphicFrameLocks noGrp="1"/>
          </p:cNvGraphicFramePr>
          <p:nvPr>
            <p:extLst>
              <p:ext uri="{D42A27DB-BD31-4B8C-83A1-F6EECF244321}">
                <p14:modId xmlns:p14="http://schemas.microsoft.com/office/powerpoint/2010/main" val="3458825572"/>
              </p:ext>
            </p:extLst>
          </p:nvPr>
        </p:nvGraphicFramePr>
        <p:xfrm>
          <a:off x="7198" y="0"/>
          <a:ext cx="14630400" cy="1099698"/>
        </p:xfrm>
        <a:graphic>
          <a:graphicData uri="http://schemas.openxmlformats.org/drawingml/2006/table">
            <a:tbl>
              <a:tblPr firstRow="1" bandRow="1">
                <a:tableStyleId>{FABFCF23-3B69-468F-B69F-88F6DE6A72F2}</a:tableStyleId>
              </a:tblPr>
              <a:tblGrid>
                <a:gridCol w="14630400">
                  <a:extLst>
                    <a:ext uri="{9D8B030D-6E8A-4147-A177-3AD203B41FA5}">
                      <a16:colId xmlns:a16="http://schemas.microsoft.com/office/drawing/2014/main" val="20000"/>
                    </a:ext>
                  </a:extLst>
                </a:gridCol>
              </a:tblGrid>
              <a:tr h="1099698">
                <a:tc>
                  <a:txBody>
                    <a:bodyPr/>
                    <a:lstStyle/>
                    <a:p>
                      <a:pPr marL="0" indent="0" algn="ctr">
                        <a:lnSpc>
                          <a:spcPct val="150000"/>
                        </a:lnSpc>
                        <a:buNone/>
                      </a:pPr>
                      <a:r>
                        <a:rPr lang="vi-VN" sz="3600" b="1" dirty="0">
                          <a:solidFill>
                            <a:schemeClr val="tx1">
                              <a:lumMod val="95000"/>
                              <a:lumOff val="5000"/>
                            </a:schemeClr>
                          </a:solidFill>
                          <a:latin typeface="+mj-lt"/>
                          <a:ea typeface="Fraunces Extra Bold" pitchFamily="34" charset="-122"/>
                          <a:cs typeface="Fraunces Extra Bold" pitchFamily="34" charset="-120"/>
                        </a:rPr>
                        <a:t>Khảo sát các bài báo gần hướng (</a:t>
                      </a:r>
                      <a:r>
                        <a:rPr lang="vi-VN" sz="3600" b="1" dirty="0">
                          <a:solidFill>
                            <a:schemeClr val="tx1">
                              <a:lumMod val="95000"/>
                              <a:lumOff val="5000"/>
                            </a:schemeClr>
                          </a:solidFill>
                          <a:latin typeface="Times New Roman" panose="02020603050405020304" pitchFamily="18" charset="0"/>
                          <a:ea typeface="Fraunces Extra Bold" pitchFamily="34" charset="-122"/>
                          <a:cs typeface="Times New Roman" panose="02020603050405020304" pitchFamily="18" charset="0"/>
                        </a:rPr>
                        <a:t>7</a:t>
                      </a:r>
                      <a:r>
                        <a:rPr lang="vi-VN" sz="3600" b="1" dirty="0">
                          <a:solidFill>
                            <a:schemeClr val="tx1">
                              <a:lumMod val="95000"/>
                              <a:lumOff val="5000"/>
                            </a:schemeClr>
                          </a:solidFill>
                          <a:latin typeface="+mj-lt"/>
                          <a:ea typeface="Fraunces Extra Bold" pitchFamily="34" charset="-122"/>
                          <a:cs typeface="Fraunces Extra Bold" pitchFamily="34" charset="-120"/>
                        </a:rPr>
                        <a:t>)</a:t>
                      </a:r>
                    </a:p>
                  </a:txBody>
                  <a:tcPr/>
                </a:tc>
                <a:extLst>
                  <a:ext uri="{0D108BD9-81ED-4DB2-BD59-A6C34878D82A}">
                    <a16:rowId xmlns:a16="http://schemas.microsoft.com/office/drawing/2014/main" val="10000"/>
                  </a:ext>
                </a:extLst>
              </a:tr>
            </a:tbl>
          </a:graphicData>
        </a:graphic>
      </p:graphicFrame>
      <p:pic>
        <p:nvPicPr>
          <p:cNvPr id="59" name="Picture 58">
            <a:extLst>
              <a:ext uri="{FF2B5EF4-FFF2-40B4-BE49-F238E27FC236}">
                <a16:creationId xmlns:a16="http://schemas.microsoft.com/office/drawing/2014/main" id="{68DB8C10-98A1-7D72-5F98-9084C42CB8C6}"/>
              </a:ext>
            </a:extLst>
          </p:cNvPr>
          <p:cNvPicPr>
            <a:picLocks noChangeAspect="1"/>
          </p:cNvPicPr>
          <p:nvPr/>
        </p:nvPicPr>
        <p:blipFill>
          <a:blip r:embed="rId2"/>
          <a:stretch>
            <a:fillRect/>
          </a:stretch>
        </p:blipFill>
        <p:spPr>
          <a:xfrm>
            <a:off x="10113166" y="6268814"/>
            <a:ext cx="4524219" cy="1853471"/>
          </a:xfrm>
          <a:prstGeom prst="rect">
            <a:avLst/>
          </a:prstGeom>
          <a:noFill/>
        </p:spPr>
      </p:pic>
      <p:sp>
        <p:nvSpPr>
          <p:cNvPr id="61" name="Shape 2">
            <a:extLst>
              <a:ext uri="{FF2B5EF4-FFF2-40B4-BE49-F238E27FC236}">
                <a16:creationId xmlns:a16="http://schemas.microsoft.com/office/drawing/2014/main" id="{6BDDE4AC-2E3B-BFDE-DB77-7D08675B36B8}"/>
              </a:ext>
            </a:extLst>
          </p:cNvPr>
          <p:cNvSpPr/>
          <p:nvPr/>
        </p:nvSpPr>
        <p:spPr>
          <a:xfrm>
            <a:off x="8613140" y="6434455"/>
            <a:ext cx="5516245" cy="1367790"/>
          </a:xfrm>
          <a:prstGeom prst="roundRect">
            <a:avLst>
              <a:gd name="adj" fmla="val 11303"/>
            </a:avLst>
          </a:prstGeom>
          <a:solidFill>
            <a:srgbClr val="D4E9F7"/>
          </a:solidFill>
          <a:ln w="7620">
            <a:solidFill>
              <a:srgbClr val="BACFDD"/>
            </a:solidFill>
            <a:prstDash val="solid"/>
          </a:ln>
        </p:spPr>
        <p:txBody>
          <a:bodyPr/>
          <a:lstStyle/>
          <a:p>
            <a:endParaRPr lang="en-US" dirty="0"/>
          </a:p>
        </p:txBody>
      </p:sp>
      <p:sp>
        <p:nvSpPr>
          <p:cNvPr id="63" name="Shape 2">
            <a:extLst>
              <a:ext uri="{FF2B5EF4-FFF2-40B4-BE49-F238E27FC236}">
                <a16:creationId xmlns:a16="http://schemas.microsoft.com/office/drawing/2014/main" id="{AFA00430-87AB-56F2-E9CA-36013EA0DC05}"/>
              </a:ext>
            </a:extLst>
          </p:cNvPr>
          <p:cNvSpPr/>
          <p:nvPr/>
        </p:nvSpPr>
        <p:spPr>
          <a:xfrm>
            <a:off x="67945" y="1256665"/>
            <a:ext cx="7861935" cy="3585845"/>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65" name="Picture 64">
            <a:extLst>
              <a:ext uri="{FF2B5EF4-FFF2-40B4-BE49-F238E27FC236}">
                <a16:creationId xmlns:a16="http://schemas.microsoft.com/office/drawing/2014/main" id="{679068B0-38AD-EF35-3DF9-04A0C7BDD9DD}"/>
              </a:ext>
            </a:extLst>
          </p:cNvPr>
          <p:cNvPicPr>
            <a:picLocks noChangeAspect="1"/>
          </p:cNvPicPr>
          <p:nvPr/>
        </p:nvPicPr>
        <p:blipFill>
          <a:blip r:embed="rId3"/>
          <a:stretch>
            <a:fillRect/>
          </a:stretch>
        </p:blipFill>
        <p:spPr>
          <a:xfrm>
            <a:off x="-118532" y="1111603"/>
            <a:ext cx="3073558" cy="133357"/>
          </a:xfrm>
          <a:prstGeom prst="rect">
            <a:avLst/>
          </a:prstGeom>
        </p:spPr>
      </p:pic>
      <p:pic>
        <p:nvPicPr>
          <p:cNvPr id="69" name="Picture 68">
            <a:extLst>
              <a:ext uri="{FF2B5EF4-FFF2-40B4-BE49-F238E27FC236}">
                <a16:creationId xmlns:a16="http://schemas.microsoft.com/office/drawing/2014/main" id="{44C6B559-A588-CFE1-D878-BB860E635115}"/>
              </a:ext>
            </a:extLst>
          </p:cNvPr>
          <p:cNvPicPr/>
          <p:nvPr/>
        </p:nvPicPr>
        <p:blipFill>
          <a:blip r:embed="rId4"/>
          <a:stretch>
            <a:fillRect/>
          </a:stretch>
        </p:blipFill>
        <p:spPr>
          <a:xfrm>
            <a:off x="-118532" y="-145263"/>
            <a:ext cx="1371600" cy="1390223"/>
          </a:xfrm>
          <a:prstGeom prst="rect">
            <a:avLst/>
          </a:prstGeom>
        </p:spPr>
      </p:pic>
      <p:sp>
        <p:nvSpPr>
          <p:cNvPr id="71" name="Text 3">
            <a:extLst>
              <a:ext uri="{FF2B5EF4-FFF2-40B4-BE49-F238E27FC236}">
                <a16:creationId xmlns:a16="http://schemas.microsoft.com/office/drawing/2014/main" id="{FCF5A26F-F82D-446A-DF1F-E646213C0E0E}"/>
              </a:ext>
            </a:extLst>
          </p:cNvPr>
          <p:cNvSpPr/>
          <p:nvPr/>
        </p:nvSpPr>
        <p:spPr>
          <a:xfrm>
            <a:off x="422153" y="5160754"/>
            <a:ext cx="7290979" cy="604361"/>
          </a:xfrm>
          <a:prstGeom prst="rect">
            <a:avLst/>
          </a:prstGeom>
          <a:noFill/>
        </p:spPr>
        <p:txBody>
          <a:bodyPr wrap="square" lIns="0" tIns="0" rIns="0" bIns="0" rtlCol="0" anchor="t"/>
          <a:lstStyle/>
          <a:p>
            <a:pPr marL="0" indent="0" algn="l">
              <a:lnSpc>
                <a:spcPct val="150000"/>
              </a:lnSpc>
              <a:buNone/>
            </a:pPr>
            <a:endParaRPr lang="en-US" sz="1900" dirty="0"/>
          </a:p>
        </p:txBody>
      </p:sp>
      <p:pic>
        <p:nvPicPr>
          <p:cNvPr id="73" name="Picture 72">
            <a:extLst>
              <a:ext uri="{FF2B5EF4-FFF2-40B4-BE49-F238E27FC236}">
                <a16:creationId xmlns:a16="http://schemas.microsoft.com/office/drawing/2014/main" id="{CE9BAD6A-1534-726B-586A-C4885D586748}"/>
              </a:ext>
            </a:extLst>
          </p:cNvPr>
          <p:cNvPicPr>
            <a:picLocks noChangeAspect="1"/>
          </p:cNvPicPr>
          <p:nvPr/>
        </p:nvPicPr>
        <p:blipFill>
          <a:blip r:embed="rId5"/>
          <a:stretch>
            <a:fillRect/>
          </a:stretch>
        </p:blipFill>
        <p:spPr>
          <a:xfrm>
            <a:off x="327025" y="1430020"/>
            <a:ext cx="7343775" cy="3239135"/>
          </a:xfrm>
          <a:prstGeom prst="rect">
            <a:avLst/>
          </a:prstGeom>
        </p:spPr>
      </p:pic>
      <p:sp>
        <p:nvSpPr>
          <p:cNvPr id="75" name="Shape 2">
            <a:extLst>
              <a:ext uri="{FF2B5EF4-FFF2-40B4-BE49-F238E27FC236}">
                <a16:creationId xmlns:a16="http://schemas.microsoft.com/office/drawing/2014/main" id="{11B5A79E-C3AC-4586-1202-21F677970FB0}"/>
              </a:ext>
            </a:extLst>
          </p:cNvPr>
          <p:cNvSpPr/>
          <p:nvPr/>
        </p:nvSpPr>
        <p:spPr>
          <a:xfrm>
            <a:off x="8075827" y="1111603"/>
            <a:ext cx="7286844" cy="5001330"/>
          </a:xfrm>
          <a:prstGeom prst="roundRect">
            <a:avLst>
              <a:gd name="adj" fmla="val 11303"/>
            </a:avLst>
          </a:prstGeom>
          <a:solidFill>
            <a:srgbClr val="D4E9F7"/>
          </a:solidFill>
          <a:ln w="7620">
            <a:solidFill>
              <a:srgbClr val="BACFDD"/>
            </a:solidFill>
            <a:prstDash val="solid"/>
          </a:ln>
        </p:spPr>
        <p:txBody>
          <a:bodyPr/>
          <a:lstStyle/>
          <a:p>
            <a:endParaRPr lang="en-US" dirty="0"/>
          </a:p>
        </p:txBody>
      </p:sp>
      <p:pic>
        <p:nvPicPr>
          <p:cNvPr id="77" name="Picture 76">
            <a:extLst>
              <a:ext uri="{FF2B5EF4-FFF2-40B4-BE49-F238E27FC236}">
                <a16:creationId xmlns:a16="http://schemas.microsoft.com/office/drawing/2014/main" id="{BE3D2216-1930-6281-2E16-90CDD6777686}"/>
              </a:ext>
            </a:extLst>
          </p:cNvPr>
          <p:cNvPicPr>
            <a:picLocks noChangeAspect="1"/>
          </p:cNvPicPr>
          <p:nvPr/>
        </p:nvPicPr>
        <p:blipFill>
          <a:blip r:embed="rId6"/>
          <a:stretch>
            <a:fillRect/>
          </a:stretch>
        </p:blipFill>
        <p:spPr>
          <a:xfrm>
            <a:off x="8375015" y="1276350"/>
            <a:ext cx="6167120" cy="4705350"/>
          </a:xfrm>
          <a:prstGeom prst="rect">
            <a:avLst/>
          </a:prstGeom>
        </p:spPr>
      </p:pic>
      <p:sp>
        <p:nvSpPr>
          <p:cNvPr id="79" name="Text Box 9">
            <a:extLst>
              <a:ext uri="{FF2B5EF4-FFF2-40B4-BE49-F238E27FC236}">
                <a16:creationId xmlns:a16="http://schemas.microsoft.com/office/drawing/2014/main" id="{685B7072-6531-98B5-FC53-A29BCE8D9445}"/>
              </a:ext>
            </a:extLst>
          </p:cNvPr>
          <p:cNvSpPr txBox="1"/>
          <p:nvPr/>
        </p:nvSpPr>
        <p:spPr>
          <a:xfrm>
            <a:off x="327025" y="4853940"/>
            <a:ext cx="7315200" cy="3322955"/>
          </a:xfrm>
          <a:prstGeom prst="rect">
            <a:avLst/>
          </a:prstGeom>
          <a:noFill/>
        </p:spPr>
        <p:txBody>
          <a:bodyPr wrap="square" rtlCol="0" anchor="t">
            <a:spAutoFit/>
          </a:bodyPr>
          <a:lstStyle/>
          <a:p>
            <a:pPr marL="0" indent="0" algn="just">
              <a:lnSpc>
                <a:spcPct val="150000"/>
              </a:lnSpc>
              <a:buNone/>
            </a:pPr>
            <a:r>
              <a:rPr lang="en-US" altLang="vi-VN" sz="1400" dirty="0">
                <a:solidFill>
                  <a:srgbClr val="384653"/>
                </a:solidFill>
                <a:latin typeface="Montserrat" panose="00000500000000000000" pitchFamily="34" charset="0"/>
                <a:ea typeface="Barlow Bold" panose="00000800000000000000" pitchFamily="34" charset="-122"/>
                <a:cs typeface="Montserrat" panose="00000500000000000000" pitchFamily="34" charset="0"/>
                <a:sym typeface="+mn-ea"/>
              </a:rPr>
              <a:t>Hệ thống gồm </a:t>
            </a:r>
            <a:r>
              <a:rPr lang="en-US" altLang="en-US" sz="1400" dirty="0">
                <a:solidFill>
                  <a:srgbClr val="384653"/>
                </a:solidFill>
                <a:latin typeface="Montserrat" panose="00000500000000000000" pitchFamily="34" charset="0"/>
                <a:ea typeface="Barlow Bold" panose="00000800000000000000" pitchFamily="34" charset="-122"/>
                <a:cs typeface="Montserrat" panose="00000500000000000000" pitchFamily="34" charset="0"/>
                <a:sym typeface="+mn-ea"/>
              </a:rPr>
              <a:t>1 ảnh đầu vào → 1 bộ giải mã đặc trưng chung → chia ra 3 nhánh để xử lý 3 nhiệm vụ.</a:t>
            </a:r>
          </a:p>
          <a:p>
            <a:pPr marL="0" indent="0" algn="just">
              <a:lnSpc>
                <a:spcPct val="150000"/>
              </a:lnSpc>
              <a:buNone/>
            </a:pPr>
            <a:r>
              <a:rPr lang="en-US" altLang="en-US" sz="1400" b="1" dirty="0">
                <a:solidFill>
                  <a:schemeClr val="accent2"/>
                </a:solidFill>
                <a:latin typeface="Montserrat" panose="00000500000000000000" pitchFamily="34" charset="0"/>
                <a:ea typeface="Barlow Bold" panose="00000800000000000000" pitchFamily="34" charset="-122"/>
                <a:cs typeface="Montserrat" panose="00000500000000000000" pitchFamily="34" charset="0"/>
                <a:sym typeface="+mn-ea"/>
              </a:rPr>
              <a:t>Shared Encoder:</a:t>
            </a:r>
            <a:r>
              <a:rPr lang="en-US" altLang="en-US" sz="1400" dirty="0">
                <a:solidFill>
                  <a:srgbClr val="384653"/>
                </a:solidFill>
                <a:latin typeface="Montserrat" panose="00000500000000000000" pitchFamily="34" charset="0"/>
                <a:ea typeface="Barlow Bold" panose="00000800000000000000" pitchFamily="34" charset="-122"/>
                <a:cs typeface="Montserrat" panose="00000500000000000000" pitchFamily="34" charset="0"/>
                <a:sym typeface="+mn-ea"/>
              </a:rPr>
              <a:t> đọc ảnh camera và lấy các đặc trưng quan trọng như cạnh, hình dạng xe, cấu trúc mặt đường.</a:t>
            </a:r>
          </a:p>
          <a:p>
            <a:pPr marL="285750" indent="-285750" algn="just">
              <a:lnSpc>
                <a:spcPct val="150000"/>
              </a:lnSpc>
              <a:buFont typeface="Arial" panose="020B0604020202020204" pitchFamily="34" charset="0"/>
              <a:buChar char="•"/>
            </a:pPr>
            <a:r>
              <a:rPr lang="en-US" altLang="en-US" sz="1400" b="1" dirty="0">
                <a:solidFill>
                  <a:srgbClr val="FF0000"/>
                </a:solidFill>
                <a:latin typeface="Montserrat" panose="00000500000000000000" pitchFamily="34" charset="0"/>
                <a:ea typeface="Barlow Bold" panose="00000800000000000000" pitchFamily="34" charset="-122"/>
                <a:cs typeface="Montserrat" panose="00000500000000000000" pitchFamily="34" charset="0"/>
                <a:sym typeface="+mn-ea"/>
              </a:rPr>
              <a:t>Nhánh Vehicle Detection:</a:t>
            </a:r>
            <a:r>
              <a:rPr lang="en-US" altLang="en-US" sz="1400" dirty="0">
                <a:solidFill>
                  <a:srgbClr val="384653"/>
                </a:solidFill>
                <a:latin typeface="Montserrat" panose="00000500000000000000" pitchFamily="34" charset="0"/>
                <a:ea typeface="Barlow Bold" panose="00000800000000000000" pitchFamily="34" charset="-122"/>
                <a:cs typeface="Montserrat" panose="00000500000000000000" pitchFamily="34" charset="0"/>
                <a:sym typeface="+mn-ea"/>
              </a:rPr>
              <a:t> dùng SPP + LitePAN để kết hợp đặc trưng ở nhiều kích thước, giúp phát hiện xe gần, xa, lớn, nhỏ.</a:t>
            </a:r>
          </a:p>
          <a:p>
            <a:pPr marL="285750" indent="-285750" algn="just">
              <a:lnSpc>
                <a:spcPct val="150000"/>
              </a:lnSpc>
              <a:buFont typeface="Arial" panose="020B0604020202020204" pitchFamily="34" charset="0"/>
              <a:buChar char="•"/>
            </a:pPr>
            <a:r>
              <a:rPr lang="en-US" altLang="en-US" sz="1400" b="1" dirty="0">
                <a:solidFill>
                  <a:srgbClr val="FF0000"/>
                </a:solidFill>
                <a:latin typeface="Montserrat" panose="00000500000000000000" pitchFamily="34" charset="0"/>
                <a:ea typeface="Barlow Bold" panose="00000800000000000000" pitchFamily="34" charset="-122"/>
                <a:cs typeface="Montserrat" panose="00000500000000000000" pitchFamily="34" charset="0"/>
                <a:sym typeface="+mn-ea"/>
              </a:rPr>
              <a:t>Nhánh Lane Segmentation:</a:t>
            </a:r>
            <a:r>
              <a:rPr lang="en-US" altLang="en-US" sz="1400" dirty="0">
                <a:solidFill>
                  <a:srgbClr val="384653"/>
                </a:solidFill>
                <a:latin typeface="Montserrat" panose="00000500000000000000" pitchFamily="34" charset="0"/>
                <a:ea typeface="Barlow Bold" panose="00000800000000000000" pitchFamily="34" charset="-122"/>
                <a:cs typeface="Montserrat" panose="00000500000000000000" pitchFamily="34" charset="0"/>
                <a:sym typeface="+mn-ea"/>
              </a:rPr>
              <a:t> dùng PCAA để làm nổi bật thông tin liên quan đến vạch làn.</a:t>
            </a:r>
          </a:p>
          <a:p>
            <a:pPr marL="285750" indent="-285750" algn="just">
              <a:lnSpc>
                <a:spcPct val="150000"/>
              </a:lnSpc>
              <a:buFont typeface="Arial" panose="020B0604020202020204" pitchFamily="34" charset="0"/>
              <a:buChar char="•"/>
            </a:pPr>
            <a:r>
              <a:rPr lang="en-US" altLang="en-US" sz="1400" b="1" dirty="0">
                <a:solidFill>
                  <a:srgbClr val="FF0000"/>
                </a:solidFill>
                <a:latin typeface="Montserrat" panose="00000500000000000000" pitchFamily="34" charset="0"/>
                <a:ea typeface="Barlow Bold" panose="00000800000000000000" pitchFamily="34" charset="-122"/>
                <a:cs typeface="Montserrat" panose="00000500000000000000" pitchFamily="34" charset="0"/>
                <a:sym typeface="+mn-ea"/>
              </a:rPr>
              <a:t>Nhánh Drivable Area Segmentation:</a:t>
            </a:r>
            <a:r>
              <a:rPr lang="en-US" altLang="en-US" sz="1400" dirty="0">
                <a:solidFill>
                  <a:srgbClr val="384653"/>
                </a:solidFill>
                <a:latin typeface="Montserrat" panose="00000500000000000000" pitchFamily="34" charset="0"/>
                <a:ea typeface="Barlow Bold" panose="00000800000000000000" pitchFamily="34" charset="-122"/>
                <a:cs typeface="Montserrat" panose="00000500000000000000" pitchFamily="34" charset="0"/>
                <a:sym typeface="+mn-ea"/>
              </a:rPr>
              <a:t> cũng dùng feature từ PCAA để xác định vùng đường có thể di chuyển.</a:t>
            </a:r>
          </a:p>
        </p:txBody>
      </p:sp>
      <p:sp>
        <p:nvSpPr>
          <p:cNvPr id="81" name="Text Box 11">
            <a:extLst>
              <a:ext uri="{FF2B5EF4-FFF2-40B4-BE49-F238E27FC236}">
                <a16:creationId xmlns:a16="http://schemas.microsoft.com/office/drawing/2014/main" id="{E2D50250-1A84-EDE9-D30C-7DB83A2268C5}"/>
              </a:ext>
            </a:extLst>
          </p:cNvPr>
          <p:cNvSpPr txBox="1"/>
          <p:nvPr/>
        </p:nvSpPr>
        <p:spPr>
          <a:xfrm>
            <a:off x="8758555" y="6588760"/>
            <a:ext cx="5225415" cy="1213485"/>
          </a:xfrm>
          <a:prstGeom prst="rect">
            <a:avLst/>
          </a:prstGeom>
          <a:noFill/>
          <a:ln>
            <a:noFill/>
          </a:ln>
          <a:extLst>
            <a:ext uri="{909E8E84-426E-40DD-AFC4-6F175D3DCCD1}">
              <a14:hiddenFill xmlns:a14="http://schemas.microsoft.com/office/drawing/2010/main">
                <a:gradFill>
                  <a:gsLst>
                    <a:gs pos="50000">
                      <a:schemeClr val="accent1"/>
                    </a:gs>
                    <a:gs pos="0">
                      <a:schemeClr val="accent1">
                        <a:lumMod val="25000"/>
                        <a:lumOff val="75000"/>
                      </a:schemeClr>
                    </a:gs>
                    <a:gs pos="100000">
                      <a:schemeClr val="accent1">
                        <a:lumMod val="85000"/>
                      </a:schemeClr>
                    </a:gs>
                  </a:gsLst>
                  <a:lin ang="5400000" scaled="1"/>
                </a:gradFill>
              </a14:hiddenFill>
            </a:ext>
          </a:extLst>
        </p:spPr>
        <p:txBody>
          <a:bodyPr>
            <a:noAutofit/>
          </a:bodyPr>
          <a:lstStyle/>
          <a:p>
            <a:pPr algn="just"/>
            <a:r>
              <a:rPr lang="en-US" sz="1600">
                <a:solidFill>
                  <a:schemeClr val="bg2">
                    <a:lumMod val="50000"/>
                  </a:schemeClr>
                </a:solidFill>
                <a:latin typeface="Montserrat" panose="00000500000000000000" pitchFamily="34" charset="0"/>
                <a:cs typeface="Montserrat" panose="00000500000000000000" pitchFamily="34" charset="0"/>
              </a:rPr>
              <a:t>K</a:t>
            </a:r>
            <a:r>
              <a:rPr sz="1600">
                <a:solidFill>
                  <a:schemeClr val="bg2">
                    <a:lumMod val="50000"/>
                  </a:schemeClr>
                </a:solidFill>
                <a:latin typeface="Montserrat" panose="00000500000000000000" pitchFamily="34" charset="0"/>
                <a:cs typeface="Montserrat" panose="00000500000000000000" pitchFamily="34" charset="0"/>
              </a:rPr>
              <a:t>iến trúc này là 3 nhiệm vụ dùng chung encoder, nên không phải chạy 3 mô hình riêng. Nhờ vậy mô hình nhẹ hơn, giảm tính toán và phù hợp hơn với thiết bị nhúng</a:t>
            </a:r>
            <a:r>
              <a:rPr sz="1600">
                <a:latin typeface="Montserrat" panose="00000500000000000000" pitchFamily="34" charset="0"/>
                <a:cs typeface="Montserrat" panose="00000500000000000000" pitchFamily="34" charset="0"/>
              </a:rPr>
              <a:t>.</a:t>
            </a:r>
          </a:p>
        </p:txBody>
      </p:sp>
      <p:sp>
        <p:nvSpPr>
          <p:cNvPr id="83" name="Text Box 13">
            <a:extLst>
              <a:ext uri="{FF2B5EF4-FFF2-40B4-BE49-F238E27FC236}">
                <a16:creationId xmlns:a16="http://schemas.microsoft.com/office/drawing/2014/main" id="{3B0F971F-3205-D62F-D013-048B5392C96C}"/>
              </a:ext>
            </a:extLst>
          </p:cNvPr>
          <p:cNvSpPr txBox="1"/>
          <p:nvPr/>
        </p:nvSpPr>
        <p:spPr>
          <a:xfrm>
            <a:off x="7813040" y="6826250"/>
            <a:ext cx="629920" cy="583565"/>
          </a:xfrm>
          <a:prstGeom prst="rect">
            <a:avLst/>
          </a:prstGeom>
          <a:noFill/>
        </p:spPr>
        <p:txBody>
          <a:bodyPr wrap="square" rtlCol="0" anchor="t">
            <a:spAutoFit/>
          </a:bodyPr>
          <a:lstStyle/>
          <a:p>
            <a:r>
              <a:rPr lang="en-US" sz="3200">
                <a:latin typeface="Cambria Math" panose="02040503050406030204" charset="0"/>
                <a:cs typeface="Cambria Math" panose="02040503050406030204" charset="0"/>
              </a:rPr>
              <a:t>⇒</a:t>
            </a:r>
          </a:p>
        </p:txBody>
      </p:sp>
    </p:spTree>
    <p:extLst>
      <p:ext uri="{BB962C8B-B14F-4D97-AF65-F5344CB8AC3E}">
        <p14:creationId xmlns:p14="http://schemas.microsoft.com/office/powerpoint/2010/main" val="155542671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43934" y="667978"/>
            <a:ext cx="14630400" cy="1813644"/>
          </a:xfrm>
          <a:prstGeom prst="rect">
            <a:avLst/>
          </a:prstGeom>
        </p:spPr>
      </p:pic>
      <p:pic>
        <p:nvPicPr>
          <p:cNvPr id="4" name="Picture 3"/>
          <p:cNvPicPr>
            <a:picLocks noChangeAspect="1"/>
          </p:cNvPicPr>
          <p:nvPr/>
        </p:nvPicPr>
        <p:blipFill>
          <a:blip r:embed="rId3"/>
          <a:stretch>
            <a:fillRect/>
          </a:stretch>
        </p:blipFill>
        <p:spPr>
          <a:xfrm>
            <a:off x="2761498" y="2588835"/>
            <a:ext cx="8819535" cy="4451062"/>
          </a:xfrm>
          <a:prstGeom prst="rect">
            <a:avLst/>
          </a:prstGeom>
        </p:spPr>
      </p:pic>
      <p:pic>
        <p:nvPicPr>
          <p:cNvPr id="2" name="Picture 1"/>
          <p:cNvPicPr>
            <a:picLocks noChangeAspect="1"/>
          </p:cNvPicPr>
          <p:nvPr/>
        </p:nvPicPr>
        <p:blipFill>
          <a:blip r:embed="rId4"/>
          <a:stretch>
            <a:fillRect/>
          </a:stretch>
        </p:blipFill>
        <p:spPr>
          <a:xfrm>
            <a:off x="11305711" y="7457967"/>
            <a:ext cx="3324689" cy="77163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wrap="square" lIns="0" tIns="0" rIns="0" bIns="0" rtlCol="0" anchor="t"/>
      <a:lstStyle>
        <a:defPPr marL="0" indent="0" algn="l">
          <a:lnSpc>
            <a:spcPts val="2900"/>
          </a:lnSpc>
          <a:buNone/>
          <a:defRPr sz="2350" b="1" dirty="0">
            <a:solidFill>
              <a:srgbClr val="384653"/>
            </a:solidFill>
            <a:latin typeface="Barlow Bold" panose="00000800000000000000" pitchFamily="34" charset="0"/>
            <a:ea typeface="Barlow Bold" panose="00000800000000000000" pitchFamily="34" charset="-122"/>
            <a:cs typeface="Barlow Bold" panose="00000800000000000000" pitchFamily="34" charset="-12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672</TotalTime>
  <Words>4024</Words>
  <Application>Microsoft Office PowerPoint</Application>
  <PresentationFormat>Custom</PresentationFormat>
  <Paragraphs>301</Paragraphs>
  <Slides>34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Times New Roman</vt:lpstr>
      <vt:lpstr>Barlow Bold</vt:lpstr>
      <vt:lpstr>Calibri Light</vt:lpstr>
      <vt:lpstr>Cambria Math</vt:lpstr>
      <vt:lpstr>Montserrat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88</cp:revision>
  <dcterms:created xsi:type="dcterms:W3CDTF">2025-05-04T11:10:00Z</dcterms:created>
  <dcterms:modified xsi:type="dcterms:W3CDTF">2026-09-02T02:40:11Z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C61601A049AF48A3AD4E4656B334E425_13</vt:lpwstr>
  </property>
</Properties>
</file>